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0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_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_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_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_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_0.png"/><Relationship Id="rId3" Type="http://schemas.openxmlformats.org/officeDocument/2006/relationships/image" Target="../media/image9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_0.png"/><Relationship Id="rId3" Type="http://schemas.openxmlformats.org/officeDocument/2006/relationships/image" Target="../media/image11_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_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_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_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_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_0.png"/><Relationship Id="rId3" Type="http://schemas.openxmlformats.org/officeDocument/2006/relationships/image" Target="../media/image16_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_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_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_0.png"/><Relationship Id="rId3" Type="http://schemas.openxmlformats.org/officeDocument/2006/relationships/image" Target="../media/image19_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_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_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_0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_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_0.png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left"/>
          <p:cNvSpPr/>
          <p:nvPr/>
        </p:nvSpPr>
        <p:spPr>
          <a:xfrm>
            <a:off x="609600" y="596900"/>
            <a:ext cx="1651000" cy="2667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/>
            </a:solidFill>
          </a:ln>
        </p:spPr>
      </p:sp>
      <p:sp>
        <p:nvSpPr>
          <p:cNvPr id="3" name="pill-left-text"/>
          <p:cNvSpPr txBox="1"/>
          <p:nvPr/>
        </p:nvSpPr>
        <p:spPr>
          <a:xfrm>
            <a:off x="609600" y="596900"/>
            <a:ext cx="1651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WORKSHOP · 2 HOURS</a:t>
            </a:r>
            <a:endParaRPr lang="en-US" sz="820" noProof="1"/>
          </a:p>
        </p:txBody>
      </p:sp>
      <p:sp>
        <p:nvSpPr>
          <p:cNvPr id="4" name="edition"/>
          <p:cNvSpPr txBox="1"/>
          <p:nvPr/>
        </p:nvSpPr>
        <p:spPr>
          <a:xfrm>
            <a:off x="2413000" y="6477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WORKSHOP · BANGKOK EDITION</a:t>
            </a:r>
            <a:endParaRPr lang="en-US" sz="820" noProof="1"/>
          </a:p>
        </p:txBody>
      </p:sp>
      <p:sp>
        <p:nvSpPr>
          <p:cNvPr id="5" name="title-1"/>
          <p:cNvSpPr txBox="1"/>
          <p:nvPr/>
        </p:nvSpPr>
        <p:spPr>
          <a:xfrm>
            <a:off x="609600" y="965200"/>
            <a:ext cx="76200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8800" noProof="1">
                <a:solidFill>
                  <a:srgbClr val="FFFFFF"/>
                </a:solidFill>
                <a:latin typeface="Archivo Black"/>
                <a:ea typeface="Archivo Black"/>
              </a:rPr>
              <a:t>AGENTIC</a:t>
            </a:r>
            <a:endParaRPr lang="en-US" sz="8800" noProof="1"/>
          </a:p>
        </p:txBody>
      </p:sp>
      <p:sp>
        <p:nvSpPr>
          <p:cNvPr id="6" name="title-2"/>
          <p:cNvSpPr txBox="1"/>
          <p:nvPr/>
        </p:nvSpPr>
        <p:spPr>
          <a:xfrm>
            <a:off x="609600" y="1993900"/>
            <a:ext cx="91440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8800" noProof="1">
                <a:solidFill>
                  <a:srgbClr val="FFFFFF"/>
                </a:solidFill>
                <a:latin typeface="Archivo Black"/>
                <a:ea typeface="Archivo Black"/>
              </a:rPr>
              <a:t>WORKFLOW</a:t>
            </a:r>
            <a:endParaRPr lang="en-US" sz="8800" noProof="1"/>
          </a:p>
        </p:txBody>
      </p:sp>
      <p:sp>
        <p:nvSpPr>
          <p:cNvPr id="7" name="title-3"/>
          <p:cNvSpPr txBox="1"/>
          <p:nvPr/>
        </p:nvSpPr>
        <p:spPr>
          <a:xfrm>
            <a:off x="609600" y="3073400"/>
            <a:ext cx="101600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8800" noProof="1">
                <a:solidFill>
                  <a:srgbClr val="06B6D4"/>
                </a:solidFill>
                <a:latin typeface="Archivo Black"/>
                <a:ea typeface="Archivo Black"/>
              </a:rPr>
              <a:t>&amp;</a:t>
            </a:r>
            <a:r>
              <a:rPr lang="en-US" sz="8800" noProof="1">
                <a:solidFill>
                  <a:srgbClr val="FFFFFF"/>
                </a:solidFill>
                <a:latin typeface="Archivo Black"/>
                <a:ea typeface="Archivo Black"/>
              </a:rPr>
              <a:t> AUTONOMOUS</a:t>
            </a:r>
            <a:endParaRPr lang="en-US" sz="8800" noProof="1"/>
          </a:p>
        </p:txBody>
      </p:sp>
      <p:sp>
        <p:nvSpPr>
          <p:cNvPr id="8" name="title-4"/>
          <p:cNvSpPr txBox="1"/>
          <p:nvPr/>
        </p:nvSpPr>
        <p:spPr>
          <a:xfrm>
            <a:off x="609600" y="4102100"/>
            <a:ext cx="9144000" cy="1206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8800" noProof="1">
                <a:solidFill>
                  <a:srgbClr val="FFFFFF"/>
                </a:solidFill>
                <a:latin typeface="Archivo Black"/>
                <a:ea typeface="Archivo Black"/>
              </a:rPr>
              <a:t>COMMERCE</a:t>
            </a:r>
            <a:endParaRPr lang="en-US" sz="8800" noProof="1"/>
          </a:p>
        </p:txBody>
      </p:sp>
      <p:sp>
        <p:nvSpPr>
          <p:cNvPr id="9" name="subtitle"/>
          <p:cNvSpPr txBox="1"/>
          <p:nvPr/>
        </p:nvSpPr>
        <p:spPr>
          <a:xfrm>
            <a:off x="609600" y="5499100"/>
            <a:ext cx="838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8000"/>
              </a:lnSpc>
            </a:pPr>
            <a:r>
              <a:rPr lang="en-US" sz="1550" noProof="1">
                <a:solidFill>
                  <a:srgbClr val="CBD5E1"/>
                </a:solidFill>
                <a:latin typeface="Loma"/>
                <a:ea typeface="Loma"/>
              </a:rPr>
              <a:t>การสร้าง AI Agents ที่สั่งการผ่าน Chat, เชื่อม ERP, จ่ายเงินด้วย Stablecoin และสั่งซื้อสินค้าจริงด้วยตัวเอง</a:t>
            </a:r>
            <a:endParaRPr lang="en-US" sz="1550" noProof="1"/>
          </a:p>
        </p:txBody>
      </p:sp>
      <p:sp>
        <p:nvSpPr>
          <p:cNvPr id="10" name="stats"/>
          <p:cNvSpPr txBox="1"/>
          <p:nvPr/>
        </p:nvSpPr>
        <p:spPr>
          <a:xfrm>
            <a:off x="609600" y="60579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06B6D4"/>
                </a:solidFill>
                <a:latin typeface="JetBrains Mono"/>
                <a:ea typeface="JetBrains Mono"/>
              </a:rPr>
              <a:t>2 HR</a:t>
            </a:r>
            <a:r>
              <a:rPr lang="en-US" sz="105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  |  </a:t>
            </a:r>
            <a:r>
              <a:rPr lang="en-US" sz="1050" noProof="1" spc="150" kern="0">
                <a:solidFill>
                  <a:srgbClr val="06B6D4"/>
                </a:solidFill>
                <a:latin typeface="JetBrains Mono"/>
                <a:ea typeface="JetBrains Mono"/>
              </a:rPr>
              <a:t>5 MODULES</a:t>
            </a:r>
            <a:r>
              <a:rPr lang="en-US" sz="105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  |  </a:t>
            </a:r>
            <a:r>
              <a:rPr lang="en-US" sz="1050" noProof="1" spc="150" kern="0">
                <a:solidFill>
                  <a:srgbClr val="06B6D4"/>
                </a:solidFill>
                <a:latin typeface="JetBrains Mono"/>
                <a:ea typeface="JetBrains Mono"/>
              </a:rPr>
              <a:t>LIVE DEMO</a:t>
            </a:r>
            <a:endParaRPr lang="en-US" sz="1050" noProof="1"/>
          </a:p>
        </p:txBody>
      </p:sp>
      <p:sp>
        <p:nvSpPr>
          <p:cNvPr id="11" name="runalong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10045700" y="6096000"/>
            <a:ext cx="127000" cy="1397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2" name="runalong"/>
          <p:cNvSpPr txBox="1"/>
          <p:nvPr/>
        </p:nvSpPr>
        <p:spPr>
          <a:xfrm>
            <a:off x="10236200" y="60706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RUN-ALONG FORMAT</a:t>
            </a:r>
            <a:endParaRPr lang="en-US" sz="1050" noProof="1"/>
          </a:p>
        </p:txBody>
      </p:sp>
      <p:sp>
        <p:nvSpPr>
          <p:cNvPr id="13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01 / 24</a:t>
            </a:r>
            <a:endParaRPr lang="en-US" sz="80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agenda"/>
          <p:cNvSpPr/>
          <p:nvPr/>
        </p:nvSpPr>
        <p:spPr>
          <a:xfrm>
            <a:off x="609600" y="444500"/>
            <a:ext cx="1422400" cy="254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/>
            </a:solidFill>
          </a:ln>
        </p:spPr>
      </p:sp>
      <p:sp>
        <p:nvSpPr>
          <p:cNvPr id="3" name="pill-agenda-text"/>
          <p:cNvSpPr txBox="1"/>
          <p:nvPr/>
        </p:nvSpPr>
        <p:spPr>
          <a:xfrm>
            <a:off x="609600" y="444500"/>
            <a:ext cx="142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AGENDA · 2 HOURS</a:t>
            </a:r>
            <a:endParaRPr lang="en-US" sz="820" noProof="1"/>
          </a:p>
        </p:txBody>
      </p:sp>
      <p:sp>
        <p:nvSpPr>
          <p:cNvPr id="4" name="blocks"/>
          <p:cNvSpPr txBox="1"/>
          <p:nvPr/>
        </p:nvSpPr>
        <p:spPr>
          <a:xfrm>
            <a:off x="2159000" y="4826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| 7 BLOCKS</a:t>
            </a:r>
            <a:endParaRPr lang="en-US" sz="82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76200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150" noProof="1" b="1">
                <a:solidFill>
                  <a:srgbClr val="FFFFFF"/>
                </a:solidFill>
                <a:latin typeface="Space Grotesk"/>
                <a:ea typeface="Space Grotesk"/>
              </a:rPr>
              <a:t>Workshop Timeline</a:t>
            </a:r>
            <a:endParaRPr lang="en-US" sz="3150" noProof="1"/>
          </a:p>
        </p:txBody>
      </p:sp>
      <p:sp>
        <p:nvSpPr>
          <p:cNvPr id="6" name="subtitle"/>
          <p:cNvSpPr txBox="1"/>
          <p:nvPr/>
        </p:nvSpPr>
        <p:spPr>
          <a:xfrm>
            <a:off x="609600" y="12954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20" noProof="1">
                <a:solidFill>
                  <a:srgbClr val="94A3B8"/>
                </a:solidFill>
                <a:latin typeface="Loma"/>
                <a:ea typeface="Loma"/>
              </a:rPr>
              <a:t>แผนการเรียน 7 ช่วง ครอบคลุม Chat-to-Data, Chat-to-ERP, Agentic Wallet และ Autonomous Shopping</a:t>
            </a:r>
            <a:endParaRPr lang="en-US" sz="1120" noProof="1"/>
          </a:p>
        </p:txBody>
      </p:sp>
      <p:sp>
        <p:nvSpPr>
          <p:cNvPr id="7" name="total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10160000" y="1384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8" name="total"/>
          <p:cNvSpPr txBox="1"/>
          <p:nvPr/>
        </p:nvSpPr>
        <p:spPr>
          <a:xfrm>
            <a:off x="10363200" y="13716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TOTAL · 120 MIN</a:t>
            </a:r>
            <a:endParaRPr lang="en-US" sz="1050" noProof="1"/>
          </a:p>
        </p:txBody>
      </p:sp>
      <p:sp>
        <p:nvSpPr>
          <p:cNvPr id="9" name="r1-bg"/>
          <p:cNvSpPr/>
          <p:nvPr/>
        </p:nvSpPr>
        <p:spPr>
          <a:xfrm>
            <a:off x="609600" y="17780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10" name="r1-bar"/>
          <p:cNvSpPr/>
          <p:nvPr/>
        </p:nvSpPr>
        <p:spPr>
          <a:xfrm>
            <a:off x="609600" y="1778000"/>
            <a:ext cx="38100" cy="66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1" name="r1-time"/>
          <p:cNvSpPr txBox="1"/>
          <p:nvPr/>
        </p:nvSpPr>
        <p:spPr>
          <a:xfrm>
            <a:off x="787400" y="20193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06B6D4"/>
                </a:solidFill>
                <a:latin typeface="JetBrains Mono"/>
                <a:ea typeface="JetBrains Mono"/>
              </a:rPr>
              <a:t>00:00 — 00:10</a:t>
            </a:r>
            <a:endParaRPr lang="en-US" sz="980" noProof="1"/>
          </a:p>
        </p:txBody>
      </p:sp>
      <p:sp>
        <p:nvSpPr>
          <p:cNvPr id="12" name="r1-title"/>
          <p:cNvSpPr txBox="1"/>
          <p:nvPr/>
        </p:nvSpPr>
        <p:spPr>
          <a:xfrm>
            <a:off x="2501900" y="1905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Kickoff &amp; Setup</a:t>
            </a:r>
            <a:endParaRPr lang="en-US" sz="1200" noProof="1"/>
          </a:p>
        </p:txBody>
      </p:sp>
      <p:sp>
        <p:nvSpPr>
          <p:cNvPr id="13" name="r1-desc"/>
          <p:cNvSpPr txBox="1"/>
          <p:nvPr/>
        </p:nvSpPr>
        <p:spPr>
          <a:xfrm>
            <a:off x="2501900" y="21209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ตรวจสอบ Tool Readiness (Telegram API, Node/Python, Wallet)</a:t>
            </a:r>
            <a:endParaRPr lang="en-US" sz="980" noProof="1"/>
          </a:p>
        </p:txBody>
      </p:sp>
      <p:sp>
        <p:nvSpPr>
          <p:cNvPr id="14" name="r1-idx"/>
          <p:cNvSpPr txBox="1"/>
          <p:nvPr/>
        </p:nvSpPr>
        <p:spPr>
          <a:xfrm>
            <a:off x="11074400" y="20320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01</a:t>
            </a:r>
            <a:endParaRPr lang="en-US" sz="800" noProof="1"/>
          </a:p>
        </p:txBody>
      </p:sp>
      <p:sp>
        <p:nvSpPr>
          <p:cNvPr id="15" name="r2-bg"/>
          <p:cNvSpPr/>
          <p:nvPr/>
        </p:nvSpPr>
        <p:spPr>
          <a:xfrm>
            <a:off x="609600" y="25146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16" name="r2-bar"/>
          <p:cNvSpPr/>
          <p:nvPr/>
        </p:nvSpPr>
        <p:spPr>
          <a:xfrm>
            <a:off x="609600" y="2514600"/>
            <a:ext cx="38100" cy="66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r2-time"/>
          <p:cNvSpPr txBox="1"/>
          <p:nvPr/>
        </p:nvSpPr>
        <p:spPr>
          <a:xfrm>
            <a:off x="787400" y="27559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4B5FD"/>
                </a:solidFill>
                <a:latin typeface="JetBrains Mono"/>
                <a:ea typeface="JetBrains Mono"/>
              </a:rPr>
              <a:t>00:10 — 00:35</a:t>
            </a:r>
            <a:endParaRPr lang="en-US" sz="980" noProof="1"/>
          </a:p>
        </p:txBody>
      </p:sp>
      <p:sp>
        <p:nvSpPr>
          <p:cNvPr id="18" name="r2-title"/>
          <p:cNvSpPr txBox="1"/>
          <p:nvPr/>
        </p:nvSpPr>
        <p:spPr>
          <a:xfrm>
            <a:off x="2501900" y="2641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1. Chat to Data</a:t>
            </a:r>
            <a:endParaRPr lang="en-US" sz="1200" noProof="1"/>
          </a:p>
        </p:txBody>
      </p:sp>
      <p:sp>
        <p:nvSpPr>
          <p:cNvPr id="19" name="r2-desc"/>
          <p:cNvSpPr txBox="1"/>
          <p:nvPr/>
        </p:nvSpPr>
        <p:spPr>
          <a:xfrm>
            <a:off x="2501900" y="28575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เชื่อม Telegram Bot กับ Agent ใช้อ่าน/คิวรีไฟล์ CSV/Excel โดยไม่ต้องเปิดไฟล์</a:t>
            </a:r>
            <a:endParaRPr lang="en-US" sz="980" noProof="1"/>
          </a:p>
        </p:txBody>
      </p:sp>
      <p:sp>
        <p:nvSpPr>
          <p:cNvPr id="20" name="r2-idx"/>
          <p:cNvSpPr txBox="1"/>
          <p:nvPr/>
        </p:nvSpPr>
        <p:spPr>
          <a:xfrm>
            <a:off x="11074400" y="27686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02</a:t>
            </a:r>
            <a:endParaRPr lang="en-US" sz="800" noProof="1"/>
          </a:p>
        </p:txBody>
      </p:sp>
      <p:sp>
        <p:nvSpPr>
          <p:cNvPr id="21" name="r3-bg"/>
          <p:cNvSpPr/>
          <p:nvPr/>
        </p:nvSpPr>
        <p:spPr>
          <a:xfrm>
            <a:off x="609600" y="32512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22" name="r3-bar"/>
          <p:cNvSpPr/>
          <p:nvPr/>
        </p:nvSpPr>
        <p:spPr>
          <a:xfrm>
            <a:off x="609600" y="3251200"/>
            <a:ext cx="38100" cy="66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3" name="r3-time"/>
          <p:cNvSpPr txBox="1"/>
          <p:nvPr/>
        </p:nvSpPr>
        <p:spPr>
          <a:xfrm>
            <a:off x="787400" y="34925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06B6D4"/>
                </a:solidFill>
                <a:latin typeface="JetBrains Mono"/>
                <a:ea typeface="JetBrains Mono"/>
              </a:rPr>
              <a:t>00:35 — 01:00</a:t>
            </a:r>
            <a:endParaRPr lang="en-US" sz="980" noProof="1"/>
          </a:p>
        </p:txBody>
      </p:sp>
      <p:sp>
        <p:nvSpPr>
          <p:cNvPr id="24" name="r3-title"/>
          <p:cNvSpPr txBox="1"/>
          <p:nvPr/>
        </p:nvSpPr>
        <p:spPr>
          <a:xfrm>
            <a:off x="2501900" y="3378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1. Chat to ERP</a:t>
            </a:r>
            <a:endParaRPr lang="en-US" sz="1200" noProof="1"/>
          </a:p>
        </p:txBody>
      </p:sp>
      <p:sp>
        <p:nvSpPr>
          <p:cNvPr id="25" name="r3-desc"/>
          <p:cNvSpPr txBox="1"/>
          <p:nvPr/>
        </p:nvSpPr>
        <p:spPr>
          <a:xfrm>
            <a:off x="2501900" y="35941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ต่อ MCP Server เข้า ERPNext API เพื่อสั่งคิวรี/ทำรายการผ่าน Telegram แทน Web App</a:t>
            </a:r>
            <a:endParaRPr lang="en-US" sz="980" noProof="1"/>
          </a:p>
        </p:txBody>
      </p:sp>
      <p:sp>
        <p:nvSpPr>
          <p:cNvPr id="26" name="r3-idx"/>
          <p:cNvSpPr txBox="1"/>
          <p:nvPr/>
        </p:nvSpPr>
        <p:spPr>
          <a:xfrm>
            <a:off x="11074400" y="35052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03</a:t>
            </a:r>
            <a:endParaRPr lang="en-US" sz="800" noProof="1"/>
          </a:p>
        </p:txBody>
      </p:sp>
      <p:sp>
        <p:nvSpPr>
          <p:cNvPr id="27" name="r4-bg"/>
          <p:cNvSpPr/>
          <p:nvPr/>
        </p:nvSpPr>
        <p:spPr>
          <a:xfrm>
            <a:off x="609600" y="39751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C1F2A">
              <a:alpha val="80000"/>
            </a:srgbClr>
          </a:solidFill>
          <a:ln>
            <a:noFill/>
          </a:ln>
        </p:spPr>
      </p:sp>
      <p:sp>
        <p:nvSpPr>
          <p:cNvPr id="28" name="r4-bar"/>
          <p:cNvSpPr/>
          <p:nvPr/>
        </p:nvSpPr>
        <p:spPr>
          <a:xfrm>
            <a:off x="609600" y="3975100"/>
            <a:ext cx="38100" cy="6604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9" name="r4-time"/>
          <p:cNvSpPr txBox="1"/>
          <p:nvPr/>
        </p:nvSpPr>
        <p:spPr>
          <a:xfrm>
            <a:off x="787400" y="42164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BBF24"/>
                </a:solidFill>
                <a:latin typeface="JetBrains Mono"/>
                <a:ea typeface="JetBrains Mono"/>
              </a:rPr>
              <a:t>01:00 — 01:10</a:t>
            </a:r>
            <a:endParaRPr lang="en-US" sz="980" noProof="1"/>
          </a:p>
        </p:txBody>
      </p:sp>
      <p:sp>
        <p:nvSpPr>
          <p:cNvPr id="30" name="r4-icon"/>
          <p:cNvSpPr/>
          <p:nvPr>
            <p:extLst>
              <p:ext uri="{F5677B7D-0D2A-4D9B-9A5C-6D8D7D0E5A5D}">
                <pptd:icon encoding="base64url">eyJpY29uTmFtZSI6ImZhczptdWctc2F1Y2VyIn0</pptd:icon>
              </p:ext>
            </p:extLst>
          </p:nvPr>
        </p:nvSpPr>
        <p:spPr>
          <a:xfrm>
            <a:off x="2501900" y="4229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64" y="64"/>
                </a:moveTo>
                <a:cubicBezTo>
                  <a:pt x="64" y="46"/>
                  <a:pt x="78" y="32"/>
                  <a:pt x="96" y="32"/>
                </a:cubicBezTo>
                <a:lnTo>
                  <a:pt x="448" y="32"/>
                </a:lnTo>
                <a:cubicBezTo>
                  <a:pt x="519" y="32"/>
                  <a:pt x="576" y="89"/>
                  <a:pt x="576" y="160"/>
                </a:cubicBezTo>
                <a:cubicBezTo>
                  <a:pt x="576" y="231"/>
                  <a:pt x="519" y="288"/>
                  <a:pt x="448" y="288"/>
                </a:cubicBezTo>
                <a:cubicBezTo>
                  <a:pt x="448" y="341"/>
                  <a:pt x="405" y="384"/>
                  <a:pt x="352" y="384"/>
                </a:cubicBezTo>
                <a:lnTo>
                  <a:pt x="160" y="384"/>
                </a:lnTo>
                <a:cubicBezTo>
                  <a:pt x="107" y="384"/>
                  <a:pt x="64" y="341"/>
                  <a:pt x="64" y="288"/>
                </a:cubicBezTo>
                <a:lnTo>
                  <a:pt x="64" y="64"/>
                </a:lnTo>
                <a:close/>
                <a:moveTo>
                  <a:pt x="512" y="160"/>
                </a:moveTo>
                <a:cubicBezTo>
                  <a:pt x="512" y="125"/>
                  <a:pt x="483" y="96"/>
                  <a:pt x="448" y="96"/>
                </a:cubicBezTo>
                <a:lnTo>
                  <a:pt x="448" y="224"/>
                </a:lnTo>
                <a:cubicBezTo>
                  <a:pt x="483" y="224"/>
                  <a:pt x="512" y="195"/>
                  <a:pt x="512" y="160"/>
                </a:cubicBezTo>
                <a:close/>
              </a:path>
              <a:path w="576" h="512">
                <a:moveTo>
                  <a:pt x="64" y="448"/>
                </a:moveTo>
                <a:lnTo>
                  <a:pt x="448" y="448"/>
                </a:lnTo>
                <a:cubicBezTo>
                  <a:pt x="466" y="448"/>
                  <a:pt x="480" y="462"/>
                  <a:pt x="480" y="480"/>
                </a:cubicBezTo>
                <a:cubicBezTo>
                  <a:pt x="480" y="498"/>
                  <a:pt x="466" y="512"/>
                  <a:pt x="448" y="512"/>
                </a:cubicBezTo>
                <a:lnTo>
                  <a:pt x="64" y="512"/>
                </a:lnTo>
                <a:cubicBezTo>
                  <a:pt x="46" y="512"/>
                  <a:pt x="32" y="498"/>
                  <a:pt x="32" y="480"/>
                </a:cubicBezTo>
                <a:cubicBezTo>
                  <a:pt x="32" y="462"/>
                  <a:pt x="46" y="448"/>
                  <a:pt x="64" y="448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1" name="r4-title"/>
          <p:cNvSpPr txBox="1"/>
          <p:nvPr/>
        </p:nvSpPr>
        <p:spPr>
          <a:xfrm>
            <a:off x="2755900" y="41021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BBF24"/>
                </a:solidFill>
                <a:latin typeface="Space Grotesk"/>
                <a:ea typeface="Space Grotesk"/>
              </a:rPr>
              <a:t>Break</a:t>
            </a:r>
            <a:endParaRPr lang="en-US" sz="1200" noProof="1"/>
          </a:p>
        </p:txBody>
      </p:sp>
      <p:sp>
        <p:nvSpPr>
          <p:cNvPr id="32" name="r4-desc"/>
          <p:cNvSpPr txBox="1"/>
          <p:nvPr/>
        </p:nvSpPr>
        <p:spPr>
          <a:xfrm>
            <a:off x="2755900" y="4318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พักสายตา 10 นาที</a:t>
            </a:r>
            <a:endParaRPr lang="en-US" sz="980" noProof="1"/>
          </a:p>
        </p:txBody>
      </p:sp>
      <p:sp>
        <p:nvSpPr>
          <p:cNvPr id="33" name="r4-idx"/>
          <p:cNvSpPr txBox="1"/>
          <p:nvPr/>
        </p:nvSpPr>
        <p:spPr>
          <a:xfrm>
            <a:off x="11074400" y="42418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04</a:t>
            </a:r>
            <a:endParaRPr lang="en-US" sz="800" noProof="1"/>
          </a:p>
        </p:txBody>
      </p:sp>
      <p:sp>
        <p:nvSpPr>
          <p:cNvPr id="34" name="r5-bg"/>
          <p:cNvSpPr/>
          <p:nvPr/>
        </p:nvSpPr>
        <p:spPr>
          <a:xfrm>
            <a:off x="609600" y="47117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35" name="r5-bar"/>
          <p:cNvSpPr/>
          <p:nvPr/>
        </p:nvSpPr>
        <p:spPr>
          <a:xfrm>
            <a:off x="609600" y="4711700"/>
            <a:ext cx="38100" cy="66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6" name="r5-time"/>
          <p:cNvSpPr txBox="1"/>
          <p:nvPr/>
        </p:nvSpPr>
        <p:spPr>
          <a:xfrm>
            <a:off x="787400" y="49530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4B5FD"/>
                </a:solidFill>
                <a:latin typeface="JetBrains Mono"/>
                <a:ea typeface="JetBrains Mono"/>
              </a:rPr>
              <a:t>01:10 — 01:35</a:t>
            </a:r>
            <a:endParaRPr lang="en-US" sz="980" noProof="1"/>
          </a:p>
        </p:txBody>
      </p:sp>
      <p:sp>
        <p:nvSpPr>
          <p:cNvPr id="37" name="r5-title"/>
          <p:cNvSpPr txBox="1"/>
          <p:nvPr/>
        </p:nvSpPr>
        <p:spPr>
          <a:xfrm>
            <a:off x="2501900" y="48387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2. Agentic Wallet &amp; Protocols</a:t>
            </a:r>
            <a:endParaRPr lang="en-US" sz="1200" noProof="1"/>
          </a:p>
        </p:txBody>
      </p:sp>
      <p:sp>
        <p:nvSpPr>
          <p:cNvPr id="38" name="r5-desc"/>
          <p:cNvSpPr txBox="1"/>
          <p:nvPr/>
        </p:nvSpPr>
        <p:spPr>
          <a:xfrm>
            <a:off x="2501900" y="50546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สร้าง Wallet บน wallet.tempo.xyz, ทดสอบ รับ/โอน USDC, เชื่อม Agent เข้า Wallet, เจาะลึก x402 / MPP</a:t>
            </a:r>
            <a:endParaRPr lang="en-US" sz="980" noProof="1"/>
          </a:p>
        </p:txBody>
      </p:sp>
      <p:sp>
        <p:nvSpPr>
          <p:cNvPr id="39" name="r5-idx"/>
          <p:cNvSpPr txBox="1"/>
          <p:nvPr/>
        </p:nvSpPr>
        <p:spPr>
          <a:xfrm>
            <a:off x="11074400" y="49784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05</a:t>
            </a:r>
            <a:endParaRPr lang="en-US" sz="800" noProof="1"/>
          </a:p>
        </p:txBody>
      </p:sp>
      <p:sp>
        <p:nvSpPr>
          <p:cNvPr id="40" name="r6-bg"/>
          <p:cNvSpPr/>
          <p:nvPr/>
        </p:nvSpPr>
        <p:spPr>
          <a:xfrm>
            <a:off x="609600" y="54483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41" name="r6-bar"/>
          <p:cNvSpPr/>
          <p:nvPr/>
        </p:nvSpPr>
        <p:spPr>
          <a:xfrm>
            <a:off x="609600" y="5448300"/>
            <a:ext cx="38100" cy="660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42" name="r6-time"/>
          <p:cNvSpPr txBox="1"/>
          <p:nvPr/>
        </p:nvSpPr>
        <p:spPr>
          <a:xfrm>
            <a:off x="787400" y="56896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06B6D4"/>
                </a:solidFill>
                <a:latin typeface="JetBrains Mono"/>
                <a:ea typeface="JetBrains Mono"/>
              </a:rPr>
              <a:t>01:35 — 01:55</a:t>
            </a:r>
            <a:endParaRPr lang="en-US" sz="980" noProof="1"/>
          </a:p>
        </p:txBody>
      </p:sp>
      <p:sp>
        <p:nvSpPr>
          <p:cNvPr id="43" name="r6-title"/>
          <p:cNvSpPr txBox="1"/>
          <p:nvPr/>
        </p:nvSpPr>
        <p:spPr>
          <a:xfrm>
            <a:off x="2501900" y="55753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2. Autonomous Shopping</a:t>
            </a:r>
            <a:endParaRPr lang="en-US" sz="1200" noProof="1"/>
          </a:p>
        </p:txBody>
      </p:sp>
      <p:sp>
        <p:nvSpPr>
          <p:cNvPr id="44" name="r6-desc"/>
          <p:cNvSpPr txBox="1"/>
          <p:nvPr/>
        </p:nvSpPr>
        <p:spPr>
          <a:xfrm>
            <a:off x="2501900" y="57912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ตรวจสอบธุรกรรมบน x402scan.com / mppscan.com และให้ Agent สั่งซื้อสินค้าจริงที่ tryponcho.com</a:t>
            </a:r>
            <a:endParaRPr lang="en-US" sz="980" noProof="1"/>
          </a:p>
        </p:txBody>
      </p:sp>
      <p:sp>
        <p:nvSpPr>
          <p:cNvPr id="45" name="r6-idx"/>
          <p:cNvSpPr txBox="1"/>
          <p:nvPr/>
        </p:nvSpPr>
        <p:spPr>
          <a:xfrm>
            <a:off x="11074400" y="57150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06</a:t>
            </a:r>
            <a:endParaRPr lang="en-US" sz="800" noProof="1"/>
          </a:p>
        </p:txBody>
      </p:sp>
      <p:sp>
        <p:nvSpPr>
          <p:cNvPr id="46" name="r7-bg"/>
          <p:cNvSpPr/>
          <p:nvPr/>
        </p:nvSpPr>
        <p:spPr>
          <a:xfrm>
            <a:off x="609600" y="6172200"/>
            <a:ext cx="10972800" cy="660400"/>
          </a:xfrm>
          <a:prstGeom prst="roundRect">
            <a:avLst>
              <a:gd name="adj" fmla="val 12000"/>
            </a:avLst>
          </a:prstGeom>
          <a:solidFill>
            <a:srgbClr val="182138">
              <a:alpha val="80000"/>
            </a:srgbClr>
          </a:solidFill>
          <a:ln>
            <a:noFill/>
          </a:ln>
        </p:spPr>
      </p:sp>
      <p:sp>
        <p:nvSpPr>
          <p:cNvPr id="47" name="r7-bar"/>
          <p:cNvSpPr/>
          <p:nvPr/>
        </p:nvSpPr>
        <p:spPr>
          <a:xfrm>
            <a:off x="609600" y="6172200"/>
            <a:ext cx="38100" cy="66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8" name="r7-time"/>
          <p:cNvSpPr txBox="1"/>
          <p:nvPr/>
        </p:nvSpPr>
        <p:spPr>
          <a:xfrm>
            <a:off x="787400" y="64135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4B5FD"/>
                </a:solidFill>
                <a:latin typeface="JetBrains Mono"/>
                <a:ea typeface="JetBrains Mono"/>
              </a:rPr>
              <a:t>01:55 — 02:00</a:t>
            </a:r>
            <a:endParaRPr lang="en-US" sz="980" noProof="1"/>
          </a:p>
        </p:txBody>
      </p:sp>
      <p:sp>
        <p:nvSpPr>
          <p:cNvPr id="49" name="r7-title"/>
          <p:cNvSpPr txBox="1"/>
          <p:nvPr/>
        </p:nvSpPr>
        <p:spPr>
          <a:xfrm>
            <a:off x="2501900" y="6299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Space Grotesk"/>
                <a:ea typeface="Space Grotesk"/>
              </a:rPr>
              <a:t>Q&amp;A &amp; Wrap-up</a:t>
            </a:r>
            <a:endParaRPr lang="en-US" sz="1200" noProof="1"/>
          </a:p>
        </p:txBody>
      </p:sp>
      <p:sp>
        <p:nvSpPr>
          <p:cNvPr id="50" name="r7-desc"/>
          <p:cNvSpPr txBox="1"/>
          <p:nvPr/>
        </p:nvSpPr>
        <p:spPr>
          <a:xfrm>
            <a:off x="2501900" y="65151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สรุปอนาคต AI Autonomous Economy และตอบข้อซักถาม</a:t>
            </a:r>
            <a:endParaRPr lang="en-US" sz="980" noProof="1"/>
          </a:p>
        </p:txBody>
      </p:sp>
      <p:sp>
        <p:nvSpPr>
          <p:cNvPr id="51" name="r7-idx"/>
          <p:cNvSpPr txBox="1"/>
          <p:nvPr/>
        </p:nvSpPr>
        <p:spPr>
          <a:xfrm>
            <a:off x="11074400" y="6451600"/>
            <a:ext cx="3302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07</a:t>
            </a:r>
            <a:endParaRPr lang="en-US" sz="800" noProof="1"/>
          </a:p>
        </p:txBody>
      </p:sp>
      <p:sp>
        <p:nvSpPr>
          <p:cNvPr id="52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02 / 24</a:t>
            </a:r>
            <a:endParaRPr lang="en-US" sz="800" noProof="1"/>
          </a:p>
        </p:txBody>
      </p:sp>
      <p:sp>
        <p:nvSpPr>
          <p:cNvPr id="53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5207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19200" y="4445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WORKSHOP GOAL</a:t>
            </a:r>
            <a:endParaRPr lang="en-US" sz="850" noProof="1"/>
          </a:p>
        </p:txBody>
      </p:sp>
      <p:sp>
        <p:nvSpPr>
          <p:cNvPr id="4" name="headline"/>
          <p:cNvSpPr txBox="1"/>
          <p:nvPr/>
        </p:nvSpPr>
        <p:spPr>
          <a:xfrm>
            <a:off x="584200" y="2006600"/>
            <a:ext cx="63500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2000"/>
              </a:lnSpc>
            </a:pP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ออกจากห้องนี้ คุณจะมี </a:t>
            </a:r>
            <a:r>
              <a:rPr lang="en-US" sz="2850" noProof="1" b="1">
                <a:solidFill>
                  <a:srgbClr val="06B6D4"/>
                </a:solidFill>
                <a:latin typeface="Loma"/>
                <a:ea typeface="Loma"/>
              </a:rPr>
              <a:t>Agent</a:t>
            </a: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 ที่สั่งการ</a:t>
            </a:r>
            <a:endParaRPr lang="en-US" sz="2850" noProof="1"/>
          </a:p>
          <a:p>
            <a:pPr algn="l">
              <a:lnSpc>
                <a:spcPct val="122000"/>
              </a:lnSpc>
            </a:pP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ผ่าน Telegram, อ่านข้อมูล ERP ได้, จ่าย</a:t>
            </a:r>
            <a:endParaRPr lang="en-US" sz="2850" noProof="1"/>
          </a:p>
          <a:p>
            <a:pPr algn="l">
              <a:lnSpc>
                <a:spcPct val="122000"/>
              </a:lnSpc>
            </a:pP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เงินด้วย </a:t>
            </a:r>
            <a:r>
              <a:rPr lang="en-US" sz="2850" noProof="1" b="1">
                <a:solidFill>
                  <a:srgbClr val="7C3AED"/>
                </a:solidFill>
                <a:latin typeface="Loma"/>
                <a:ea typeface="Loma"/>
              </a:rPr>
              <a:t>USDC</a:t>
            </a: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 และสั่งซื้อสินค้าจริงด้วย</a:t>
            </a:r>
            <a:endParaRPr lang="en-US" sz="2850" noProof="1"/>
          </a:p>
          <a:p>
            <a:pPr algn="l">
              <a:lnSpc>
                <a:spcPct val="122000"/>
              </a:lnSpc>
            </a:pPr>
            <a:r>
              <a:rPr lang="en-US" sz="2850" noProof="1" b="1">
                <a:solidFill>
                  <a:srgbClr val="FFFFFF"/>
                </a:solidFill>
                <a:latin typeface="Loma"/>
                <a:ea typeface="Loma"/>
              </a:rPr>
              <a:t>ตัวเอง — </a:t>
            </a:r>
            <a:r>
              <a:rPr lang="en-US" sz="2850" noProof="1" b="1">
                <a:solidFill>
                  <a:srgbClr val="FBBF24"/>
                </a:solidFill>
                <a:latin typeface="Loma"/>
                <a:ea typeface="Loma"/>
              </a:rPr>
              <a:t>ใน 2 ชั่วโมง</a:t>
            </a:r>
            <a:endParaRPr lang="en-US" sz="2850" noProof="1"/>
          </a:p>
        </p:txBody>
      </p:sp>
      <p:sp>
        <p:nvSpPr>
          <p:cNvPr id="5" name="subline"/>
          <p:cNvSpPr txBox="1"/>
          <p:nvPr/>
        </p:nvSpPr>
        <p:spPr>
          <a:xfrm>
            <a:off x="609600" y="40259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Loma"/>
                <a:ea typeface="Loma"/>
              </a:rPr>
              <a:t>ไม่ใช่สไลด์บรรยาย แต่เป็น hands-on lab ที่ทุกคนรันจริงและเห็นผลในมือถือของตัวเอง</a:t>
            </a:r>
            <a:endParaRPr lang="en-US" sz="1200" noProof="1"/>
          </a:p>
        </p:txBody>
      </p:sp>
      <p:sp>
        <p:nvSpPr>
          <p:cNvPr id="6" name="chip1"/>
          <p:cNvSpPr/>
          <p:nvPr/>
        </p:nvSpPr>
        <p:spPr>
          <a:xfrm>
            <a:off x="609600" y="4572000"/>
            <a:ext cx="1130300" cy="2794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7" name="chip1-icon"/>
          <p:cNvSpPr/>
          <p:nvPr>
            <p:extLst>
              <p:ext uri="{F5677B7D-0D2A-4D9B-9A5C-6D8D7D0E5A5D}">
                <pptd:icon encoding="base64url">eyJpY29uTmFtZSI6ImZhczpib3JkZXItYWxsIn0</pptd:icon>
              </p:ext>
            </p:extLst>
          </p:nvPr>
        </p:nvSpPr>
        <p:spPr>
          <a:xfrm>
            <a:off x="736600" y="4648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384" y="96"/>
                </a:moveTo>
                <a:lnTo>
                  <a:pt x="384" y="224"/>
                </a:lnTo>
                <a:lnTo>
                  <a:pt x="256" y="224"/>
                </a:lnTo>
                <a:lnTo>
                  <a:pt x="256" y="96"/>
                </a:lnTo>
                <a:lnTo>
                  <a:pt x="384" y="96"/>
                </a:lnTo>
                <a:close/>
                <a:moveTo>
                  <a:pt x="384" y="288"/>
                </a:moveTo>
                <a:lnTo>
                  <a:pt x="384" y="416"/>
                </a:lnTo>
                <a:lnTo>
                  <a:pt x="256" y="416"/>
                </a:lnTo>
                <a:lnTo>
                  <a:pt x="256" y="288"/>
                </a:lnTo>
                <a:lnTo>
                  <a:pt x="384" y="288"/>
                </a:lnTo>
                <a:close/>
                <a:moveTo>
                  <a:pt x="192" y="224"/>
                </a:moveTo>
                <a:lnTo>
                  <a:pt x="64" y="224"/>
                </a:lnTo>
                <a:lnTo>
                  <a:pt x="64" y="96"/>
                </a:lnTo>
                <a:lnTo>
                  <a:pt x="192" y="96"/>
                </a:lnTo>
                <a:lnTo>
                  <a:pt x="192" y="224"/>
                </a:lnTo>
                <a:close/>
                <a:moveTo>
                  <a:pt x="64" y="288"/>
                </a:moveTo>
                <a:lnTo>
                  <a:pt x="192" y="288"/>
                </a:lnTo>
                <a:lnTo>
                  <a:pt x="192" y="416"/>
                </a:lnTo>
                <a:lnTo>
                  <a:pt x="64" y="416"/>
                </a:lnTo>
                <a:lnTo>
                  <a:pt x="64" y="288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8" name="chip1-text"/>
          <p:cNvSpPr txBox="1"/>
          <p:nvPr/>
        </p:nvSpPr>
        <p:spPr>
          <a:xfrm>
            <a:off x="889000" y="4622800"/>
            <a:ext cx="787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06B6D4"/>
                </a:solidFill>
                <a:latin typeface="JetBrains Mono"/>
                <a:ea typeface="JetBrains Mono"/>
              </a:rPr>
              <a:t>5 MODULES</a:t>
            </a:r>
            <a:endParaRPr lang="en-US" sz="1050" noProof="1"/>
          </a:p>
        </p:txBody>
      </p:sp>
      <p:sp>
        <p:nvSpPr>
          <p:cNvPr id="9" name="chip2"/>
          <p:cNvSpPr/>
          <p:nvPr/>
        </p:nvSpPr>
        <p:spPr>
          <a:xfrm>
            <a:off x="1854200" y="4572000"/>
            <a:ext cx="977900" cy="2794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10" name="chip2-icon"/>
          <p:cNvSpPr/>
          <p:nvPr>
            <p:extLst>
              <p:ext uri="{F5677B7D-0D2A-4D9B-9A5C-6D8D7D0E5A5D}">
                <pptd:icon encoding="base64url">eyJpY29uTmFtZSI6ImZhczp3cmVuY2gifQ</pptd:icon>
              </p:ext>
            </p:extLst>
          </p:nvPr>
        </p:nvSpPr>
        <p:spPr>
          <a:xfrm>
            <a:off x="1981200" y="4648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09" y="99"/>
                </a:move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48"/>
                  <a:pt x="472" y="320"/>
                  <a:pt x="384" y="320"/>
                </a:cubicBezTo>
                <a:cubicBezTo>
                  <a:pt x="367" y="320"/>
                  <a:pt x="350" y="317"/>
                  <a:pt x="334" y="312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232" y="210"/>
                </a:lnTo>
                <a:cubicBezTo>
                  <a:pt x="227" y="194"/>
                  <a:pt x="224" y="178"/>
                  <a:pt x="224" y="160"/>
                </a:cubicBezTo>
                <a:cubicBezTo>
                  <a:pt x="224" y="72"/>
                  <a:pt x="296" y="0"/>
                  <a:pt x="384" y="0"/>
                </a:cubicBezTo>
                <a:cubicBezTo>
                  <a:pt x="404" y="0"/>
                  <a:pt x="423" y="4"/>
                  <a:pt x="441" y="11"/>
                </a:cubicBezTo>
                <a:cubicBezTo>
                  <a:pt x="451" y="14"/>
                  <a:pt x="453" y="27"/>
                  <a:pt x="445" y="35"/>
                </a:cubicBezTo>
                <a:lnTo>
                  <a:pt x="357" y="123"/>
                </a:lnTo>
                <a:cubicBezTo>
                  <a:pt x="354" y="126"/>
                  <a:pt x="352" y="130"/>
                  <a:pt x="352" y="135"/>
                </a:cubicBezTo>
                <a:lnTo>
                  <a:pt x="352" y="176"/>
                </a:lnTo>
                <a:cubicBezTo>
                  <a:pt x="352" y="185"/>
                  <a:pt x="359" y="192"/>
                  <a:pt x="368" y="192"/>
                </a:cubicBezTo>
                <a:lnTo>
                  <a:pt x="409" y="192"/>
                </a:lnTo>
                <a:cubicBezTo>
                  <a:pt x="414" y="192"/>
                  <a:pt x="418" y="190"/>
                  <a:pt x="421" y="187"/>
                </a:cubicBezTo>
                <a:lnTo>
                  <a:pt x="509" y="99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1" name="chip2-text"/>
          <p:cNvSpPr txBox="1"/>
          <p:nvPr/>
        </p:nvSpPr>
        <p:spPr>
          <a:xfrm>
            <a:off x="2133600" y="4622800"/>
            <a:ext cx="63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06B6D4"/>
                </a:solidFill>
                <a:latin typeface="JetBrains Mono"/>
                <a:ea typeface="JetBrains Mono"/>
              </a:rPr>
              <a:t>7 TOOLS</a:t>
            </a:r>
            <a:endParaRPr lang="en-US" sz="1050" noProof="1"/>
          </a:p>
        </p:txBody>
      </p:sp>
      <p:sp>
        <p:nvSpPr>
          <p:cNvPr id="12" name="chip3"/>
          <p:cNvSpPr/>
          <p:nvPr/>
        </p:nvSpPr>
        <p:spPr>
          <a:xfrm>
            <a:off x="2946400" y="4572000"/>
            <a:ext cx="1625600" cy="2794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13" name="chip3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3073400" y="46482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4" name="chip3-text"/>
          <p:cNvSpPr txBox="1"/>
          <p:nvPr/>
        </p:nvSpPr>
        <p:spPr>
          <a:xfrm>
            <a:off x="3225800" y="4622800"/>
            <a:ext cx="1295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06B6D4"/>
                </a:solidFill>
                <a:latin typeface="JetBrains Mono"/>
                <a:ea typeface="JetBrains Mono"/>
              </a:rPr>
              <a:t>1 WORKING AGENT</a:t>
            </a:r>
            <a:endParaRPr lang="en-US" sz="1050" noProof="1"/>
          </a:p>
        </p:txBody>
      </p:sp>
      <p:sp>
        <p:nvSpPr>
          <p:cNvPr id="15" name="c1-bg"/>
          <p:cNvSpPr/>
          <p:nvPr/>
        </p:nvSpPr>
        <p:spPr>
          <a:xfrm>
            <a:off x="7188200" y="1879600"/>
            <a:ext cx="4394200" cy="965200"/>
          </a:xfrm>
          <a:prstGeom prst="roundRect">
            <a:avLst>
              <a:gd name="adj" fmla="val 10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6" name="c1-bar"/>
          <p:cNvSpPr/>
          <p:nvPr/>
        </p:nvSpPr>
        <p:spPr>
          <a:xfrm>
            <a:off x="7188200" y="1879600"/>
            <a:ext cx="38100" cy="965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7" name="c1-tile"/>
          <p:cNvSpPr/>
          <p:nvPr/>
        </p:nvSpPr>
        <p:spPr>
          <a:xfrm>
            <a:off x="7416800" y="2044700"/>
            <a:ext cx="482600" cy="482600"/>
          </a:xfrm>
          <a:prstGeom prst="roundRect">
            <a:avLst>
              <a:gd name="adj" fmla="val 22000"/>
            </a:avLst>
          </a:prstGeom>
          <a:solidFill>
            <a:srgbClr val="06B6D4">
              <a:alpha val="14902"/>
            </a:srgbClr>
          </a:solidFill>
          <a:ln>
            <a:noFill/>
          </a:ln>
        </p:spPr>
      </p:sp>
      <p:sp>
        <p:nvSpPr>
          <p:cNvPr id="18" name="c1-icon"/>
          <p:cNvSpPr/>
          <p:nvPr>
            <p:extLst>
              <p:ext uri="{F5677B7D-0D2A-4D9B-9A5C-6D8D7D0E5A5D}">
                <pptd:icon encoding="base64url">eyJpY29uTmFtZSI6ImZhczptZXNzYWdlIn0</pptd:icon>
              </p:ext>
            </p:extLst>
          </p:nvPr>
        </p:nvSpPr>
        <p:spPr>
          <a:xfrm>
            <a:off x="7543800" y="217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352"/>
                </a:moveTo>
                <a:lnTo>
                  <a:pt x="0" y="128"/>
                </a:lnTo>
                <a:cubicBezTo>
                  <a:pt x="0" y="75"/>
                  <a:pt x="43" y="32"/>
                  <a:pt x="96" y="32"/>
                </a:cubicBezTo>
                <a:lnTo>
                  <a:pt x="416" y="32"/>
                </a:lnTo>
                <a:cubicBezTo>
                  <a:pt x="469" y="32"/>
                  <a:pt x="512" y="75"/>
                  <a:pt x="512" y="128"/>
                </a:cubicBezTo>
                <a:lnTo>
                  <a:pt x="512" y="352"/>
                </a:lnTo>
                <a:cubicBezTo>
                  <a:pt x="512" y="405"/>
                  <a:pt x="469" y="448"/>
                  <a:pt x="416" y="448"/>
                </a:cubicBezTo>
                <a:lnTo>
                  <a:pt x="296" y="448"/>
                </a:lnTo>
                <a:cubicBezTo>
                  <a:pt x="291" y="448"/>
                  <a:pt x="286" y="450"/>
                  <a:pt x="282" y="453"/>
                </a:cubicBezTo>
                <a:lnTo>
                  <a:pt x="166" y="539"/>
                </a:lnTo>
                <a:cubicBezTo>
                  <a:pt x="162" y="542"/>
                  <a:pt x="157" y="544"/>
                  <a:pt x="152" y="544"/>
                </a:cubicBezTo>
                <a:cubicBezTo>
                  <a:pt x="139" y="544"/>
                  <a:pt x="128" y="533"/>
                  <a:pt x="128" y="520"/>
                </a:cubicBezTo>
                <a:lnTo>
                  <a:pt x="128" y="448"/>
                </a:lnTo>
                <a:lnTo>
                  <a:pt x="96" y="448"/>
                </a:lnTo>
                <a:cubicBezTo>
                  <a:pt x="43" y="448"/>
                  <a:pt x="0" y="405"/>
                  <a:pt x="0" y="35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9" name="c1-title"/>
          <p:cNvSpPr txBox="1"/>
          <p:nvPr/>
        </p:nvSpPr>
        <p:spPr>
          <a:xfrm>
            <a:off x="8026400" y="20701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20" noProof="1" b="1">
                <a:solidFill>
                  <a:srgbClr val="FFFFFF"/>
                </a:solidFill>
                <a:latin typeface="Space Grotesk"/>
                <a:ea typeface="Space Grotesk"/>
              </a:rPr>
              <a:t>Chat as Universal UI</a:t>
            </a:r>
            <a:endParaRPr lang="en-US" sz="1120" noProof="1"/>
          </a:p>
        </p:txBody>
      </p:sp>
      <p:sp>
        <p:nvSpPr>
          <p:cNvPr id="20" name="c1-desc"/>
          <p:cNvSpPr txBox="1"/>
          <p:nvPr/>
        </p:nvSpPr>
        <p:spPr>
          <a:xfrm>
            <a:off x="8026400" y="22987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Telegram คือ interface เดียวที่ต้องใช้ — คุย คิวรี สั่งการ ทุกอย่างจากที่เดียว</a:t>
            </a:r>
            <a:endParaRPr lang="en-US" sz="940" noProof="1"/>
          </a:p>
        </p:txBody>
      </p:sp>
      <p:sp>
        <p:nvSpPr>
          <p:cNvPr id="21" name="c2-bg"/>
          <p:cNvSpPr/>
          <p:nvPr/>
        </p:nvSpPr>
        <p:spPr>
          <a:xfrm>
            <a:off x="7188200" y="2971800"/>
            <a:ext cx="4394200" cy="965200"/>
          </a:xfrm>
          <a:prstGeom prst="roundRect">
            <a:avLst>
              <a:gd name="adj" fmla="val 10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2" name="c2-bar"/>
          <p:cNvSpPr/>
          <p:nvPr/>
        </p:nvSpPr>
        <p:spPr>
          <a:xfrm>
            <a:off x="7188200" y="2971800"/>
            <a:ext cx="38100" cy="965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3" name="c2-tile"/>
          <p:cNvSpPr/>
          <p:nvPr/>
        </p:nvSpPr>
        <p:spPr>
          <a:xfrm>
            <a:off x="7416800" y="3136900"/>
            <a:ext cx="482600" cy="482600"/>
          </a:xfrm>
          <a:prstGeom prst="roundRect">
            <a:avLst>
              <a:gd name="adj" fmla="val 22000"/>
            </a:avLst>
          </a:prstGeom>
          <a:solidFill>
            <a:srgbClr val="7C3AED">
              <a:alpha val="14902"/>
            </a:srgbClr>
          </a:solidFill>
          <a:ln>
            <a:noFill/>
          </a:ln>
        </p:spPr>
      </p:sp>
      <p:sp>
        <p:nvSpPr>
          <p:cNvPr id="24" name="c2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7543800" y="326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5" name="c2-title"/>
          <p:cNvSpPr txBox="1"/>
          <p:nvPr/>
        </p:nvSpPr>
        <p:spPr>
          <a:xfrm>
            <a:off x="8026400" y="31623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20" noProof="1" b="1">
                <a:solidFill>
                  <a:srgbClr val="FFFFFF"/>
                </a:solidFill>
                <a:latin typeface="Space Grotesk"/>
                <a:ea typeface="Space Grotesk"/>
              </a:rPr>
              <a:t>Agent with Real Money</a:t>
            </a:r>
            <a:endParaRPr lang="en-US" sz="1120" noProof="1"/>
          </a:p>
        </p:txBody>
      </p:sp>
      <p:sp>
        <p:nvSpPr>
          <p:cNvPr id="26" name="c2-desc"/>
          <p:cNvSpPr txBox="1"/>
          <p:nvPr/>
        </p:nvSpPr>
        <p:spPr>
          <a:xfrm>
            <a:off x="8026400" y="33909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Wallet USDC ที่ Agent ถือเอง โอนเข้า-ออกได้ ทำธุรกรรมได้จริงบน chain</a:t>
            </a:r>
            <a:endParaRPr lang="en-US" sz="940" noProof="1"/>
          </a:p>
        </p:txBody>
      </p:sp>
      <p:sp>
        <p:nvSpPr>
          <p:cNvPr id="27" name="c3-bg"/>
          <p:cNvSpPr/>
          <p:nvPr/>
        </p:nvSpPr>
        <p:spPr>
          <a:xfrm>
            <a:off x="7188200" y="4064000"/>
            <a:ext cx="4394200" cy="965200"/>
          </a:xfrm>
          <a:prstGeom prst="roundRect">
            <a:avLst>
              <a:gd name="adj" fmla="val 10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8" name="c3-bar"/>
          <p:cNvSpPr/>
          <p:nvPr/>
        </p:nvSpPr>
        <p:spPr>
          <a:xfrm>
            <a:off x="7188200" y="4064000"/>
            <a:ext cx="38100" cy="965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9" name="c3-tile"/>
          <p:cNvSpPr/>
          <p:nvPr/>
        </p:nvSpPr>
        <p:spPr>
          <a:xfrm>
            <a:off x="7416800" y="4229100"/>
            <a:ext cx="482600" cy="482600"/>
          </a:xfrm>
          <a:prstGeom prst="roundRect">
            <a:avLst>
              <a:gd name="adj" fmla="val 22000"/>
            </a:avLst>
          </a:prstGeom>
          <a:solidFill>
            <a:srgbClr val="FBBF24">
              <a:alpha val="14902"/>
            </a:srgbClr>
          </a:solidFill>
          <a:ln>
            <a:noFill/>
          </a:ln>
        </p:spPr>
      </p:sp>
      <p:sp>
        <p:nvSpPr>
          <p:cNvPr id="30" name="c3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7543800" y="435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1" name="c3-title"/>
          <p:cNvSpPr txBox="1"/>
          <p:nvPr/>
        </p:nvSpPr>
        <p:spPr>
          <a:xfrm>
            <a:off x="8026400" y="42545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20" noProof="1" b="1">
                <a:solidFill>
                  <a:srgbClr val="FFFFFF"/>
                </a:solidFill>
                <a:latin typeface="Space Grotesk"/>
                <a:ea typeface="Space Grotesk"/>
              </a:rPr>
              <a:t>Buys Things for You</a:t>
            </a:r>
            <a:endParaRPr lang="en-US" sz="1120" noProof="1"/>
          </a:p>
        </p:txBody>
      </p:sp>
      <p:sp>
        <p:nvSpPr>
          <p:cNvPr id="32" name="c3-desc"/>
          <p:cNvSpPr txBox="1"/>
          <p:nvPr/>
        </p:nvSpPr>
        <p:spPr>
          <a:xfrm>
            <a:off x="8026400" y="44831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สั่งซื้อสินค้าจริงบน tryponcho.com ผ่าน x402 / MPP โดยไม่มีมนุษย์คลิก checkout</a:t>
            </a:r>
            <a:endParaRPr lang="en-US" sz="940" noProof="1"/>
          </a:p>
        </p:txBody>
      </p:sp>
      <p:sp>
        <p:nvSpPr>
          <p:cNvPr id="33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03 / 24</a:t>
            </a:r>
            <a:endParaRPr lang="en-US" sz="800" noProof="1"/>
          </a:p>
        </p:txBody>
      </p:sp>
      <p:sp>
        <p:nvSpPr>
          <p:cNvPr id="34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/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5334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19200" y="4572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01 / 02</a:t>
            </a:r>
            <a:endParaRPr lang="en-US" sz="980" noProof="1"/>
          </a:p>
        </p:txBody>
      </p:sp>
      <p:sp>
        <p:nvSpPr>
          <p:cNvPr id="4" name="part-label"/>
          <p:cNvSpPr txBox="1"/>
          <p:nvPr/>
        </p:nvSpPr>
        <p:spPr>
          <a:xfrm>
            <a:off x="10287000" y="508000"/>
            <a:ext cx="129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PART 1 OF 2</a:t>
            </a:r>
            <a:endParaRPr lang="en-US" sz="900" noProof="1"/>
          </a:p>
        </p:txBody>
      </p:sp>
      <p:sp>
        <p:nvSpPr>
          <p:cNvPr id="5" name="big-num"/>
          <p:cNvSpPr txBox="1"/>
          <p:nvPr/>
        </p:nvSpPr>
        <p:spPr>
          <a:xfrm>
            <a:off x="508000" y="787400"/>
            <a:ext cx="3429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0" noProof="1">
                <a:solidFill>
                  <a:srgbClr val="FFFFFF"/>
                </a:solidFill>
                <a:effectLst>
                  <a:outerShdw blurRad="571500" dist="0" dir="0" sx="100000" sy="100000" kx="0" ky="0" algn="bl" rotWithShape="0">
                    <a:srgbClr val="06B6D4">
                      <a:alpha val="60000"/>
                    </a:srgbClr>
                  </a:outerShdw>
                </a:effectLst>
                <a:latin typeface="Archivo Black"/>
                <a:ea typeface="Archivo Black"/>
              </a:rPr>
              <a:t>01</a:t>
            </a:r>
            <a:endParaRPr lang="en-US" sz="18000" noProof="1"/>
          </a:p>
        </p:txBody>
      </p:sp>
      <p:sp>
        <p:nvSpPr>
          <p:cNvPr id="6" name="chapter-label"/>
          <p:cNvSpPr txBox="1"/>
          <p:nvPr/>
        </p:nvSpPr>
        <p:spPr>
          <a:xfrm>
            <a:off x="3200400" y="16256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CHAPTER</a:t>
            </a:r>
            <a:endParaRPr lang="en-US" sz="1050" noProof="1"/>
          </a:p>
        </p:txBody>
      </p:sp>
      <p:sp>
        <p:nvSpPr>
          <p:cNvPr id="7" name="part-line"/>
          <p:cNvSpPr/>
          <p:nvPr/>
        </p:nvSpPr>
        <p:spPr>
          <a:xfrm>
            <a:off x="609600" y="3556000"/>
            <a:ext cx="330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" name="part-one"/>
          <p:cNvSpPr txBox="1"/>
          <p:nvPr/>
        </p:nvSpPr>
        <p:spPr>
          <a:xfrm>
            <a:off x="1219200" y="3479800"/>
            <a:ext cx="127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PART ONE</a:t>
            </a:r>
            <a:endParaRPr lang="en-US" sz="900" noProof="1"/>
          </a:p>
        </p:txBody>
      </p:sp>
      <p:sp>
        <p:nvSpPr>
          <p:cNvPr id="9" name="title"/>
          <p:cNvSpPr txBox="1"/>
          <p:nvPr/>
        </p:nvSpPr>
        <p:spPr>
          <a:xfrm>
            <a:off x="609600" y="3708400"/>
            <a:ext cx="6604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50" noProof="1" b="1">
                <a:solidFill>
                  <a:srgbClr val="FFFFFF"/>
                </a:solidFill>
                <a:latin typeface="Space Grotesk"/>
                <a:ea typeface="Space Grotesk"/>
              </a:rPr>
              <a:t>Chat-to-Everything</a:t>
            </a:r>
            <a:endParaRPr lang="en-US" sz="4050" noProof="1"/>
          </a:p>
        </p:txBody>
      </p:sp>
      <p:sp>
        <p:nvSpPr>
          <p:cNvPr id="10" name="subtitle"/>
          <p:cNvSpPr txBox="1"/>
          <p:nvPr/>
        </p:nvSpPr>
        <p:spPr>
          <a:xfrm>
            <a:off x="609600" y="4470400"/>
            <a:ext cx="6604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420" noProof="1">
                <a:solidFill>
                  <a:srgbClr val="CBD5E1"/>
                </a:solidFill>
                <a:latin typeface="Loma"/>
                <a:ea typeface="Loma"/>
              </a:rPr>
              <a:t>สร้างพื้นฐาน Agent ที่สั่งการผ่าน Telegram และเชื่อมเข้า Data + ERP ใน 50 นาทีแรก</a:t>
            </a:r>
            <a:endParaRPr lang="en-US" sz="1420" noProof="1"/>
          </a:p>
        </p:txBody>
      </p:sp>
      <p:sp>
        <p:nvSpPr>
          <p:cNvPr id="11" name="modules-list"/>
          <p:cNvSpPr txBox="1"/>
          <p:nvPr/>
        </p:nvSpPr>
        <p:spPr>
          <a:xfrm>
            <a:off x="609600" y="5372100"/>
            <a:ext cx="406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· Chat to Data   · Chat to ERP   · Break</a:t>
            </a:r>
            <a:endParaRPr lang="en-US" sz="900" noProof="1"/>
          </a:p>
        </p:txBody>
      </p:sp>
      <p:sp>
        <p:nvSpPr>
          <p:cNvPr id="12" name="progress-bg"/>
          <p:cNvSpPr/>
          <p:nvPr/>
        </p:nvSpPr>
        <p:spPr>
          <a:xfrm>
            <a:off x="609600" y="6096000"/>
            <a:ext cx="10972800" cy="25400"/>
          </a:xfrm>
          <a:prstGeom prst="rect">
            <a:avLst/>
          </a:prstGeom>
          <a:solidFill>
            <a:srgbClr val="1C2740"/>
          </a:solidFill>
          <a:ln>
            <a:noFill/>
          </a:ln>
        </p:spPr>
      </p:sp>
      <p:sp>
        <p:nvSpPr>
          <p:cNvPr id="13" name="progress-fill"/>
          <p:cNvSpPr/>
          <p:nvPr/>
        </p:nvSpPr>
        <p:spPr>
          <a:xfrm>
            <a:off x="609600" y="6096000"/>
            <a:ext cx="88900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4" name="progress-label"/>
          <p:cNvSpPr txBox="1"/>
          <p:nvPr/>
        </p:nvSpPr>
        <p:spPr>
          <a:xfrm>
            <a:off x="9906000" y="599440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475569"/>
                </a:solidFill>
                <a:latin typeface="JetBrains Mono"/>
                <a:ea typeface="JetBrains Mono"/>
              </a:rPr>
              <a:t>50 MIN · 2 MODULES</a:t>
            </a:r>
            <a:endParaRPr lang="en-US" sz="800" noProof="1"/>
          </a:p>
        </p:txBody>
      </p:sp>
      <p:sp>
        <p:nvSpPr>
          <p:cNvPr id="15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04 / 24</a:t>
            </a:r>
            <a:endParaRPr lang="en-US" sz="80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mod"/>
          <p:cNvSpPr/>
          <p:nvPr/>
        </p:nvSpPr>
        <p:spPr>
          <a:xfrm>
            <a:off x="609600" y="431800"/>
            <a:ext cx="1854200" cy="2667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6B6D4"/>
            </a:solidFill>
          </a:ln>
        </p:spPr>
      </p:sp>
      <p:sp>
        <p:nvSpPr>
          <p:cNvPr id="3" name="pill-mod-text"/>
          <p:cNvSpPr txBox="1"/>
          <p:nvPr/>
        </p:nvSpPr>
        <p:spPr>
          <a:xfrm>
            <a:off x="609600" y="431800"/>
            <a:ext cx="18542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MODULE 1.1 · 25 MIN</a:t>
            </a:r>
            <a:endParaRPr lang="en-US" sz="820" noProof="1"/>
          </a:p>
        </p:txBody>
      </p:sp>
      <p:sp>
        <p:nvSpPr>
          <p:cNvPr id="4" name="block-label"/>
          <p:cNvSpPr txBox="1"/>
          <p:nvPr/>
        </p:nvSpPr>
        <p:spPr>
          <a:xfrm>
            <a:off x="2641600" y="4826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| PART 1 / BLOCK 02</a:t>
            </a:r>
            <a:endParaRPr lang="en-US" sz="82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762000"/>
            <a:ext cx="406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50" noProof="1" b="1">
                <a:solidFill>
                  <a:srgbClr val="FFFFFF"/>
                </a:solidFill>
                <a:latin typeface="Space Grotesk"/>
                <a:ea typeface="Space Grotesk"/>
              </a:rPr>
              <a:t>Chat to Data</a:t>
            </a:r>
            <a:endParaRPr lang="en-US" sz="2850" noProof="1"/>
          </a:p>
        </p:txBody>
      </p:sp>
      <p:sp>
        <p:nvSpPr>
          <p:cNvPr id="6" name="subtitle"/>
          <p:cNvSpPr txBox="1"/>
          <p:nvPr/>
        </p:nvSpPr>
        <p:spPr>
          <a:xfrm>
            <a:off x="609600" y="12573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เชื่อม Telegram Bot เข้ากับ Agent (picoclaw/thClaws) เพื่ออ่าน/คิวรีไฟล์ CSV-Excel โดยไม่ต้องเปิดไฟล์</a:t>
            </a:r>
            <a:endParaRPr lang="en-US" sz="1050" noProof="1"/>
          </a:p>
        </p:txBody>
      </p:sp>
      <p:sp>
        <p:nvSpPr>
          <p:cNvPr id="7" name="left-head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609600" y="17907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8" name="left-head"/>
          <p:cNvSpPr txBox="1"/>
          <p:nvPr/>
        </p:nvSpPr>
        <p:spPr>
          <a:xfrm>
            <a:off x="838200" y="17653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6B6D4"/>
                </a:solidFill>
                <a:latin typeface="Loma"/>
                <a:ea typeface="Loma"/>
              </a:rPr>
              <a:t>สิ่งที่ผู้เรียนทำ</a:t>
            </a:r>
            <a:endParaRPr lang="en-US" sz="1200" noProof="1"/>
          </a:p>
        </p:txBody>
      </p:sp>
      <p:sp>
        <p:nvSpPr>
          <p:cNvPr id="9" name="b1-dot"/>
          <p:cNvSpPr/>
          <p:nvPr/>
        </p:nvSpPr>
        <p:spPr>
          <a:xfrm>
            <a:off x="622300" y="2171700"/>
            <a:ext cx="63500" cy="635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b1"/>
          <p:cNvSpPr txBox="1"/>
          <p:nvPr/>
        </p:nvSpPr>
        <p:spPr>
          <a:xfrm>
            <a:off x="787400" y="20701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E2E8F0"/>
                </a:solidFill>
                <a:latin typeface="Loma"/>
                <a:ea typeface="Loma"/>
              </a:rPr>
              <a:t>ขอ Token จาก </a:t>
            </a:r>
            <a:r>
              <a:rPr lang="en-US" sz="1050" noProof="1">
                <a:solidFill>
                  <a:srgbClr val="06B6D4"/>
                </a:solidFill>
                <a:latin typeface="Loma"/>
                <a:ea typeface="Loma"/>
              </a:rPr>
              <a:t>@BotFather</a:t>
            </a:r>
            <a:r>
              <a:rPr lang="en-US" sz="1050" noProof="1">
                <a:solidFill>
                  <a:srgbClr val="E2E8F0"/>
                </a:solidFill>
                <a:latin typeface="Loma"/>
                <a:ea typeface="Loma"/>
              </a:rPr>
              <a:t> และเชื่อม Telegram Bot เข้า Agent runtime</a:t>
            </a:r>
            <a:endParaRPr lang="en-US" sz="1050" noProof="1"/>
          </a:p>
        </p:txBody>
      </p:sp>
      <p:sp>
        <p:nvSpPr>
          <p:cNvPr id="11" name="b2-dot"/>
          <p:cNvSpPr/>
          <p:nvPr/>
        </p:nvSpPr>
        <p:spPr>
          <a:xfrm>
            <a:off x="622300" y="2501900"/>
            <a:ext cx="63500" cy="635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2" name="b2"/>
          <p:cNvSpPr txBox="1"/>
          <p:nvPr/>
        </p:nvSpPr>
        <p:spPr>
          <a:xfrm>
            <a:off x="787400" y="24003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E2E8F0"/>
                </a:solidFill>
                <a:latin typeface="Loma"/>
                <a:ea typeface="Loma"/>
              </a:rPr>
              <a:t>อัปโหลดไฟล์ CSV (เช่น ยอดขายรายเดือน) เข้า context ของ Agent</a:t>
            </a:r>
            <a:endParaRPr lang="en-US" sz="1050" noProof="1"/>
          </a:p>
        </p:txBody>
      </p:sp>
      <p:sp>
        <p:nvSpPr>
          <p:cNvPr id="13" name="b3-dot"/>
          <p:cNvSpPr/>
          <p:nvPr/>
        </p:nvSpPr>
        <p:spPr>
          <a:xfrm>
            <a:off x="622300" y="2819400"/>
            <a:ext cx="63500" cy="635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4" name="b3"/>
          <p:cNvSpPr txBox="1"/>
          <p:nvPr/>
        </p:nvSpPr>
        <p:spPr>
          <a:xfrm>
            <a:off x="787400" y="2717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E2E8F0"/>
                </a:solidFill>
                <a:latin typeface="Loma"/>
                <a:ea typeface="Loma"/>
              </a:rPr>
              <a:t>ส่งคำถามภาษาธรรมชาติใน Telegram เช่น </a:t>
            </a:r>
            <a:r>
              <a:rPr lang="en-US" sz="1050" noProof="1">
                <a:solidFill>
                  <a:srgbClr val="A78BFA"/>
                </a:solidFill>
                <a:latin typeface="Loma"/>
                <a:ea typeface="Loma"/>
              </a:rPr>
              <a:t>'ยอดขายเดือนที่แล้วเท่าไหร่?'</a:t>
            </a:r>
            <a:endParaRPr lang="en-US" sz="1050" noProof="1"/>
          </a:p>
        </p:txBody>
      </p:sp>
      <p:sp>
        <p:nvSpPr>
          <p:cNvPr id="15" name="b4-dot"/>
          <p:cNvSpPr/>
          <p:nvPr/>
        </p:nvSpPr>
        <p:spPr>
          <a:xfrm>
            <a:off x="622300" y="3149600"/>
            <a:ext cx="63500" cy="635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6" name="b4"/>
          <p:cNvSpPr txBox="1"/>
          <p:nvPr/>
        </p:nvSpPr>
        <p:spPr>
          <a:xfrm>
            <a:off x="787400" y="3048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E2E8F0"/>
                </a:solidFill>
                <a:latin typeface="Loma"/>
                <a:ea typeface="Loma"/>
              </a:rPr>
              <a:t>Agent คิวรีไฟล์และตอบกลับในแชต — ไม่ต้องเปิด Excel</a:t>
            </a:r>
            <a:endParaRPr lang="en-US" sz="1050" noProof="1"/>
          </a:p>
        </p:txBody>
      </p:sp>
      <p:sp>
        <p:nvSpPr>
          <p:cNvPr id="17" name="result-bg"/>
          <p:cNvSpPr/>
          <p:nvPr/>
        </p:nvSpPr>
        <p:spPr>
          <a:xfrm>
            <a:off x="609600" y="5334000"/>
            <a:ext cx="4572000" cy="762000"/>
          </a:xfrm>
          <a:prstGeom prst="roundRect">
            <a:avLst>
              <a:gd name="adj" fmla="val 14000"/>
            </a:avLst>
          </a:prstGeom>
          <a:solidFill>
            <a:srgbClr val="1A1733">
              <a:alpha val="80000"/>
            </a:srgbClr>
          </a:solidFill>
          <a:ln w="12700">
            <a:solidFill>
              <a:srgbClr val="7C3AED">
                <a:alpha val="40000"/>
              </a:srgbClr>
            </a:solidFill>
          </a:ln>
        </p:spPr>
      </p:sp>
      <p:sp>
        <p:nvSpPr>
          <p:cNvPr id="18" name="result-bar"/>
          <p:cNvSpPr/>
          <p:nvPr/>
        </p:nvSpPr>
        <p:spPr>
          <a:xfrm>
            <a:off x="609600" y="5334000"/>
            <a:ext cx="38100" cy="76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result-icon"/>
          <p:cNvSpPr/>
          <p:nvPr>
            <p:extLst>
              <p:ext uri="{F5677B7D-0D2A-4D9B-9A5C-6D8D7D0E5A5D}">
                <pptd:icon encoding="base64url">eyJpY29uTmFtZSI6ImZhczp3YW5kLW1hZ2ljLXNwYXJrbGVzIn0</pptd:icon>
              </p:ext>
            </p:extLst>
          </p:nvPr>
        </p:nvSpPr>
        <p:spPr>
          <a:xfrm>
            <a:off x="787400" y="5499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0" name="result-label"/>
          <p:cNvSpPr txBox="1"/>
          <p:nvPr/>
        </p:nvSpPr>
        <p:spPr>
          <a:xfrm>
            <a:off x="1041400" y="5461000"/>
            <a:ext cx="76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A78BFA"/>
                </a:solidFill>
                <a:latin typeface="Loma"/>
                <a:ea typeface="Loma"/>
              </a:rPr>
              <a:t>ผลลัพธ์</a:t>
            </a:r>
            <a:endParaRPr lang="en-US" sz="750" noProof="1"/>
          </a:p>
        </p:txBody>
      </p:sp>
      <p:sp>
        <p:nvSpPr>
          <p:cNvPr id="21" name="result-text"/>
          <p:cNvSpPr txBox="1"/>
          <p:nvPr/>
        </p:nvSpPr>
        <p:spPr>
          <a:xfrm>
            <a:off x="1041400" y="56515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F1F5F9"/>
                </a:solidFill>
                <a:latin typeface="Loma"/>
                <a:ea typeface="Loma"/>
              </a:rPr>
              <a:t>ผู้เรียนเห็นคำตอบปรากฏในแชต Telegram ของตัวเองภายในไม่กี่วินาที</a:t>
            </a:r>
            <a:endParaRPr lang="en-US" sz="1010" noProof="1"/>
          </a:p>
        </p:txBody>
      </p:sp>
      <p:sp>
        <p:nvSpPr>
          <p:cNvPr id="22" name="flow-icon"/>
          <p:cNvSpPr/>
          <p:nvPr>
            <p:extLst>
              <p:ext uri="{F5677B7D-0D2A-4D9B-9A5C-6D8D7D0E5A5D}">
                <pptd:icon encoding="base64url">eyJpY29uTmFtZSI6ImZhczpzaXRlbWFwIn0</pptd:icon>
              </p:ext>
            </p:extLst>
          </p:nvPr>
        </p:nvSpPr>
        <p:spPr>
          <a:xfrm>
            <a:off x="6248400" y="1803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2" y="64"/>
                </a:moveTo>
                <a:cubicBezTo>
                  <a:pt x="192" y="46"/>
                  <a:pt x="206" y="32"/>
                  <a:pt x="224" y="32"/>
                </a:cubicBezTo>
                <a:lnTo>
                  <a:pt x="288" y="32"/>
                </a:lnTo>
                <a:cubicBezTo>
                  <a:pt x="306" y="32"/>
                  <a:pt x="320" y="46"/>
                  <a:pt x="320" y="64"/>
                </a:cubicBezTo>
                <a:lnTo>
                  <a:pt x="320" y="128"/>
                </a:lnTo>
                <a:cubicBezTo>
                  <a:pt x="320" y="146"/>
                  <a:pt x="306" y="160"/>
                  <a:pt x="288" y="160"/>
                </a:cubicBezTo>
                <a:lnTo>
                  <a:pt x="280" y="160"/>
                </a:lnTo>
                <a:lnTo>
                  <a:pt x="280" y="224"/>
                </a:lnTo>
                <a:lnTo>
                  <a:pt x="400" y="224"/>
                </a:lnTo>
                <a:cubicBezTo>
                  <a:pt x="440" y="224"/>
                  <a:pt x="472" y="256"/>
                  <a:pt x="472" y="296"/>
                </a:cubicBezTo>
                <a:lnTo>
                  <a:pt x="472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lnTo>
                  <a:pt x="512" y="448"/>
                </a:lnTo>
                <a:cubicBezTo>
                  <a:pt x="512" y="466"/>
                  <a:pt x="498" y="480"/>
                  <a:pt x="480" y="480"/>
                </a:cubicBezTo>
                <a:lnTo>
                  <a:pt x="416" y="480"/>
                </a:lnTo>
                <a:cubicBezTo>
                  <a:pt x="398" y="480"/>
                  <a:pt x="384" y="466"/>
                  <a:pt x="384" y="448"/>
                </a:cubicBezTo>
                <a:lnTo>
                  <a:pt x="384" y="384"/>
                </a:lnTo>
                <a:cubicBezTo>
                  <a:pt x="384" y="366"/>
                  <a:pt x="398" y="352"/>
                  <a:pt x="416" y="352"/>
                </a:cubicBezTo>
                <a:lnTo>
                  <a:pt x="424" y="352"/>
                </a:lnTo>
                <a:lnTo>
                  <a:pt x="424" y="296"/>
                </a:lnTo>
                <a:cubicBezTo>
                  <a:pt x="424" y="283"/>
                  <a:pt x="413" y="272"/>
                  <a:pt x="400" y="272"/>
                </a:cubicBezTo>
                <a:lnTo>
                  <a:pt x="280" y="272"/>
                </a:lnTo>
                <a:lnTo>
                  <a:pt x="280" y="352"/>
                </a:lnTo>
                <a:lnTo>
                  <a:pt x="288" y="352"/>
                </a:lnTo>
                <a:cubicBezTo>
                  <a:pt x="306" y="352"/>
                  <a:pt x="320" y="366"/>
                  <a:pt x="320" y="384"/>
                </a:cubicBezTo>
                <a:lnTo>
                  <a:pt x="320" y="448"/>
                </a:lnTo>
                <a:cubicBezTo>
                  <a:pt x="320" y="466"/>
                  <a:pt x="306" y="480"/>
                  <a:pt x="288" y="480"/>
                </a:cubicBezTo>
                <a:lnTo>
                  <a:pt x="224" y="480"/>
                </a:lnTo>
                <a:cubicBezTo>
                  <a:pt x="206" y="480"/>
                  <a:pt x="192" y="466"/>
                  <a:pt x="192" y="448"/>
                </a:cubicBezTo>
                <a:lnTo>
                  <a:pt x="192" y="384"/>
                </a:lnTo>
                <a:cubicBezTo>
                  <a:pt x="192" y="366"/>
                  <a:pt x="206" y="352"/>
                  <a:pt x="224" y="352"/>
                </a:cubicBezTo>
                <a:lnTo>
                  <a:pt x="232" y="352"/>
                </a:lnTo>
                <a:lnTo>
                  <a:pt x="232" y="272"/>
                </a:lnTo>
                <a:lnTo>
                  <a:pt x="112" y="272"/>
                </a:lnTo>
                <a:cubicBezTo>
                  <a:pt x="99" y="272"/>
                  <a:pt x="88" y="283"/>
                  <a:pt x="88" y="296"/>
                </a:cubicBezTo>
                <a:lnTo>
                  <a:pt x="88" y="352"/>
                </a:lnTo>
                <a:lnTo>
                  <a:pt x="96" y="352"/>
                </a:lnTo>
                <a:cubicBezTo>
                  <a:pt x="114" y="352"/>
                  <a:pt x="128" y="366"/>
                  <a:pt x="128" y="384"/>
                </a:cubicBezTo>
                <a:lnTo>
                  <a:pt x="128" y="448"/>
                </a:lnTo>
                <a:cubicBezTo>
                  <a:pt x="128" y="466"/>
                  <a:pt x="114" y="480"/>
                  <a:pt x="96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384"/>
                </a:lnTo>
                <a:cubicBezTo>
                  <a:pt x="0" y="366"/>
                  <a:pt x="14" y="352"/>
                  <a:pt x="32" y="352"/>
                </a:cubicBezTo>
                <a:lnTo>
                  <a:pt x="40" y="352"/>
                </a:lnTo>
                <a:lnTo>
                  <a:pt x="40" y="296"/>
                </a:lnTo>
                <a:cubicBezTo>
                  <a:pt x="40" y="256"/>
                  <a:pt x="72" y="224"/>
                  <a:pt x="112" y="224"/>
                </a:cubicBezTo>
                <a:lnTo>
                  <a:pt x="232" y="224"/>
                </a:lnTo>
                <a:lnTo>
                  <a:pt x="232" y="160"/>
                </a:lnTo>
                <a:lnTo>
                  <a:pt x="224" y="160"/>
                </a:lnTo>
                <a:cubicBezTo>
                  <a:pt x="206" y="160"/>
                  <a:pt x="192" y="146"/>
                  <a:pt x="192" y="128"/>
                </a:cubicBezTo>
                <a:lnTo>
                  <a:pt x="192" y="6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23" name="flow-label"/>
          <p:cNvSpPr txBox="1"/>
          <p:nvPr/>
        </p:nvSpPr>
        <p:spPr>
          <a:xfrm>
            <a:off x="6477000" y="17780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100" kern="0">
                <a:solidFill>
                  <a:srgbClr val="06B6D4"/>
                </a:solidFill>
                <a:latin typeface="JetBrains Mono"/>
                <a:ea typeface="JetBrains Mono"/>
              </a:rPr>
              <a:t>FLOW · SINGLE HTTP ROUND-TRIP</a:t>
            </a:r>
            <a:endParaRPr lang="en-US" sz="1200" noProof="1"/>
          </a:p>
        </p:txBody>
      </p:sp>
      <p:sp>
        <p:nvSpPr>
          <p:cNvPr id="24" name="s1-bg"/>
          <p:cNvSpPr/>
          <p:nvPr/>
        </p:nvSpPr>
        <p:spPr>
          <a:xfrm>
            <a:off x="6248400" y="2095500"/>
            <a:ext cx="5334000" cy="673100"/>
          </a:xfrm>
          <a:prstGeom prst="roundRect">
            <a:avLst>
              <a:gd name="adj" fmla="val 14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25" name="s1-tile"/>
          <p:cNvSpPr/>
          <p:nvPr/>
        </p:nvSpPr>
        <p:spPr>
          <a:xfrm>
            <a:off x="6400800" y="2260600"/>
            <a:ext cx="342900" cy="342900"/>
          </a:xfrm>
          <a:prstGeom prst="roundRect">
            <a:avLst>
              <a:gd name="adj" fmla="val 22000"/>
            </a:avLst>
          </a:prstGeom>
          <a:solidFill>
            <a:srgbClr val="06B6D4">
              <a:alpha val="14902"/>
            </a:srgbClr>
          </a:solidFill>
          <a:ln>
            <a:noFill/>
          </a:ln>
        </p:spPr>
      </p:sp>
      <p:sp>
        <p:nvSpPr>
          <p:cNvPr id="26" name="s1-icon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6477000" y="2336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27" name="s1-step"/>
          <p:cNvSpPr txBox="1"/>
          <p:nvPr/>
        </p:nvSpPr>
        <p:spPr>
          <a:xfrm>
            <a:off x="6908800" y="22479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00" kern="0">
                <a:solidFill>
                  <a:srgbClr val="06B6D4"/>
                </a:solidFill>
                <a:latin typeface="JetBrains Mono"/>
                <a:ea typeface="JetBrains Mono"/>
              </a:rPr>
              <a:t>STEP 01</a:t>
            </a:r>
            <a:endParaRPr lang="en-US" sz="750" noProof="1"/>
          </a:p>
        </p:txBody>
      </p:sp>
      <p:sp>
        <p:nvSpPr>
          <p:cNvPr id="28" name="s1-title"/>
          <p:cNvSpPr txBox="1"/>
          <p:nvPr/>
        </p:nvSpPr>
        <p:spPr>
          <a:xfrm>
            <a:off x="6908800" y="24257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Space Grotesk"/>
                <a:ea typeface="Space Grotesk"/>
              </a:rPr>
              <a:t>User sends message in Telegram</a:t>
            </a:r>
            <a:endParaRPr lang="en-US" sz="1050" noProof="1"/>
          </a:p>
        </p:txBody>
      </p:sp>
      <p:sp>
        <p:nvSpPr>
          <p:cNvPr id="29" name="arrow1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8839200" y="2832100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</p:sp>
      <p:sp>
        <p:nvSpPr>
          <p:cNvPr id="30" name="s2-bg"/>
          <p:cNvSpPr/>
          <p:nvPr/>
        </p:nvSpPr>
        <p:spPr>
          <a:xfrm>
            <a:off x="6248400" y="3086100"/>
            <a:ext cx="5334000" cy="673100"/>
          </a:xfrm>
          <a:prstGeom prst="roundRect">
            <a:avLst>
              <a:gd name="adj" fmla="val 14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31" name="s2-tile"/>
          <p:cNvSpPr/>
          <p:nvPr/>
        </p:nvSpPr>
        <p:spPr>
          <a:xfrm>
            <a:off x="6400800" y="3251200"/>
            <a:ext cx="342900" cy="342900"/>
          </a:xfrm>
          <a:prstGeom prst="roundRect">
            <a:avLst>
              <a:gd name="adj" fmla="val 22000"/>
            </a:avLst>
          </a:prstGeom>
          <a:solidFill>
            <a:srgbClr val="7C3AED">
              <a:alpha val="14902"/>
            </a:srgbClr>
          </a:solidFill>
          <a:ln>
            <a:noFill/>
          </a:ln>
        </p:spPr>
      </p:sp>
      <p:sp>
        <p:nvSpPr>
          <p:cNvPr id="32" name="s2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6477000" y="3327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33" name="s2-step"/>
          <p:cNvSpPr txBox="1"/>
          <p:nvPr/>
        </p:nvSpPr>
        <p:spPr>
          <a:xfrm>
            <a:off x="6908800" y="32385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00" kern="0">
                <a:solidFill>
                  <a:srgbClr val="A78BFA"/>
                </a:solidFill>
                <a:latin typeface="JetBrains Mono"/>
                <a:ea typeface="JetBrains Mono"/>
              </a:rPr>
              <a:t>STEP 02</a:t>
            </a:r>
            <a:endParaRPr lang="en-US" sz="750" noProof="1"/>
          </a:p>
        </p:txBody>
      </p:sp>
      <p:sp>
        <p:nvSpPr>
          <p:cNvPr id="34" name="s2-title"/>
          <p:cNvSpPr txBox="1"/>
          <p:nvPr/>
        </p:nvSpPr>
        <p:spPr>
          <a:xfrm>
            <a:off x="6908800" y="3416300"/>
            <a:ext cx="4445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Space Grotesk"/>
                <a:ea typeface="Space Grotesk"/>
              </a:rPr>
              <a:t>Agent (picoclaw/thClaws) parses + queries CSV/Excel</a:t>
            </a:r>
            <a:endParaRPr lang="en-US" sz="1050" noProof="1"/>
          </a:p>
        </p:txBody>
      </p:sp>
      <p:sp>
        <p:nvSpPr>
          <p:cNvPr id="35" name="arrow2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8839200" y="3822700"/>
            <a:ext cx="1524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</p:sp>
      <p:sp>
        <p:nvSpPr>
          <p:cNvPr id="36" name="s3-bg"/>
          <p:cNvSpPr/>
          <p:nvPr/>
        </p:nvSpPr>
        <p:spPr>
          <a:xfrm>
            <a:off x="6248400" y="4076700"/>
            <a:ext cx="5334000" cy="673100"/>
          </a:xfrm>
          <a:prstGeom prst="roundRect">
            <a:avLst>
              <a:gd name="adj" fmla="val 14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FBBF24">
                <a:alpha val="50196"/>
              </a:srgbClr>
            </a:solidFill>
          </a:ln>
        </p:spPr>
      </p:sp>
      <p:sp>
        <p:nvSpPr>
          <p:cNvPr id="37" name="s3-tile"/>
          <p:cNvSpPr/>
          <p:nvPr/>
        </p:nvSpPr>
        <p:spPr>
          <a:xfrm>
            <a:off x="6400800" y="4241800"/>
            <a:ext cx="342900" cy="342900"/>
          </a:xfrm>
          <a:prstGeom prst="roundRect">
            <a:avLst>
              <a:gd name="adj" fmla="val 22000"/>
            </a:avLst>
          </a:prstGeom>
          <a:solidFill>
            <a:srgbClr val="FBBF24">
              <a:alpha val="14902"/>
            </a:srgbClr>
          </a:solidFill>
          <a:ln>
            <a:noFill/>
          </a:ln>
        </p:spPr>
      </p:sp>
      <p:sp>
        <p:nvSpPr>
          <p:cNvPr id="38" name="s3-icon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6477000" y="4318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9" name="s3-step"/>
          <p:cNvSpPr txBox="1"/>
          <p:nvPr/>
        </p:nvSpPr>
        <p:spPr>
          <a:xfrm>
            <a:off x="6908800" y="4229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00" kern="0">
                <a:solidFill>
                  <a:srgbClr val="FBBF24"/>
                </a:solidFill>
                <a:latin typeface="JetBrains Mono"/>
                <a:ea typeface="JetBrains Mono"/>
              </a:rPr>
              <a:t>STEP 03</a:t>
            </a:r>
            <a:endParaRPr lang="en-US" sz="750" noProof="1"/>
          </a:p>
        </p:txBody>
      </p:sp>
      <p:sp>
        <p:nvSpPr>
          <p:cNvPr id="40" name="s3-title"/>
          <p:cNvSpPr txBox="1"/>
          <p:nvPr/>
        </p:nvSpPr>
        <p:spPr>
          <a:xfrm>
            <a:off x="6908800" y="4406900"/>
            <a:ext cx="4318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Space Grotesk"/>
                <a:ea typeface="Space Grotesk"/>
              </a:rPr>
              <a:t>Reply appears in Telegram chat</a:t>
            </a:r>
            <a:endParaRPr lang="en-US" sz="1050" noProof="1"/>
          </a:p>
        </p:txBody>
      </p:sp>
      <p:sp>
        <p:nvSpPr>
          <p:cNvPr id="41" name="flow-caption"/>
          <p:cNvSpPr txBox="1"/>
          <p:nvPr/>
        </p:nvSpPr>
        <p:spPr>
          <a:xfrm>
            <a:off x="7620000" y="48514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64748B"/>
                </a:solidFill>
                <a:latin typeface="Loma"/>
                <a:ea typeface="Loma"/>
              </a:rPr>
              <a:t>ทุกขั้นตอนจบใน HTTP round-trip เดียว</a:t>
            </a:r>
            <a:endParaRPr lang="en-US" sz="820" noProof="1"/>
          </a:p>
        </p:txBody>
      </p:sp>
      <p:sp>
        <p:nvSpPr>
          <p:cNvPr id="42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05 / 24</a:t>
            </a:r>
            <a:endParaRPr lang="en-US" sz="800" noProof="1"/>
          </a:p>
        </p:txBody>
      </p:sp>
      <p:sp>
        <p:nvSpPr>
          <p:cNvPr id="43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mod"/>
          <p:cNvSpPr/>
          <p:nvPr/>
        </p:nvSpPr>
        <p:spPr>
          <a:xfrm>
            <a:off x="609600" y="431800"/>
            <a:ext cx="1854200" cy="2667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C3AED"/>
            </a:solidFill>
          </a:ln>
        </p:spPr>
      </p:sp>
      <p:sp>
        <p:nvSpPr>
          <p:cNvPr id="3" name="pill-mod-text"/>
          <p:cNvSpPr txBox="1"/>
          <p:nvPr/>
        </p:nvSpPr>
        <p:spPr>
          <a:xfrm>
            <a:off x="609600" y="431800"/>
            <a:ext cx="18542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 spc="250" kern="0">
                <a:solidFill>
                  <a:srgbClr val="7C3AED"/>
                </a:solidFill>
                <a:latin typeface="JetBrains Mono"/>
                <a:ea typeface="JetBrains Mono"/>
              </a:rPr>
              <a:t>MODULE 1.2 · 25 MIN</a:t>
            </a:r>
            <a:endParaRPr lang="en-US" sz="820" noProof="1"/>
          </a:p>
        </p:txBody>
      </p:sp>
      <p:sp>
        <p:nvSpPr>
          <p:cNvPr id="4" name="block-label"/>
          <p:cNvSpPr txBox="1"/>
          <p:nvPr/>
        </p:nvSpPr>
        <p:spPr>
          <a:xfrm>
            <a:off x="2641600" y="4826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| PART 1 / BLOCK 03</a:t>
            </a:r>
            <a:endParaRPr lang="en-US" sz="82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762000"/>
            <a:ext cx="431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50" noProof="1" b="1">
                <a:solidFill>
                  <a:srgbClr val="FFFFFF"/>
                </a:solidFill>
                <a:latin typeface="Space Grotesk"/>
                <a:ea typeface="Space Grotesk"/>
              </a:rPr>
              <a:t>Chat to ERP </a:t>
            </a:r>
            <a:r>
              <a:rPr lang="en-US" sz="1700" noProof="1" b="1">
                <a:solidFill>
                  <a:srgbClr val="64748B"/>
                </a:solidFill>
                <a:latin typeface="Space Grotesk"/>
                <a:ea typeface="Space Grotesk"/>
              </a:rPr>
              <a:t>via MCP</a:t>
            </a:r>
            <a:endParaRPr lang="en-US" sz="2850" noProof="1"/>
          </a:p>
        </p:txBody>
      </p:sp>
      <p:sp>
        <p:nvSpPr>
          <p:cNvPr id="6" name="subtitle"/>
          <p:cNvSpPr txBox="1"/>
          <p:nvPr/>
        </p:nvSpPr>
        <p:spPr>
          <a:xfrm>
            <a:off x="609600" y="12573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ต่อ MCP Server เข้า ERPNext API เพื่อสั่งคิวรีและทำรายการผ่าน Telegram แทน Web App</a:t>
            </a:r>
            <a:endParaRPr lang="en-US" sz="1050" noProof="1"/>
          </a:p>
        </p:txBody>
      </p:sp>
      <p:sp>
        <p:nvSpPr>
          <p:cNvPr id="7" name="proto-icon"/>
          <p:cNvSpPr/>
          <p:nvPr>
            <p:extLst>
              <p:ext uri="{F5677B7D-0D2A-4D9B-9A5C-6D8D7D0E5A5D}">
                <pptd:icon encoding="base64url">eyJpY29uTmFtZSI6ImZhczpwdXp6bGUtcGllY2UifQ</pptd:icon>
              </p:ext>
            </p:extLst>
          </p:nvPr>
        </p:nvSpPr>
        <p:spPr>
          <a:xfrm>
            <a:off x="10261600" y="133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cubicBezTo>
                  <a:pt x="259" y="0"/>
                  <a:pt x="288" y="22"/>
                  <a:pt x="288" y="48"/>
                </a:cubicBezTo>
                <a:cubicBezTo>
                  <a:pt x="288" y="58"/>
                  <a:pt x="284" y="68"/>
                  <a:pt x="276" y="76"/>
                </a:cubicBezTo>
                <a:cubicBezTo>
                  <a:pt x="269" y="83"/>
                  <a:pt x="264" y="91"/>
                  <a:pt x="264" y="101"/>
                </a:cubicBezTo>
                <a:cubicBezTo>
                  <a:pt x="264" y="116"/>
                  <a:pt x="276" y="128"/>
                  <a:pt x="291" y="128"/>
                </a:cubicBezTo>
                <a:lnTo>
                  <a:pt x="336" y="128"/>
                </a:lnTo>
                <a:cubicBezTo>
                  <a:pt x="363" y="128"/>
                  <a:pt x="384" y="150"/>
                  <a:pt x="384" y="176"/>
                </a:cubicBezTo>
                <a:lnTo>
                  <a:pt x="384" y="221"/>
                </a:lnTo>
                <a:cubicBezTo>
                  <a:pt x="384" y="236"/>
                  <a:pt x="396" y="248"/>
                  <a:pt x="411" y="248"/>
                </a:cubicBezTo>
                <a:cubicBezTo>
                  <a:pt x="421" y="248"/>
                  <a:pt x="429" y="243"/>
                  <a:pt x="436" y="236"/>
                </a:cubicBezTo>
                <a:cubicBezTo>
                  <a:pt x="444" y="229"/>
                  <a:pt x="454" y="224"/>
                  <a:pt x="464" y="224"/>
                </a:cubicBezTo>
                <a:cubicBezTo>
                  <a:pt x="490" y="224"/>
                  <a:pt x="512" y="253"/>
                  <a:pt x="512" y="288"/>
                </a:cubicBezTo>
                <a:cubicBezTo>
                  <a:pt x="512" y="323"/>
                  <a:pt x="490" y="352"/>
                  <a:pt x="464" y="352"/>
                </a:cubicBezTo>
                <a:cubicBezTo>
                  <a:pt x="454" y="352"/>
                  <a:pt x="444" y="348"/>
                  <a:pt x="436" y="340"/>
                </a:cubicBezTo>
                <a:cubicBezTo>
                  <a:pt x="429" y="333"/>
                  <a:pt x="421" y="328"/>
                  <a:pt x="411" y="328"/>
                </a:cubicBezTo>
                <a:cubicBezTo>
                  <a:pt x="396" y="328"/>
                  <a:pt x="384" y="340"/>
                  <a:pt x="384" y="355"/>
                </a:cubicBezTo>
                <a:lnTo>
                  <a:pt x="384" y="464"/>
                </a:lnTo>
                <a:cubicBezTo>
                  <a:pt x="384" y="491"/>
                  <a:pt x="363" y="512"/>
                  <a:pt x="336" y="512"/>
                </a:cubicBezTo>
                <a:lnTo>
                  <a:pt x="279" y="512"/>
                </a:lnTo>
                <a:cubicBezTo>
                  <a:pt x="266" y="512"/>
                  <a:pt x="256" y="502"/>
                  <a:pt x="256" y="489"/>
                </a:cubicBezTo>
                <a:cubicBezTo>
                  <a:pt x="256" y="480"/>
                  <a:pt x="262" y="472"/>
                  <a:pt x="269" y="466"/>
                </a:cubicBezTo>
                <a:cubicBezTo>
                  <a:pt x="281" y="457"/>
                  <a:pt x="288" y="445"/>
                  <a:pt x="288" y="432"/>
                </a:cubicBezTo>
                <a:cubicBezTo>
                  <a:pt x="288" y="406"/>
                  <a:pt x="259" y="384"/>
                  <a:pt x="224" y="384"/>
                </a:cubicBezTo>
                <a:cubicBezTo>
                  <a:pt x="189" y="384"/>
                  <a:pt x="160" y="406"/>
                  <a:pt x="160" y="432"/>
                </a:cubicBezTo>
                <a:cubicBezTo>
                  <a:pt x="160" y="445"/>
                  <a:pt x="167" y="457"/>
                  <a:pt x="179" y="466"/>
                </a:cubicBezTo>
                <a:cubicBezTo>
                  <a:pt x="186" y="472"/>
                  <a:pt x="192" y="480"/>
                  <a:pt x="192" y="489"/>
                </a:cubicBezTo>
                <a:cubicBezTo>
                  <a:pt x="192" y="502"/>
                  <a:pt x="182" y="512"/>
                  <a:pt x="169" y="512"/>
                </a:cubicBezTo>
                <a:lnTo>
                  <a:pt x="48" y="512"/>
                </a:lnTo>
                <a:cubicBezTo>
                  <a:pt x="22" y="512"/>
                  <a:pt x="0" y="491"/>
                  <a:pt x="0" y="464"/>
                </a:cubicBezTo>
                <a:lnTo>
                  <a:pt x="0" y="343"/>
                </a:lnTo>
                <a:cubicBezTo>
                  <a:pt x="0" y="330"/>
                  <a:pt x="10" y="320"/>
                  <a:pt x="23" y="320"/>
                </a:cubicBezTo>
                <a:cubicBezTo>
                  <a:pt x="32" y="320"/>
                  <a:pt x="41" y="326"/>
                  <a:pt x="46" y="333"/>
                </a:cubicBezTo>
                <a:cubicBezTo>
                  <a:pt x="55" y="345"/>
                  <a:pt x="67" y="352"/>
                  <a:pt x="80" y="352"/>
                </a:cubicBezTo>
                <a:cubicBezTo>
                  <a:pt x="107" y="352"/>
                  <a:pt x="128" y="323"/>
                  <a:pt x="128" y="288"/>
                </a:cubicBezTo>
                <a:cubicBezTo>
                  <a:pt x="128" y="253"/>
                  <a:pt x="107" y="224"/>
                  <a:pt x="80" y="224"/>
                </a:cubicBezTo>
                <a:cubicBezTo>
                  <a:pt x="67" y="224"/>
                  <a:pt x="55" y="231"/>
                  <a:pt x="46" y="243"/>
                </a:cubicBezTo>
                <a:cubicBezTo>
                  <a:pt x="41" y="250"/>
                  <a:pt x="33" y="256"/>
                  <a:pt x="23" y="256"/>
                </a:cubicBezTo>
                <a:cubicBezTo>
                  <a:pt x="10" y="256"/>
                  <a:pt x="0" y="246"/>
                  <a:pt x="0" y="233"/>
                </a:cubicBezTo>
                <a:lnTo>
                  <a:pt x="0" y="176"/>
                </a:lnTo>
                <a:cubicBezTo>
                  <a:pt x="0" y="150"/>
                  <a:pt x="22" y="128"/>
                  <a:pt x="48" y="128"/>
                </a:cubicBezTo>
                <a:lnTo>
                  <a:pt x="157" y="128"/>
                </a:lnTo>
                <a:cubicBezTo>
                  <a:pt x="172" y="128"/>
                  <a:pt x="184" y="116"/>
                  <a:pt x="184" y="101"/>
                </a:cubicBezTo>
                <a:cubicBezTo>
                  <a:pt x="184" y="91"/>
                  <a:pt x="179" y="83"/>
                  <a:pt x="172" y="76"/>
                </a:cubicBezTo>
                <a:cubicBezTo>
                  <a:pt x="165" y="68"/>
                  <a:pt x="160" y="58"/>
                  <a:pt x="160" y="48"/>
                </a:cubicBezTo>
                <a:cubicBezTo>
                  <a:pt x="160" y="22"/>
                  <a:pt x="189" y="0"/>
                  <a:pt x="224" y="0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8" name="proto-label"/>
          <p:cNvSpPr txBox="1"/>
          <p:nvPr/>
        </p:nvSpPr>
        <p:spPr>
          <a:xfrm>
            <a:off x="10464800" y="13208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PROTOCOL LAYER</a:t>
            </a:r>
            <a:endParaRPr lang="en-US" sz="1050" noProof="1"/>
          </a:p>
        </p:txBody>
      </p:sp>
      <p:sp>
        <p:nvSpPr>
          <p:cNvPr id="9" name="mcp-bg"/>
          <p:cNvSpPr/>
          <p:nvPr/>
        </p:nvSpPr>
        <p:spPr>
          <a:xfrm>
            <a:off x="609600" y="1778000"/>
            <a:ext cx="6350000" cy="1714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0" name="mcp-icon"/>
          <p:cNvSpPr/>
          <p:nvPr>
            <p:extLst>
              <p:ext uri="{F5677B7D-0D2A-4D9B-9A5C-6D8D7D0E5A5D}">
                <pptd:icon encoding="base64url">eyJpY29uTmFtZSI6ImZhczpwdXp6bGUtcGllY2UifQ</pptd:icon>
              </p:ext>
            </p:extLst>
          </p:nvPr>
        </p:nvSpPr>
        <p:spPr>
          <a:xfrm>
            <a:off x="787400" y="1943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cubicBezTo>
                  <a:pt x="259" y="0"/>
                  <a:pt x="288" y="22"/>
                  <a:pt x="288" y="48"/>
                </a:cubicBezTo>
                <a:cubicBezTo>
                  <a:pt x="288" y="58"/>
                  <a:pt x="284" y="68"/>
                  <a:pt x="276" y="76"/>
                </a:cubicBezTo>
                <a:cubicBezTo>
                  <a:pt x="269" y="83"/>
                  <a:pt x="264" y="91"/>
                  <a:pt x="264" y="101"/>
                </a:cubicBezTo>
                <a:cubicBezTo>
                  <a:pt x="264" y="116"/>
                  <a:pt x="276" y="128"/>
                  <a:pt x="291" y="128"/>
                </a:cubicBezTo>
                <a:lnTo>
                  <a:pt x="336" y="128"/>
                </a:lnTo>
                <a:cubicBezTo>
                  <a:pt x="363" y="128"/>
                  <a:pt x="384" y="150"/>
                  <a:pt x="384" y="176"/>
                </a:cubicBezTo>
                <a:lnTo>
                  <a:pt x="384" y="221"/>
                </a:lnTo>
                <a:cubicBezTo>
                  <a:pt x="384" y="236"/>
                  <a:pt x="396" y="248"/>
                  <a:pt x="411" y="248"/>
                </a:cubicBezTo>
                <a:cubicBezTo>
                  <a:pt x="421" y="248"/>
                  <a:pt x="429" y="243"/>
                  <a:pt x="436" y="236"/>
                </a:cubicBezTo>
                <a:cubicBezTo>
                  <a:pt x="444" y="229"/>
                  <a:pt x="454" y="224"/>
                  <a:pt x="464" y="224"/>
                </a:cubicBezTo>
                <a:cubicBezTo>
                  <a:pt x="490" y="224"/>
                  <a:pt x="512" y="253"/>
                  <a:pt x="512" y="288"/>
                </a:cubicBezTo>
                <a:cubicBezTo>
                  <a:pt x="512" y="323"/>
                  <a:pt x="490" y="352"/>
                  <a:pt x="464" y="352"/>
                </a:cubicBezTo>
                <a:cubicBezTo>
                  <a:pt x="454" y="352"/>
                  <a:pt x="444" y="348"/>
                  <a:pt x="436" y="340"/>
                </a:cubicBezTo>
                <a:cubicBezTo>
                  <a:pt x="429" y="333"/>
                  <a:pt x="421" y="328"/>
                  <a:pt x="411" y="328"/>
                </a:cubicBezTo>
                <a:cubicBezTo>
                  <a:pt x="396" y="328"/>
                  <a:pt x="384" y="340"/>
                  <a:pt x="384" y="355"/>
                </a:cubicBezTo>
                <a:lnTo>
                  <a:pt x="384" y="464"/>
                </a:lnTo>
                <a:cubicBezTo>
                  <a:pt x="384" y="491"/>
                  <a:pt x="363" y="512"/>
                  <a:pt x="336" y="512"/>
                </a:cubicBezTo>
                <a:lnTo>
                  <a:pt x="279" y="512"/>
                </a:lnTo>
                <a:cubicBezTo>
                  <a:pt x="266" y="512"/>
                  <a:pt x="256" y="502"/>
                  <a:pt x="256" y="489"/>
                </a:cubicBezTo>
                <a:cubicBezTo>
                  <a:pt x="256" y="480"/>
                  <a:pt x="262" y="472"/>
                  <a:pt x="269" y="466"/>
                </a:cubicBezTo>
                <a:cubicBezTo>
                  <a:pt x="281" y="457"/>
                  <a:pt x="288" y="445"/>
                  <a:pt x="288" y="432"/>
                </a:cubicBezTo>
                <a:cubicBezTo>
                  <a:pt x="288" y="406"/>
                  <a:pt x="259" y="384"/>
                  <a:pt x="224" y="384"/>
                </a:cubicBezTo>
                <a:cubicBezTo>
                  <a:pt x="189" y="384"/>
                  <a:pt x="160" y="406"/>
                  <a:pt x="160" y="432"/>
                </a:cubicBezTo>
                <a:cubicBezTo>
                  <a:pt x="160" y="445"/>
                  <a:pt x="167" y="457"/>
                  <a:pt x="179" y="466"/>
                </a:cubicBezTo>
                <a:cubicBezTo>
                  <a:pt x="186" y="472"/>
                  <a:pt x="192" y="480"/>
                  <a:pt x="192" y="489"/>
                </a:cubicBezTo>
                <a:cubicBezTo>
                  <a:pt x="192" y="502"/>
                  <a:pt x="182" y="512"/>
                  <a:pt x="169" y="512"/>
                </a:cubicBezTo>
                <a:lnTo>
                  <a:pt x="48" y="512"/>
                </a:lnTo>
                <a:cubicBezTo>
                  <a:pt x="22" y="512"/>
                  <a:pt x="0" y="491"/>
                  <a:pt x="0" y="464"/>
                </a:cubicBezTo>
                <a:lnTo>
                  <a:pt x="0" y="343"/>
                </a:lnTo>
                <a:cubicBezTo>
                  <a:pt x="0" y="330"/>
                  <a:pt x="10" y="320"/>
                  <a:pt x="23" y="320"/>
                </a:cubicBezTo>
                <a:cubicBezTo>
                  <a:pt x="32" y="320"/>
                  <a:pt x="41" y="326"/>
                  <a:pt x="46" y="333"/>
                </a:cubicBezTo>
                <a:cubicBezTo>
                  <a:pt x="55" y="345"/>
                  <a:pt x="67" y="352"/>
                  <a:pt x="80" y="352"/>
                </a:cubicBezTo>
                <a:cubicBezTo>
                  <a:pt x="107" y="352"/>
                  <a:pt x="128" y="323"/>
                  <a:pt x="128" y="288"/>
                </a:cubicBezTo>
                <a:cubicBezTo>
                  <a:pt x="128" y="253"/>
                  <a:pt x="107" y="224"/>
                  <a:pt x="80" y="224"/>
                </a:cubicBezTo>
                <a:cubicBezTo>
                  <a:pt x="67" y="224"/>
                  <a:pt x="55" y="231"/>
                  <a:pt x="46" y="243"/>
                </a:cubicBezTo>
                <a:cubicBezTo>
                  <a:pt x="41" y="250"/>
                  <a:pt x="33" y="256"/>
                  <a:pt x="23" y="256"/>
                </a:cubicBezTo>
                <a:cubicBezTo>
                  <a:pt x="10" y="256"/>
                  <a:pt x="0" y="246"/>
                  <a:pt x="0" y="233"/>
                </a:cubicBezTo>
                <a:lnTo>
                  <a:pt x="0" y="176"/>
                </a:lnTo>
                <a:cubicBezTo>
                  <a:pt x="0" y="150"/>
                  <a:pt x="22" y="128"/>
                  <a:pt x="48" y="128"/>
                </a:cubicBezTo>
                <a:lnTo>
                  <a:pt x="157" y="128"/>
                </a:lnTo>
                <a:cubicBezTo>
                  <a:pt x="172" y="128"/>
                  <a:pt x="184" y="116"/>
                  <a:pt x="184" y="101"/>
                </a:cubicBezTo>
                <a:cubicBezTo>
                  <a:pt x="184" y="91"/>
                  <a:pt x="179" y="83"/>
                  <a:pt x="172" y="76"/>
                </a:cubicBezTo>
                <a:cubicBezTo>
                  <a:pt x="165" y="68"/>
                  <a:pt x="160" y="58"/>
                  <a:pt x="160" y="48"/>
                </a:cubicBezTo>
                <a:cubicBezTo>
                  <a:pt x="160" y="22"/>
                  <a:pt x="189" y="0"/>
                  <a:pt x="224" y="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1" name="mcp-label"/>
          <p:cNvSpPr txBox="1"/>
          <p:nvPr/>
        </p:nvSpPr>
        <p:spPr>
          <a:xfrm>
            <a:off x="1117600" y="1943100"/>
            <a:ext cx="1524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WHAT IS MCP?</a:t>
            </a:r>
            <a:endParaRPr lang="en-US" sz="750" noProof="1"/>
          </a:p>
        </p:txBody>
      </p:sp>
      <p:sp>
        <p:nvSpPr>
          <p:cNvPr id="12" name="mcp-title"/>
          <p:cNvSpPr txBox="1"/>
          <p:nvPr/>
        </p:nvSpPr>
        <p:spPr>
          <a:xfrm>
            <a:off x="1117600" y="2133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90" noProof="1" b="1">
                <a:solidFill>
                  <a:srgbClr val="FFFFFF"/>
                </a:solidFill>
                <a:latin typeface="Space Grotesk"/>
                <a:ea typeface="Space Grotesk"/>
              </a:rPr>
              <a:t>Model Context Protocol</a:t>
            </a:r>
            <a:endParaRPr lang="en-US" sz="1090" noProof="1"/>
          </a:p>
        </p:txBody>
      </p:sp>
      <p:sp>
        <p:nvSpPr>
          <p:cNvPr id="13" name="mcp-desc"/>
          <p:cNvSpPr txBox="1"/>
          <p:nvPr/>
        </p:nvSpPr>
        <p:spPr>
          <a:xfrm>
            <a:off x="1117600" y="2362200"/>
            <a:ext cx="56515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open standard ที่ให้ Agent เรียกใช้ external tools ผ่าน interface เดียวกัน ไม่ต้อง hard-code API แต่ละตัว</a:t>
            </a:r>
            <a:endParaRPr lang="en-US" sz="940" noProof="1"/>
          </a:p>
        </p:txBody>
      </p:sp>
      <p:sp>
        <p:nvSpPr>
          <p:cNvPr id="14" name="stack-bg"/>
          <p:cNvSpPr/>
          <p:nvPr/>
        </p:nvSpPr>
        <p:spPr>
          <a:xfrm>
            <a:off x="7061200" y="1778000"/>
            <a:ext cx="4521200" cy="1714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5" name="stack-label"/>
          <p:cNvSpPr txBox="1"/>
          <p:nvPr/>
        </p:nvSpPr>
        <p:spPr>
          <a:xfrm>
            <a:off x="7264400" y="1943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STACK</a:t>
            </a:r>
            <a:endParaRPr lang="en-US" sz="750" noProof="1"/>
          </a:p>
        </p:txBody>
      </p:sp>
      <p:sp>
        <p:nvSpPr>
          <p:cNvPr id="16" name="stack-r1"/>
          <p:cNvSpPr/>
          <p:nvPr/>
        </p:nvSpPr>
        <p:spPr>
          <a:xfrm>
            <a:off x="7213600" y="2159000"/>
            <a:ext cx="4216400" cy="3175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17" name="stack-r1-text"/>
          <p:cNvSpPr txBox="1"/>
          <p:nvPr/>
        </p:nvSpPr>
        <p:spPr>
          <a:xfrm>
            <a:off x="7366000" y="2159000"/>
            <a:ext cx="406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01  </a:t>
            </a:r>
            <a:r>
              <a:rPr lang="en-US" sz="900" noProof="1">
                <a:solidFill>
                  <a:srgbClr val="06B6D4"/>
                </a:solidFill>
                <a:latin typeface="JetBrains Mono"/>
                <a:ea typeface="JetBrains Mono"/>
              </a:rPr>
              <a:t>Telegram Bot</a:t>
            </a:r>
            <a:endParaRPr lang="en-US" sz="900" noProof="1"/>
          </a:p>
        </p:txBody>
      </p:sp>
      <p:sp>
        <p:nvSpPr>
          <p:cNvPr id="18" name="stack-r2"/>
          <p:cNvSpPr/>
          <p:nvPr/>
        </p:nvSpPr>
        <p:spPr>
          <a:xfrm>
            <a:off x="7213600" y="2527300"/>
            <a:ext cx="4216400" cy="3175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19" name="stack-r2-text"/>
          <p:cNvSpPr txBox="1"/>
          <p:nvPr/>
        </p:nvSpPr>
        <p:spPr>
          <a:xfrm>
            <a:off x="7366000" y="2527300"/>
            <a:ext cx="406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02  </a:t>
            </a:r>
            <a:r>
              <a:rPr lang="en-US" sz="900" noProof="1">
                <a:solidFill>
                  <a:srgbClr val="06B6D4"/>
                </a:solidFill>
                <a:latin typeface="JetBrains Mono"/>
                <a:ea typeface="JetBrains Mono"/>
              </a:rPr>
              <a:t>MCP Server (Node/Python)</a:t>
            </a:r>
            <a:endParaRPr lang="en-US" sz="900" noProof="1"/>
          </a:p>
        </p:txBody>
      </p:sp>
      <p:sp>
        <p:nvSpPr>
          <p:cNvPr id="20" name="stack-r3"/>
          <p:cNvSpPr/>
          <p:nvPr/>
        </p:nvSpPr>
        <p:spPr>
          <a:xfrm>
            <a:off x="7213600" y="2895600"/>
            <a:ext cx="4216400" cy="3175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21" name="stack-r3-text"/>
          <p:cNvSpPr txBox="1"/>
          <p:nvPr/>
        </p:nvSpPr>
        <p:spPr>
          <a:xfrm>
            <a:off x="7366000" y="2895600"/>
            <a:ext cx="4064000" cy="317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64748B"/>
                </a:solidFill>
                <a:latin typeface="JetBrains Mono"/>
                <a:ea typeface="JetBrains Mono"/>
              </a:rPr>
              <a:t>03  </a:t>
            </a:r>
            <a:r>
              <a:rPr lang="en-US" sz="900" noProof="1">
                <a:solidFill>
                  <a:srgbClr val="06B6D4"/>
                </a:solidFill>
                <a:latin typeface="JetBrains Mono"/>
                <a:ea typeface="JetBrains Mono"/>
              </a:rPr>
              <a:t>ERPNext API</a:t>
            </a:r>
            <a:endParaRPr lang="en-US" sz="900" noProof="1"/>
          </a:p>
        </p:txBody>
      </p:sp>
      <p:sp>
        <p:nvSpPr>
          <p:cNvPr id="22" name="flow-bg"/>
          <p:cNvSpPr/>
          <p:nvPr/>
        </p:nvSpPr>
        <p:spPr>
          <a:xfrm>
            <a:off x="609600" y="3619500"/>
            <a:ext cx="6350000" cy="1714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3" name="flow-label"/>
          <p:cNvSpPr txBox="1"/>
          <p:nvPr/>
        </p:nvSpPr>
        <p:spPr>
          <a:xfrm>
            <a:off x="787400" y="37719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QUERY FLOW</a:t>
            </a:r>
            <a:endParaRPr lang="en-US" sz="750" noProof="1"/>
          </a:p>
        </p:txBody>
      </p:sp>
      <p:sp>
        <p:nvSpPr>
          <p:cNvPr id="24" name="flow-c1"/>
          <p:cNvSpPr/>
          <p:nvPr/>
        </p:nvSpPr>
        <p:spPr>
          <a:xfrm>
            <a:off x="812800" y="4038600"/>
            <a:ext cx="1422400" cy="3810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25" name="flow-c1-text"/>
          <p:cNvSpPr txBox="1"/>
          <p:nvPr/>
        </p:nvSpPr>
        <p:spPr>
          <a:xfrm>
            <a:off x="812800" y="40386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60" noProof="1">
                <a:solidFill>
                  <a:srgbClr val="E2E8F0"/>
                </a:solidFill>
                <a:latin typeface="Loma"/>
                <a:ea typeface="Loma"/>
              </a:rPr>
              <a:t>สั่งในแชต</a:t>
            </a:r>
            <a:endParaRPr lang="en-US" sz="860" noProof="1"/>
          </a:p>
        </p:txBody>
      </p:sp>
      <p:sp>
        <p:nvSpPr>
          <p:cNvPr id="26" name="flow-a1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2641600" y="4140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27" name="flow-c2"/>
          <p:cNvSpPr/>
          <p:nvPr/>
        </p:nvSpPr>
        <p:spPr>
          <a:xfrm>
            <a:off x="2946400" y="3949700"/>
            <a:ext cx="1803400" cy="558800"/>
          </a:xfrm>
          <a:prstGeom prst="roundRect">
            <a:avLst>
              <a:gd name="adj" fmla="val 14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28" name="flow-c2-text"/>
          <p:cNvSpPr txBox="1"/>
          <p:nvPr/>
        </p:nvSpPr>
        <p:spPr>
          <a:xfrm>
            <a:off x="2997200" y="39497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0000"/>
              </a:lnSpc>
            </a:pPr>
            <a:r>
              <a:rPr lang="en-US" sz="860" noProof="1">
                <a:solidFill>
                  <a:srgbClr val="E2E8F0"/>
                </a:solidFill>
                <a:latin typeface="Loma"/>
                <a:ea typeface="Loma"/>
              </a:rPr>
              <a:t>MCP server แปลเป็น ERPNext API call</a:t>
            </a:r>
            <a:endParaRPr lang="en-US" sz="860" noProof="1"/>
          </a:p>
        </p:txBody>
      </p:sp>
      <p:sp>
        <p:nvSpPr>
          <p:cNvPr id="29" name="flow-a2"/>
          <p:cNvSpPr/>
          <p:nvPr>
            <p:extLst>
              <p:ext uri="{F5677B7D-0D2A-4D9B-9A5C-6D8D7D0E5A5D}">
                <pptd:icon encoding="base64url">eyJpY29uTmFtZSI6ImZhczphcnJvdy1yaWdodCJ9</pptd:icon>
              </p:ext>
            </p:extLst>
          </p:nvPr>
        </p:nvSpPr>
        <p:spPr>
          <a:xfrm>
            <a:off x="4851400" y="4140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0" name="flow-c3"/>
          <p:cNvSpPr/>
          <p:nvPr/>
        </p:nvSpPr>
        <p:spPr>
          <a:xfrm>
            <a:off x="5130800" y="4038600"/>
            <a:ext cx="1422400" cy="381000"/>
          </a:xfrm>
          <a:prstGeom prst="roundRect">
            <a:avLst>
              <a:gd name="adj" fmla="val 16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31" name="flow-c3-text"/>
          <p:cNvSpPr txBox="1"/>
          <p:nvPr/>
        </p:nvSpPr>
        <p:spPr>
          <a:xfrm>
            <a:off x="5130800" y="4038600"/>
            <a:ext cx="142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60" noProof="1">
                <a:solidFill>
                  <a:srgbClr val="E2E8F0"/>
                </a:solidFill>
                <a:latin typeface="Loma"/>
                <a:ea typeface="Loma"/>
              </a:rPr>
              <a:t>ตอบกลับในแชต</a:t>
            </a:r>
            <a:endParaRPr lang="en-US" sz="860" noProof="1"/>
          </a:p>
        </p:txBody>
      </p:sp>
      <p:sp>
        <p:nvSpPr>
          <p:cNvPr id="32" name="uc-bg"/>
          <p:cNvSpPr/>
          <p:nvPr/>
        </p:nvSpPr>
        <p:spPr>
          <a:xfrm>
            <a:off x="7061200" y="3619500"/>
            <a:ext cx="4521200" cy="1714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FBBF24">
                <a:alpha val="25098"/>
              </a:srgbClr>
            </a:solidFill>
          </a:ln>
        </p:spPr>
      </p:sp>
      <p:sp>
        <p:nvSpPr>
          <p:cNvPr id="33" name="uc-label"/>
          <p:cNvSpPr txBox="1"/>
          <p:nvPr/>
        </p:nvSpPr>
        <p:spPr>
          <a:xfrm>
            <a:off x="7264400" y="3771900"/>
            <a:ext cx="1270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USE CASES</a:t>
            </a:r>
            <a:endParaRPr lang="en-US" sz="750" noProof="1"/>
          </a:p>
        </p:txBody>
      </p:sp>
      <p:sp>
        <p:nvSpPr>
          <p:cNvPr id="34" name="uc1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264400" y="4000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5" name="uc1"/>
          <p:cNvSpPr txBox="1"/>
          <p:nvPr/>
        </p:nvSpPr>
        <p:spPr>
          <a:xfrm>
            <a:off x="7493000" y="39751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E2E8F0"/>
                </a:solidFill>
                <a:latin typeface="Loma"/>
                <a:ea typeface="Loma"/>
              </a:rPr>
              <a:t>ดูยอดคงคลังสินค้า</a:t>
            </a:r>
            <a:endParaRPr lang="en-US" sz="1000" noProof="1"/>
          </a:p>
        </p:txBody>
      </p:sp>
      <p:sp>
        <p:nvSpPr>
          <p:cNvPr id="36" name="uc2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264400" y="424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7" name="uc2"/>
          <p:cNvSpPr txBox="1"/>
          <p:nvPr/>
        </p:nvSpPr>
        <p:spPr>
          <a:xfrm>
            <a:off x="7493000" y="42164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E2E8F0"/>
                </a:solidFill>
                <a:latin typeface="Loma"/>
                <a:ea typeface="Loma"/>
              </a:rPr>
              <a:t>สร้าง Sales Order ใหม่</a:t>
            </a:r>
            <a:endParaRPr lang="en-US" sz="1000" noProof="1"/>
          </a:p>
        </p:txBody>
      </p:sp>
      <p:sp>
        <p:nvSpPr>
          <p:cNvPr id="38" name="uc3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264400" y="4483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39" name="uc3"/>
          <p:cNvSpPr txBox="1"/>
          <p:nvPr/>
        </p:nvSpPr>
        <p:spPr>
          <a:xfrm>
            <a:off x="7493000" y="44577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E2E8F0"/>
                </a:solidFill>
                <a:latin typeface="Loma"/>
                <a:ea typeface="Loma"/>
              </a:rPr>
              <a:t>ตรวจสถานะ Invoice</a:t>
            </a:r>
            <a:endParaRPr lang="en-US" sz="1000" noProof="1"/>
          </a:p>
        </p:txBody>
      </p:sp>
      <p:sp>
        <p:nvSpPr>
          <p:cNvPr id="40" name="uc4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7264400" y="472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1" name="uc4"/>
          <p:cNvSpPr txBox="1"/>
          <p:nvPr/>
        </p:nvSpPr>
        <p:spPr>
          <a:xfrm>
            <a:off x="7493000" y="4699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E2E8F0"/>
                </a:solidFill>
                <a:latin typeface="Loma"/>
                <a:ea typeface="Loma"/>
              </a:rPr>
              <a:t>อัปเดต Customer record</a:t>
            </a:r>
            <a:endParaRPr lang="en-US" sz="1000" noProof="1"/>
          </a:p>
        </p:txBody>
      </p:sp>
      <p:sp>
        <p:nvSpPr>
          <p:cNvPr id="42" name="why-bg"/>
          <p:cNvSpPr/>
          <p:nvPr/>
        </p:nvSpPr>
        <p:spPr>
          <a:xfrm>
            <a:off x="609600" y="5461000"/>
            <a:ext cx="10972800" cy="609600"/>
          </a:xfrm>
          <a:prstGeom prst="roundRect">
            <a:avLst>
              <a:gd name="adj" fmla="val 16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43" name="why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787400" y="5600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4" name="why-label"/>
          <p:cNvSpPr txBox="1"/>
          <p:nvPr/>
        </p:nvSpPr>
        <p:spPr>
          <a:xfrm>
            <a:off x="1092200" y="5575300"/>
            <a:ext cx="1651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WHY THIS MATTERS</a:t>
            </a:r>
            <a:endParaRPr lang="en-US" sz="750" noProof="1"/>
          </a:p>
        </p:txBody>
      </p:sp>
      <p:sp>
        <p:nvSpPr>
          <p:cNvPr id="45" name="why-text"/>
          <p:cNvSpPr txBox="1"/>
          <p:nvPr/>
        </p:nvSpPr>
        <p:spPr>
          <a:xfrm>
            <a:off x="1092200" y="5740400"/>
            <a:ext cx="990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ERPNext เดิมต้องเข้า Web App คลิกหลายขั้นตอน ตอนนี้ทำได้จากข้อความเดียวใน Telegram — เป็นการยกระดับ internal tools ให้กลายเป็น </a:t>
            </a:r>
            <a:r>
              <a:rPr lang="en-US" sz="980" noProof="1">
                <a:solidFill>
                  <a:srgbClr val="06B6D4"/>
                </a:solidFill>
                <a:latin typeface="Loma"/>
                <a:ea typeface="Loma"/>
              </a:rPr>
              <a:t>agentic workflow</a:t>
            </a: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 จริง</a:t>
            </a:r>
            <a:endParaRPr lang="en-US" sz="980" noProof="1"/>
          </a:p>
        </p:txBody>
      </p:sp>
      <p:sp>
        <p:nvSpPr>
          <p:cNvPr id="46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06 / 24</a:t>
            </a:r>
            <a:endParaRPr lang="en-US" sz="800" noProof="1"/>
          </a:p>
        </p:txBody>
      </p:sp>
      <p:sp>
        <p:nvSpPr>
          <p:cNvPr id="47" name="footer-right"/>
          <p:cNvSpPr txBox="1"/>
          <p:nvPr/>
        </p:nvSpPr>
        <p:spPr>
          <a:xfrm>
            <a:off x="9296400" y="6438900"/>
            <a:ext cx="2565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COMMERCE</a:t>
            </a:r>
            <a:endParaRPr lang="en-US" sz="8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ck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4419600" y="1460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" name="time-label"/>
          <p:cNvSpPr txBox="1"/>
          <p:nvPr/>
        </p:nvSpPr>
        <p:spPr>
          <a:xfrm>
            <a:off x="4673600" y="1435100"/>
            <a:ext cx="3175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 spc="250" kern="0">
                <a:solidFill>
                  <a:srgbClr val="FBBF24"/>
                </a:solidFill>
                <a:latin typeface="JetBrains Mono"/>
                <a:ea typeface="JetBrains Mono"/>
              </a:rPr>
              <a:t>01:00 — 01:10 · 10 MIN BREAK</a:t>
            </a:r>
            <a:endParaRPr lang="en-US" sz="980" noProof="1"/>
          </a:p>
        </p:txBody>
      </p:sp>
      <p:sp>
        <p:nvSpPr>
          <p:cNvPr id="4" name="break-title"/>
          <p:cNvSpPr txBox="1"/>
          <p:nvPr/>
        </p:nvSpPr>
        <p:spPr>
          <a:xfrm>
            <a:off x="2032000" y="1587500"/>
            <a:ext cx="8128000" cy="2603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500" noProof="1">
                <a:solidFill>
                  <a:srgbClr val="FFFFFF"/>
                </a:solidFill>
                <a:effectLst>
                  <a:outerShdw blurRad="698500" dist="0" dir="0" sx="100000" sy="100000" kx="0" ky="0" algn="bl" rotWithShape="0">
                    <a:srgbClr val="FBBF24">
                      <a:alpha val="50196"/>
                    </a:srgbClr>
                  </a:outerShdw>
                </a:effectLst>
                <a:latin typeface="Archivo Black"/>
                <a:ea typeface="Archivo Black"/>
              </a:rPr>
              <a:t>BREAK</a:t>
            </a:r>
            <a:endParaRPr lang="en-US" sz="16500" noProof="1"/>
          </a:p>
        </p:txBody>
      </p:sp>
      <p:sp>
        <p:nvSpPr>
          <p:cNvPr id="5" name="break-sub"/>
          <p:cNvSpPr txBox="1"/>
          <p:nvPr/>
        </p:nvSpPr>
        <p:spPr>
          <a:xfrm>
            <a:off x="3556000" y="3962400"/>
            <a:ext cx="508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>
                <a:solidFill>
                  <a:srgbClr val="CBD5E1"/>
                </a:solidFill>
                <a:latin typeface="Loma"/>
                <a:ea typeface="Loma"/>
              </a:rPr>
              <a:t>พักสายตา · ดื่มน้ำ · คุยกับเพื่อน</a:t>
            </a:r>
            <a:endParaRPr lang="en-US" sz="1800" noProof="1"/>
          </a:p>
        </p:txBody>
      </p:sp>
      <p:sp>
        <p:nvSpPr>
          <p:cNvPr id="6" name="elapsed-label"/>
          <p:cNvSpPr txBox="1"/>
          <p:nvPr/>
        </p:nvSpPr>
        <p:spPr>
          <a:xfrm>
            <a:off x="3619500" y="46990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ELAPSED</a:t>
            </a:r>
            <a:endParaRPr lang="en-US" sz="900" noProof="1"/>
          </a:p>
        </p:txBody>
      </p:sp>
      <p:sp>
        <p:nvSpPr>
          <p:cNvPr id="7" name="total-label"/>
          <p:cNvSpPr txBox="1"/>
          <p:nvPr/>
        </p:nvSpPr>
        <p:spPr>
          <a:xfrm>
            <a:off x="8140700" y="46990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TOTAL</a:t>
            </a:r>
            <a:endParaRPr lang="en-US" sz="900" noProof="1"/>
          </a:p>
        </p:txBody>
      </p:sp>
      <p:sp>
        <p:nvSpPr>
          <p:cNvPr id="8" name="bar-bg"/>
          <p:cNvSpPr/>
          <p:nvPr/>
        </p:nvSpPr>
        <p:spPr>
          <a:xfrm>
            <a:off x="3619500" y="4953000"/>
            <a:ext cx="4953000" cy="50800"/>
          </a:xfrm>
          <a:prstGeom prst="roundRect">
            <a:avLst>
              <a:gd name="adj" fmla="val 50000"/>
            </a:avLst>
          </a:prstGeom>
          <a:solidFill>
            <a:srgbClr val="2A2F3A"/>
          </a:solidFill>
          <a:ln>
            <a:noFill/>
          </a:ln>
        </p:spPr>
      </p:sp>
      <p:sp>
        <p:nvSpPr>
          <p:cNvPr id="9" name="bar-dot"/>
          <p:cNvSpPr/>
          <p:nvPr/>
        </p:nvSpPr>
        <p:spPr>
          <a:xfrm>
            <a:off x="3594100" y="4927600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" name="elapsed-time"/>
          <p:cNvSpPr txBox="1"/>
          <p:nvPr/>
        </p:nvSpPr>
        <p:spPr>
          <a:xfrm>
            <a:off x="3619500" y="5130800"/>
            <a:ext cx="1016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FBBF24"/>
                </a:solidFill>
                <a:latin typeface="JetBrains Mono"/>
                <a:ea typeface="JetBrains Mono"/>
              </a:rPr>
              <a:t>00:00</a:t>
            </a:r>
            <a:endParaRPr lang="en-US" sz="1350" noProof="1"/>
          </a:p>
        </p:txBody>
      </p:sp>
      <p:sp>
        <p:nvSpPr>
          <p:cNvPr id="11" name="total-time"/>
          <p:cNvSpPr txBox="1"/>
          <p:nvPr/>
        </p:nvSpPr>
        <p:spPr>
          <a:xfrm>
            <a:off x="7772400" y="5143500"/>
            <a:ext cx="889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94A3B8"/>
                </a:solidFill>
                <a:latin typeface="JetBrains Mono"/>
                <a:ea typeface="JetBrains Mono"/>
              </a:rPr>
              <a:t>/ 10:00</a:t>
            </a:r>
            <a:endParaRPr lang="en-US" sz="1350" noProof="1"/>
          </a:p>
        </p:txBody>
      </p:sp>
      <p:sp>
        <p:nvSpPr>
          <p:cNvPr id="12" name="chk1-icon"/>
          <p:cNvSpPr/>
          <p:nvPr>
            <p:extLst>
              <p:ext uri="{F5677B7D-0D2A-4D9B-9A5C-6D8D7D0E5A5D}">
                <pptd:icon encoding="base64url">eyJpY29uTmFtZSI6ImZhcjpzcXVhcmUifQ</pptd:icon>
              </p:ext>
            </p:extLst>
          </p:nvPr>
        </p:nvSpPr>
        <p:spPr>
          <a:xfrm>
            <a:off x="3911600" y="591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80"/>
                </a:moveTo>
                <a:cubicBezTo>
                  <a:pt x="393" y="80"/>
                  <a:pt x="400" y="87"/>
                  <a:pt x="400" y="96"/>
                </a:cubicBezTo>
                <a:lnTo>
                  <a:pt x="400" y="416"/>
                </a:lnTo>
                <a:cubicBezTo>
                  <a:pt x="400" y="425"/>
                  <a:pt x="393" y="432"/>
                  <a:pt x="384" y="432"/>
                </a:cubicBezTo>
                <a:lnTo>
                  <a:pt x="64" y="432"/>
                </a:lnTo>
                <a:cubicBezTo>
                  <a:pt x="55" y="432"/>
                  <a:pt x="48" y="425"/>
                  <a:pt x="48" y="416"/>
                </a:cubicBezTo>
                <a:lnTo>
                  <a:pt x="48" y="96"/>
                </a:lnTo>
                <a:cubicBezTo>
                  <a:pt x="48" y="87"/>
                  <a:pt x="55" y="80"/>
                  <a:pt x="64" y="80"/>
                </a:cubicBezTo>
                <a:lnTo>
                  <a:pt x="384" y="80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3" name="chk1"/>
          <p:cNvSpPr txBox="1"/>
          <p:nvPr/>
        </p:nvSpPr>
        <p:spPr>
          <a:xfrm>
            <a:off x="4114800" y="58928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Loma"/>
                <a:ea typeface="Loma"/>
              </a:rPr>
              <a:t>ชาร์จแล็ปท็อป</a:t>
            </a:r>
            <a:endParaRPr lang="en-US" sz="1200" noProof="1"/>
          </a:p>
        </p:txBody>
      </p:sp>
      <p:sp>
        <p:nvSpPr>
          <p:cNvPr id="14" name="chk2-icon"/>
          <p:cNvSpPr/>
          <p:nvPr>
            <p:extLst>
              <p:ext uri="{F5677B7D-0D2A-4D9B-9A5C-6D8D7D0E5A5D}">
                <pptd:icon encoding="base64url">eyJpY29uTmFtZSI6ImZhcjpzcXVhcmUifQ</pptd:icon>
              </p:ext>
            </p:extLst>
          </p:nvPr>
        </p:nvSpPr>
        <p:spPr>
          <a:xfrm>
            <a:off x="5664200" y="591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80"/>
                </a:moveTo>
                <a:cubicBezTo>
                  <a:pt x="393" y="80"/>
                  <a:pt x="400" y="87"/>
                  <a:pt x="400" y="96"/>
                </a:cubicBezTo>
                <a:lnTo>
                  <a:pt x="400" y="416"/>
                </a:lnTo>
                <a:cubicBezTo>
                  <a:pt x="400" y="425"/>
                  <a:pt x="393" y="432"/>
                  <a:pt x="384" y="432"/>
                </a:cubicBezTo>
                <a:lnTo>
                  <a:pt x="64" y="432"/>
                </a:lnTo>
                <a:cubicBezTo>
                  <a:pt x="55" y="432"/>
                  <a:pt x="48" y="425"/>
                  <a:pt x="48" y="416"/>
                </a:cubicBezTo>
                <a:lnTo>
                  <a:pt x="48" y="96"/>
                </a:lnTo>
                <a:cubicBezTo>
                  <a:pt x="48" y="87"/>
                  <a:pt x="55" y="80"/>
                  <a:pt x="64" y="80"/>
                </a:cubicBezTo>
                <a:lnTo>
                  <a:pt x="384" y="80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5" name="chk2"/>
          <p:cNvSpPr txBox="1"/>
          <p:nvPr/>
        </p:nvSpPr>
        <p:spPr>
          <a:xfrm>
            <a:off x="5867400" y="58928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Loma"/>
                <a:ea typeface="Loma"/>
              </a:rPr>
              <a:t>ดื่มน้ำ</a:t>
            </a:r>
            <a:endParaRPr lang="en-US" sz="1200" noProof="1"/>
          </a:p>
        </p:txBody>
      </p:sp>
      <p:sp>
        <p:nvSpPr>
          <p:cNvPr id="16" name="chk3-icon"/>
          <p:cNvSpPr/>
          <p:nvPr>
            <p:extLst>
              <p:ext uri="{F5677B7D-0D2A-4D9B-9A5C-6D8D7D0E5A5D}">
                <pptd:icon encoding="base64url">eyJpY29uTmFtZSI6ImZhcjpzcXVhcmUifQ</pptd:icon>
              </p:ext>
            </p:extLst>
          </p:nvPr>
        </p:nvSpPr>
        <p:spPr>
          <a:xfrm>
            <a:off x="6959600" y="5918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80"/>
                </a:moveTo>
                <a:cubicBezTo>
                  <a:pt x="393" y="80"/>
                  <a:pt x="400" y="87"/>
                  <a:pt x="400" y="96"/>
                </a:cubicBezTo>
                <a:lnTo>
                  <a:pt x="400" y="416"/>
                </a:lnTo>
                <a:cubicBezTo>
                  <a:pt x="400" y="425"/>
                  <a:pt x="393" y="432"/>
                  <a:pt x="384" y="432"/>
                </a:cubicBezTo>
                <a:lnTo>
                  <a:pt x="64" y="432"/>
                </a:lnTo>
                <a:cubicBezTo>
                  <a:pt x="55" y="432"/>
                  <a:pt x="48" y="425"/>
                  <a:pt x="48" y="416"/>
                </a:cubicBezTo>
                <a:lnTo>
                  <a:pt x="48" y="96"/>
                </a:lnTo>
                <a:cubicBezTo>
                  <a:pt x="48" y="87"/>
                  <a:pt x="55" y="80"/>
                  <a:pt x="64" y="80"/>
                </a:cubicBezTo>
                <a:lnTo>
                  <a:pt x="384" y="80"/>
                </a:lnTo>
                <a:close/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7" name="chk3"/>
          <p:cNvSpPr txBox="1"/>
          <p:nvPr/>
        </p:nvSpPr>
        <p:spPr>
          <a:xfrm>
            <a:off x="7162800" y="5892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Loma"/>
                <a:ea typeface="Loma"/>
              </a:rPr>
              <a:t>คุยกับคนข้างๆ</a:t>
            </a:r>
            <a:endParaRPr lang="en-US" sz="1200" noProof="1"/>
          </a:p>
        </p:txBody>
      </p:sp>
      <p:sp>
        <p:nvSpPr>
          <p:cNvPr id="18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07</a:t>
            </a:r>
            <a:endParaRPr lang="en-US" sz="800" noProof="1"/>
          </a:p>
        </p:txBody>
      </p:sp>
      <p:sp>
        <p:nvSpPr>
          <p:cNvPr id="19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558800"/>
            <a:ext cx="889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250" kern="0">
                <a:solidFill>
                  <a:srgbClr val="A78BFA"/>
                </a:solidFill>
                <a:latin typeface="JetBrains Mono"/>
                <a:ea typeface="JetBrains Mono"/>
              </a:rPr>
              <a:t>02 / 02</a:t>
            </a:r>
            <a:endParaRPr lang="en-US" sz="1050" noProof="1"/>
          </a:p>
        </p:txBody>
      </p:sp>
      <p:sp>
        <p:nvSpPr>
          <p:cNvPr id="3" name="eyebrow-line"/>
          <p:cNvSpPr/>
          <p:nvPr/>
        </p:nvSpPr>
        <p:spPr>
          <a:xfrm>
            <a:off x="1574800" y="673100"/>
            <a:ext cx="3048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chapter-label"/>
          <p:cNvSpPr txBox="1"/>
          <p:nvPr/>
        </p:nvSpPr>
        <p:spPr>
          <a:xfrm>
            <a:off x="1981200" y="571500"/>
            <a:ext cx="101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50" kern="0">
                <a:solidFill>
                  <a:srgbClr val="94A3B8"/>
                </a:solidFill>
                <a:latin typeface="JetBrains Mono"/>
                <a:ea typeface="JetBrains Mono"/>
              </a:rPr>
              <a:t>CHAPTER</a:t>
            </a:r>
            <a:endParaRPr lang="en-US" sz="820" noProof="1"/>
          </a:p>
        </p:txBody>
      </p:sp>
      <p:sp>
        <p:nvSpPr>
          <p:cNvPr id="5" name="big-title"/>
          <p:cNvSpPr txBox="1"/>
          <p:nvPr/>
        </p:nvSpPr>
        <p:spPr>
          <a:xfrm>
            <a:off x="584200" y="1270000"/>
            <a:ext cx="5588000" cy="2095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600" noProof="1">
                <a:solidFill>
                  <a:srgbClr val="FFFFFF"/>
                </a:solidFill>
                <a:effectLst>
                  <a:outerShdw blurRad="571500" dist="0" dir="0" sx="100000" sy="100000" kx="0" ky="0" algn="bl" rotWithShape="0">
                    <a:srgbClr val="7C3AED">
                      <a:alpha val="60000"/>
                    </a:srgbClr>
                  </a:outerShdw>
                </a:effectLst>
                <a:latin typeface="Archivo Black"/>
                <a:ea typeface="Archivo Black"/>
              </a:rPr>
              <a:t>PART 2</a:t>
            </a:r>
            <a:endParaRPr lang="en-US" sz="12600" noProof="1"/>
          </a:p>
        </p:txBody>
      </p:sp>
      <p:sp>
        <p:nvSpPr>
          <p:cNvPr id="6" name="title-bar"/>
          <p:cNvSpPr/>
          <p:nvPr/>
        </p:nvSpPr>
        <p:spPr>
          <a:xfrm>
            <a:off x="685800" y="3289300"/>
            <a:ext cx="5842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" name="title"/>
          <p:cNvSpPr txBox="1"/>
          <p:nvPr/>
        </p:nvSpPr>
        <p:spPr>
          <a:xfrm>
            <a:off x="685800" y="344170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200" noProof="1" b="1">
                <a:solidFill>
                  <a:srgbClr val="FFFFFF"/>
                </a:solidFill>
                <a:latin typeface="Space Grotesk"/>
                <a:ea typeface="Space Grotesk"/>
              </a:rPr>
              <a:t>Autonomous Commerce</a:t>
            </a:r>
            <a:endParaRPr lang="en-US" sz="4200" noProof="1"/>
          </a:p>
        </p:txBody>
      </p:sp>
      <p:sp>
        <p:nvSpPr>
          <p:cNvPr id="8" name="subtitle"/>
          <p:cNvSpPr txBox="1"/>
          <p:nvPr/>
        </p:nvSpPr>
        <p:spPr>
          <a:xfrm>
            <a:off x="685800" y="4216400"/>
            <a:ext cx="736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>
                <a:solidFill>
                  <a:srgbClr val="CBD5E1"/>
                </a:solidFill>
                <a:latin typeface="Loma"/>
                <a:ea typeface="Loma"/>
              </a:rPr>
              <a:t>ให้ Agent ถือเงินจริง จ่ายจริง และสั่งซื้อสินค้าจริงด้วยตัวเอง — 45 นาทีสุดท้าย</a:t>
            </a:r>
            <a:endParaRPr lang="en-US" sz="1500" noProof="1"/>
          </a:p>
        </p:txBody>
      </p:sp>
      <p:sp>
        <p:nvSpPr>
          <p:cNvPr id="9" name="pill1"/>
          <p:cNvSpPr/>
          <p:nvPr/>
        </p:nvSpPr>
        <p:spPr>
          <a:xfrm>
            <a:off x="685800" y="4889500"/>
            <a:ext cx="22606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10" name="pill1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838200" y="4978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C4B5FD"/>
          </a:solidFill>
          <a:ln>
            <a:noFill/>
          </a:ln>
        </p:spPr>
      </p:sp>
      <p:sp>
        <p:nvSpPr>
          <p:cNvPr id="11" name="pill1-text"/>
          <p:cNvSpPr txBox="1"/>
          <p:nvPr/>
        </p:nvSpPr>
        <p:spPr>
          <a:xfrm>
            <a:off x="1066800" y="4953000"/>
            <a:ext cx="1803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C4B5FD"/>
                </a:solidFill>
                <a:latin typeface="Space Grotesk"/>
                <a:ea typeface="Space Grotesk"/>
              </a:rPr>
              <a:t>Agentic Wallet &amp; Protocols</a:t>
            </a:r>
            <a:endParaRPr lang="en-US" sz="1050" noProof="1"/>
          </a:p>
        </p:txBody>
      </p:sp>
      <p:sp>
        <p:nvSpPr>
          <p:cNvPr id="12" name="pill2"/>
          <p:cNvSpPr/>
          <p:nvPr/>
        </p:nvSpPr>
        <p:spPr>
          <a:xfrm>
            <a:off x="3048000" y="4889500"/>
            <a:ext cx="19304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13" name="pill2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3200400" y="4978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C4B5FD"/>
          </a:solidFill>
          <a:ln>
            <a:noFill/>
          </a:ln>
        </p:spPr>
      </p:sp>
      <p:sp>
        <p:nvSpPr>
          <p:cNvPr id="14" name="pill2-text"/>
          <p:cNvSpPr txBox="1"/>
          <p:nvPr/>
        </p:nvSpPr>
        <p:spPr>
          <a:xfrm>
            <a:off x="3429000" y="4953000"/>
            <a:ext cx="1473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C4B5FD"/>
                </a:solidFill>
                <a:latin typeface="Space Grotesk"/>
                <a:ea typeface="Space Grotesk"/>
              </a:rPr>
              <a:t>Autonomous Shopping</a:t>
            </a:r>
            <a:endParaRPr lang="en-US" sz="1050" noProof="1"/>
          </a:p>
        </p:txBody>
      </p:sp>
      <p:sp>
        <p:nvSpPr>
          <p:cNvPr id="15" name="pill3"/>
          <p:cNvSpPr/>
          <p:nvPr/>
        </p:nvSpPr>
        <p:spPr>
          <a:xfrm>
            <a:off x="5105400" y="4889500"/>
            <a:ext cx="838200" cy="3556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16" name="pill3-icon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5257800" y="4978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C4B5FD"/>
          </a:solidFill>
          <a:ln>
            <a:noFill/>
          </a:ln>
        </p:spPr>
      </p:sp>
      <p:sp>
        <p:nvSpPr>
          <p:cNvPr id="17" name="pill3-text"/>
          <p:cNvSpPr txBox="1"/>
          <p:nvPr/>
        </p:nvSpPr>
        <p:spPr>
          <a:xfrm>
            <a:off x="5486400" y="4953000"/>
            <a:ext cx="406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C4B5FD"/>
                </a:solidFill>
                <a:latin typeface="Space Grotesk"/>
                <a:ea typeface="Space Grotesk"/>
              </a:rPr>
              <a:t>Q&amp;A</a:t>
            </a:r>
            <a:endParaRPr lang="en-US" sz="1050" noProof="1"/>
          </a:p>
        </p:txBody>
      </p:sp>
      <p:sp>
        <p:nvSpPr>
          <p:cNvPr id="18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08</a:t>
            </a:r>
            <a:endParaRPr lang="en-US" sz="800" noProof="1"/>
          </a:p>
        </p:txBody>
      </p:sp>
      <p:sp>
        <p:nvSpPr>
          <p:cNvPr id="19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520700"/>
            <a:ext cx="203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MODULE 2.1 · 25 MIN</a:t>
            </a:r>
            <a:endParaRPr lang="en-US" sz="850" noProof="1"/>
          </a:p>
        </p:txBody>
      </p:sp>
      <p:sp>
        <p:nvSpPr>
          <p:cNvPr id="3" name="section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10020300" y="54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4" name="section-label"/>
          <p:cNvSpPr txBox="1"/>
          <p:nvPr/>
        </p:nvSpPr>
        <p:spPr>
          <a:xfrm>
            <a:off x="10223500" y="5334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PART 2 / SECTION 1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558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50" noProof="1" b="1">
                <a:solidFill>
                  <a:srgbClr val="FFFFFF"/>
                </a:solidFill>
                <a:latin typeface="Space Grotesk"/>
                <a:ea typeface="Space Grotesk"/>
              </a:rPr>
              <a:t>Agentic Wallet &amp; Protocols</a:t>
            </a:r>
            <a:endParaRPr lang="en-US" sz="285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สร้าง Wallet บน wallet.tempo.xyz, ทดสอบ รับ/โอน USDC, เชื่อม Agent เข้า Wallet, เจาะลึก x402 / MPP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" name="steps-head-icon"/>
          <p:cNvSpPr/>
          <p:nvPr>
            <p:extLst>
              <p:ext uri="{F5677B7D-0D2A-4D9B-9A5C-6D8D7D0E5A5D}">
                <pptd:icon encoding="base64url">eyJpY29uTmFtZSI6ImZhczptb2JpbGUtc2NyZWVuIn0</pptd:icon>
              </p:ext>
            </p:extLst>
          </p:nvPr>
        </p:nvSpPr>
        <p:spPr>
          <a:xfrm>
            <a:off x="685800" y="2108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9" name="steps-head"/>
          <p:cNvSpPr txBox="1"/>
          <p:nvPr/>
        </p:nvSpPr>
        <p:spPr>
          <a:xfrm>
            <a:off x="914400" y="2082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6B6D4"/>
                </a:solidFill>
                <a:latin typeface="Loma"/>
                <a:ea typeface="Loma"/>
              </a:rPr>
              <a:t>ขั้นตอนในมือถือของคุณ</a:t>
            </a:r>
            <a:endParaRPr lang="en-US" sz="1200" noProof="1"/>
          </a:p>
        </p:txBody>
      </p:sp>
      <p:sp>
        <p:nvSpPr>
          <p:cNvPr id="10" name="st1-circle"/>
          <p:cNvSpPr/>
          <p:nvPr/>
        </p:nvSpPr>
        <p:spPr>
          <a:xfrm>
            <a:off x="685800" y="24384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1" name="st1-num"/>
          <p:cNvSpPr txBox="1"/>
          <p:nvPr/>
        </p:nvSpPr>
        <p:spPr>
          <a:xfrm>
            <a:off x="685800" y="2438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2" name="st1-chip"/>
          <p:cNvSpPr/>
          <p:nvPr/>
        </p:nvSpPr>
        <p:spPr>
          <a:xfrm>
            <a:off x="1155700" y="2463800"/>
            <a:ext cx="5334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3" name="st1-chip-text"/>
          <p:cNvSpPr txBox="1"/>
          <p:nvPr/>
        </p:nvSpPr>
        <p:spPr>
          <a:xfrm>
            <a:off x="1155700" y="2463800"/>
            <a:ext cx="533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CREATE</a:t>
            </a:r>
            <a:endParaRPr lang="en-US" sz="820" noProof="1"/>
          </a:p>
        </p:txBody>
      </p:sp>
      <p:sp>
        <p:nvSpPr>
          <p:cNvPr id="14" name="st1-title"/>
          <p:cNvSpPr txBox="1"/>
          <p:nvPr/>
        </p:nvSpPr>
        <p:spPr>
          <a:xfrm>
            <a:off x="1739900" y="2463800"/>
            <a:ext cx="3556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สร้าง wallet ใหม่บน wallet.tempo.xyz</a:t>
            </a:r>
            <a:endParaRPr lang="en-US" sz="1050" noProof="1"/>
          </a:p>
        </p:txBody>
      </p:sp>
      <p:sp>
        <p:nvSpPr>
          <p:cNvPr id="15" name="st1-desc"/>
          <p:cNvSpPr txBox="1"/>
          <p:nvPr/>
        </p:nvSpPr>
        <p:spPr>
          <a:xfrm>
            <a:off x="1143000" y="26924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passkey-based, ไม่ต้อง seed phrase</a:t>
            </a:r>
            <a:endParaRPr lang="en-US" sz="980" noProof="1"/>
          </a:p>
        </p:txBody>
      </p:sp>
      <p:sp>
        <p:nvSpPr>
          <p:cNvPr id="16" name="st2-circle"/>
          <p:cNvSpPr/>
          <p:nvPr/>
        </p:nvSpPr>
        <p:spPr>
          <a:xfrm>
            <a:off x="685800" y="30353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7" name="st2-num"/>
          <p:cNvSpPr txBox="1"/>
          <p:nvPr/>
        </p:nvSpPr>
        <p:spPr>
          <a:xfrm>
            <a:off x="685800" y="30353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8" name="st2-chip"/>
          <p:cNvSpPr/>
          <p:nvPr/>
        </p:nvSpPr>
        <p:spPr>
          <a:xfrm>
            <a:off x="1155700" y="3060700"/>
            <a:ext cx="4572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9" name="st2-chip-text"/>
          <p:cNvSpPr txBox="1"/>
          <p:nvPr/>
        </p:nvSpPr>
        <p:spPr>
          <a:xfrm>
            <a:off x="1155700" y="3060700"/>
            <a:ext cx="457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FUND</a:t>
            </a:r>
            <a:endParaRPr lang="en-US" sz="820" noProof="1"/>
          </a:p>
        </p:txBody>
      </p:sp>
      <p:sp>
        <p:nvSpPr>
          <p:cNvPr id="20" name="st2-title"/>
          <p:cNvSpPr txBox="1"/>
          <p:nvPr/>
        </p:nvSpPr>
        <p:spPr>
          <a:xfrm>
            <a:off x="1663700" y="3060700"/>
            <a:ext cx="254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รับ  USDC</a:t>
            </a:r>
            <a:endParaRPr lang="en-US" sz="1050" noProof="1"/>
          </a:p>
        </p:txBody>
      </p:sp>
      <p:sp>
        <p:nvSpPr>
          <p:cNvPr id="21" name="st2-desc"/>
          <p:cNvSpPr txBox="1"/>
          <p:nvPr/>
        </p:nvSpPr>
        <p:spPr>
          <a:xfrm>
            <a:off x="1143000" y="32893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จาก กระเป๋าสำรองของวิทยากร</a:t>
            </a:r>
            <a:endParaRPr lang="en-US" sz="980" noProof="1"/>
          </a:p>
        </p:txBody>
      </p:sp>
      <p:sp>
        <p:nvSpPr>
          <p:cNvPr id="22" name="st3-circle"/>
          <p:cNvSpPr/>
          <p:nvPr/>
        </p:nvSpPr>
        <p:spPr>
          <a:xfrm>
            <a:off x="685800" y="36322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3" name="st3-num"/>
          <p:cNvSpPr txBox="1"/>
          <p:nvPr/>
        </p:nvSpPr>
        <p:spPr>
          <a:xfrm>
            <a:off x="685800" y="36322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4" name="st3-chip"/>
          <p:cNvSpPr/>
          <p:nvPr/>
        </p:nvSpPr>
        <p:spPr>
          <a:xfrm>
            <a:off x="1155700" y="3657600"/>
            <a:ext cx="4318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5" name="st3-chip-text"/>
          <p:cNvSpPr txBox="1"/>
          <p:nvPr/>
        </p:nvSpPr>
        <p:spPr>
          <a:xfrm>
            <a:off x="1155700" y="3657600"/>
            <a:ext cx="431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TEST</a:t>
            </a:r>
            <a:endParaRPr lang="en-US" sz="820" noProof="1"/>
          </a:p>
        </p:txBody>
      </p:sp>
      <p:sp>
        <p:nvSpPr>
          <p:cNvPr id="26" name="st3-title"/>
          <p:cNvSpPr txBox="1"/>
          <p:nvPr/>
        </p:nvSpPr>
        <p:spPr>
          <a:xfrm>
            <a:off x="1638300" y="3657600"/>
            <a:ext cx="254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ทดสอบส่ง/รับ USDC</a:t>
            </a:r>
            <a:endParaRPr lang="en-US" sz="1050" noProof="1"/>
          </a:p>
        </p:txBody>
      </p:sp>
      <p:sp>
        <p:nvSpPr>
          <p:cNvPr id="27" name="st3-desc"/>
          <p:cNvSpPr txBox="1"/>
          <p:nvPr/>
        </p:nvSpPr>
        <p:spPr>
          <a:xfrm>
            <a:off x="1143000" y="38862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ระหว่างผู้เรียนด้วยกัน</a:t>
            </a:r>
            <a:endParaRPr lang="en-US" sz="980" noProof="1"/>
          </a:p>
        </p:txBody>
      </p:sp>
      <p:sp>
        <p:nvSpPr>
          <p:cNvPr id="28" name="st4-circle"/>
          <p:cNvSpPr/>
          <p:nvPr/>
        </p:nvSpPr>
        <p:spPr>
          <a:xfrm>
            <a:off x="685800" y="42291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9" name="st4-num"/>
          <p:cNvSpPr txBox="1"/>
          <p:nvPr/>
        </p:nvSpPr>
        <p:spPr>
          <a:xfrm>
            <a:off x="685800" y="42291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30" name="st4-chip"/>
          <p:cNvSpPr/>
          <p:nvPr/>
        </p:nvSpPr>
        <p:spPr>
          <a:xfrm>
            <a:off x="1155700" y="4254500"/>
            <a:ext cx="6604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31" name="st4-chip-text"/>
          <p:cNvSpPr txBox="1"/>
          <p:nvPr/>
        </p:nvSpPr>
        <p:spPr>
          <a:xfrm>
            <a:off x="1155700" y="4254500"/>
            <a:ext cx="6604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CONNECT</a:t>
            </a:r>
            <a:endParaRPr lang="en-US" sz="820" noProof="1"/>
          </a:p>
        </p:txBody>
      </p:sp>
      <p:sp>
        <p:nvSpPr>
          <p:cNvPr id="32" name="st4-title"/>
          <p:cNvSpPr txBox="1"/>
          <p:nvPr/>
        </p:nvSpPr>
        <p:spPr>
          <a:xfrm>
            <a:off x="1866900" y="4254500"/>
            <a:ext cx="330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เชื่อม wallet เข้า Agent runtime</a:t>
            </a:r>
            <a:endParaRPr lang="en-US" sz="1050" noProof="1"/>
          </a:p>
        </p:txBody>
      </p:sp>
      <p:sp>
        <p:nvSpPr>
          <p:cNvPr id="33" name="st4-desc"/>
          <p:cNvSpPr txBox="1"/>
          <p:nvPr/>
        </p:nvSpPr>
        <p:spPr>
          <a:xfrm>
            <a:off x="1143000" y="44831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ผ่าน environment variables</a:t>
            </a:r>
            <a:endParaRPr lang="en-US" sz="980" noProof="1"/>
          </a:p>
        </p:txBody>
      </p:sp>
      <p:sp>
        <p:nvSpPr>
          <p:cNvPr id="34" name="note-bar"/>
          <p:cNvSpPr/>
          <p:nvPr/>
        </p:nvSpPr>
        <p:spPr>
          <a:xfrm>
            <a:off x="685800" y="4889500"/>
            <a:ext cx="38100" cy="3556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5" name="note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850900" y="4978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36" name="note-text"/>
          <p:cNvSpPr txBox="1"/>
          <p:nvPr/>
        </p:nvSpPr>
        <p:spPr>
          <a:xfrm>
            <a:off x="1092200" y="4953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CBD5E1"/>
                </a:solidFill>
                <a:latin typeface="Loma"/>
                <a:ea typeface="Loma"/>
              </a:rPr>
              <a:t>ระหว่างรอ Confirmation บน chain ให้วิทยากรอธิบายโครงสร้าง x402 / MPP เพิ่มเติม</a:t>
            </a:r>
            <a:endParaRPr lang="en-US" sz="1200" noProof="1"/>
          </a:p>
        </p:txBody>
      </p:sp>
      <p:pic>
        <p:nvPicPr>
          <p:cNvPr id="37" name="phone-img"/>
          <p:cNvPicPr/>
          <p:nvPr/>
        </p:nvPicPr>
        <p:blipFill>
          <a:blip r:embed="rId3"/>
          <a:srcRect l="43" r="43"/>
          <a:stretch>
            <a:fillRect/>
          </a:stretch>
        </p:blipFill>
        <p:spPr>
          <a:xfrm>
            <a:off x="6781800" y="2095500"/>
            <a:ext cx="4711700" cy="20828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38" name="phone-caption"/>
          <p:cNvSpPr txBox="1"/>
          <p:nvPr/>
        </p:nvSpPr>
        <p:spPr>
          <a:xfrm>
            <a:off x="6781800" y="4229100"/>
            <a:ext cx="4711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94A3B8"/>
                </a:solidFill>
                <a:latin typeface="Loma"/>
                <a:ea typeface="Loma"/>
              </a:rPr>
              <a:t>ตัวอย่าง USDC wallet interface</a:t>
            </a:r>
            <a:endParaRPr lang="en-US" sz="820" noProof="1"/>
          </a:p>
        </p:txBody>
      </p:sp>
      <p:sp>
        <p:nvSpPr>
          <p:cNvPr id="39" name="x402-bg"/>
          <p:cNvSpPr/>
          <p:nvPr/>
        </p:nvSpPr>
        <p:spPr>
          <a:xfrm>
            <a:off x="6781800" y="4546600"/>
            <a:ext cx="2311400" cy="889000"/>
          </a:xfrm>
          <a:prstGeom prst="roundRect">
            <a:avLst>
              <a:gd name="adj" fmla="val 10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40" name="x402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6934200" y="4699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1" name="x402-title"/>
          <p:cNvSpPr txBox="1"/>
          <p:nvPr/>
        </p:nvSpPr>
        <p:spPr>
          <a:xfrm>
            <a:off x="7188200" y="4673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06B6D4"/>
                </a:solidFill>
                <a:latin typeface="Space Grotesk"/>
                <a:ea typeface="Space Grotesk"/>
              </a:rPr>
              <a:t>x402</a:t>
            </a:r>
            <a:endParaRPr lang="en-US" sz="1350" noProof="1"/>
          </a:p>
        </p:txBody>
      </p:sp>
      <p:sp>
        <p:nvSpPr>
          <p:cNvPr id="42" name="x402-url"/>
          <p:cNvSpPr txBox="1"/>
          <p:nvPr/>
        </p:nvSpPr>
        <p:spPr>
          <a:xfrm>
            <a:off x="6934200" y="48895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94A3B8"/>
                </a:solidFill>
                <a:latin typeface="JetBrains Mono"/>
                <a:ea typeface="JetBrains Mono"/>
              </a:rPr>
              <a:t>x402.org</a:t>
            </a:r>
            <a:endParaRPr lang="en-US" sz="750" noProof="1"/>
          </a:p>
        </p:txBody>
      </p:sp>
      <p:sp>
        <p:nvSpPr>
          <p:cNvPr id="43" name="x402-desc"/>
          <p:cNvSpPr txBox="1"/>
          <p:nvPr/>
        </p:nvSpPr>
        <p:spPr>
          <a:xfrm>
            <a:off x="6934200" y="5041900"/>
            <a:ext cx="203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790" noProof="1">
                <a:solidFill>
                  <a:srgbClr val="CBD5E1"/>
                </a:solidFill>
                <a:latin typeface="Loma"/>
                <a:ea typeface="Loma"/>
              </a:rPr>
              <a:t>HTTP 402 turnkey for AI agents (Coinbase)</a:t>
            </a:r>
            <a:endParaRPr lang="en-US" sz="790" noProof="1"/>
          </a:p>
        </p:txBody>
      </p:sp>
      <p:sp>
        <p:nvSpPr>
          <p:cNvPr id="44" name="mpp-bg"/>
          <p:cNvSpPr/>
          <p:nvPr/>
        </p:nvSpPr>
        <p:spPr>
          <a:xfrm>
            <a:off x="9182100" y="4546600"/>
            <a:ext cx="2324100" cy="889000"/>
          </a:xfrm>
          <a:prstGeom prst="roundRect">
            <a:avLst>
              <a:gd name="adj" fmla="val 10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45" name="mpp-icon"/>
          <p:cNvSpPr/>
          <p:nvPr>
            <p:extLst>
              <p:ext uri="{F5677B7D-0D2A-4D9B-9A5C-6D8D7D0E5A5D}">
                <pptd:icon encoding="base64url">eyJpY29uTmFtZSI6ImZhczpjaXJjbGUtbm9kZXMifQ</pptd:icon>
              </p:ext>
            </p:extLst>
          </p:nvPr>
        </p:nvSpPr>
        <p:spPr>
          <a:xfrm>
            <a:off x="9334500" y="4699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8" y="158"/>
                </a:moveTo>
                <a:cubicBezTo>
                  <a:pt x="454" y="150"/>
                  <a:pt x="480" y="118"/>
                  <a:pt x="480" y="80"/>
                </a:cubicBezTo>
                <a:cubicBezTo>
                  <a:pt x="480" y="36"/>
                  <a:pt x="444" y="0"/>
                  <a:pt x="400" y="0"/>
                </a:cubicBezTo>
                <a:cubicBezTo>
                  <a:pt x="357" y="0"/>
                  <a:pt x="321" y="35"/>
                  <a:pt x="320" y="78"/>
                </a:cubicBezTo>
                <a:lnTo>
                  <a:pt x="136" y="151"/>
                </a:lnTo>
                <a:cubicBezTo>
                  <a:pt x="122" y="137"/>
                  <a:pt x="102" y="128"/>
                  <a:pt x="80" y="128"/>
                </a:cubicBezTo>
                <a:cubicBezTo>
                  <a:pt x="36" y="128"/>
                  <a:pt x="0" y="164"/>
                  <a:pt x="0" y="208"/>
                </a:cubicBezTo>
                <a:cubicBezTo>
                  <a:pt x="0" y="252"/>
                  <a:pt x="36" y="288"/>
                  <a:pt x="80" y="288"/>
                </a:cubicBezTo>
                <a:cubicBezTo>
                  <a:pt x="92" y="288"/>
                  <a:pt x="104" y="285"/>
                  <a:pt x="114" y="280"/>
                </a:cubicBezTo>
                <a:lnTo>
                  <a:pt x="260" y="408"/>
                </a:lnTo>
                <a:cubicBezTo>
                  <a:pt x="257" y="415"/>
                  <a:pt x="256" y="424"/>
                  <a:pt x="256" y="432"/>
                </a:cubicBezTo>
                <a:cubicBezTo>
                  <a:pt x="256" y="476"/>
                  <a:pt x="292" y="512"/>
                  <a:pt x="336" y="512"/>
                </a:cubicBezTo>
                <a:cubicBezTo>
                  <a:pt x="380" y="512"/>
                  <a:pt x="416" y="476"/>
                  <a:pt x="416" y="432"/>
                </a:cubicBezTo>
                <a:cubicBezTo>
                  <a:pt x="416" y="404"/>
                  <a:pt x="402" y="380"/>
                  <a:pt x="381" y="366"/>
                </a:cubicBezTo>
                <a:lnTo>
                  <a:pt x="418" y="158"/>
                </a:lnTo>
                <a:close/>
                <a:moveTo>
                  <a:pt x="156" y="232"/>
                </a:moveTo>
                <a:cubicBezTo>
                  <a:pt x="159" y="225"/>
                  <a:pt x="160" y="218"/>
                  <a:pt x="160" y="211"/>
                </a:cubicBezTo>
                <a:lnTo>
                  <a:pt x="344" y="137"/>
                </a:lnTo>
                <a:cubicBezTo>
                  <a:pt x="347" y="141"/>
                  <a:pt x="351" y="144"/>
                  <a:pt x="355" y="147"/>
                </a:cubicBezTo>
                <a:lnTo>
                  <a:pt x="318" y="354"/>
                </a:lnTo>
                <a:cubicBezTo>
                  <a:pt x="312" y="355"/>
                  <a:pt x="307" y="357"/>
                  <a:pt x="302" y="360"/>
                </a:cubicBezTo>
                <a:lnTo>
                  <a:pt x="156" y="232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6" name="mpp-title"/>
          <p:cNvSpPr txBox="1"/>
          <p:nvPr/>
        </p:nvSpPr>
        <p:spPr>
          <a:xfrm>
            <a:off x="9588500" y="4673600"/>
            <a:ext cx="63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A78BFA"/>
                </a:solidFill>
                <a:latin typeface="Space Grotesk"/>
                <a:ea typeface="Space Grotesk"/>
              </a:rPr>
              <a:t>MPP</a:t>
            </a:r>
            <a:endParaRPr lang="en-US" sz="1350" noProof="1"/>
          </a:p>
        </p:txBody>
      </p:sp>
      <p:sp>
        <p:nvSpPr>
          <p:cNvPr id="47" name="mpp-url"/>
          <p:cNvSpPr txBox="1"/>
          <p:nvPr/>
        </p:nvSpPr>
        <p:spPr>
          <a:xfrm>
            <a:off x="9334500" y="48895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94A3B8"/>
                </a:solidFill>
                <a:latin typeface="JetBrains Mono"/>
                <a:ea typeface="JetBrains Mono"/>
              </a:rPr>
              <a:t>mpp.dev</a:t>
            </a:r>
            <a:endParaRPr lang="en-US" sz="750" noProof="1"/>
          </a:p>
        </p:txBody>
      </p:sp>
      <p:sp>
        <p:nvSpPr>
          <p:cNvPr id="48" name="mpp-desc"/>
          <p:cNvSpPr txBox="1"/>
          <p:nvPr/>
        </p:nvSpPr>
        <p:spPr>
          <a:xfrm>
            <a:off x="9334500" y="5041900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790" noProof="1">
                <a:solidFill>
                  <a:srgbClr val="CBD5E1"/>
                </a:solidFill>
                <a:latin typeface="Loma"/>
                <a:ea typeface="Loma"/>
              </a:rPr>
              <a:t>open IETF standard by Tempo × Stripe</a:t>
            </a:r>
            <a:endParaRPr lang="en-US" sz="790" noProof="1"/>
          </a:p>
        </p:txBody>
      </p:sp>
      <p:sp>
        <p:nvSpPr>
          <p:cNvPr id="49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09</a:t>
            </a:r>
            <a:endParaRPr lang="en-US" sz="800" noProof="1"/>
          </a:p>
        </p:txBody>
      </p:sp>
      <p:sp>
        <p:nvSpPr>
          <p:cNvPr id="50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699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PROTOCOL DEEP DIVE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eyJpY29uTmFtZSI6ImZhczphcnJvdy1yaWdodC1hcnJvdy1sZWZ0In0</pptd:icon>
              </p:ext>
            </p:extLst>
          </p:nvPr>
        </p:nvSpPr>
        <p:spPr>
          <a:xfrm>
            <a:off x="10401300" y="49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151"/>
                </a:moveTo>
                <a:lnTo>
                  <a:pt x="407" y="247"/>
                </a:lnTo>
                <a:cubicBezTo>
                  <a:pt x="394" y="259"/>
                  <a:pt x="374" y="259"/>
                  <a:pt x="361" y="247"/>
                </a:cubicBezTo>
                <a:cubicBezTo>
                  <a:pt x="349" y="234"/>
                  <a:pt x="349" y="214"/>
                  <a:pt x="361" y="201"/>
                </a:cubicBezTo>
                <a:lnTo>
                  <a:pt x="403" y="160"/>
                </a:ln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403" y="96"/>
                </a:lnTo>
                <a:lnTo>
                  <a:pt x="361" y="55"/>
                </a:lnTo>
                <a:cubicBezTo>
                  <a:pt x="349" y="42"/>
                  <a:pt x="349" y="22"/>
                  <a:pt x="361" y="9"/>
                </a:cubicBezTo>
                <a:cubicBezTo>
                  <a:pt x="374" y="-3"/>
                  <a:pt x="394" y="-3"/>
                  <a:pt x="407" y="9"/>
                </a:cubicBezTo>
                <a:lnTo>
                  <a:pt x="503" y="105"/>
                </a:lnTo>
                <a:cubicBezTo>
                  <a:pt x="515" y="118"/>
                  <a:pt x="515" y="138"/>
                  <a:pt x="503" y="151"/>
                </a:cubicBezTo>
                <a:close/>
                <a:moveTo>
                  <a:pt x="105" y="503"/>
                </a:moveTo>
                <a:lnTo>
                  <a:pt x="9" y="407"/>
                </a:lnTo>
                <a:cubicBezTo>
                  <a:pt x="-3" y="394"/>
                  <a:pt x="-3" y="374"/>
                  <a:pt x="9" y="361"/>
                </a:cubicBezTo>
                <a:lnTo>
                  <a:pt x="105" y="265"/>
                </a:lnTo>
                <a:cubicBezTo>
                  <a:pt x="118" y="253"/>
                  <a:pt x="138" y="253"/>
                  <a:pt x="151" y="265"/>
                </a:cubicBezTo>
                <a:cubicBezTo>
                  <a:pt x="163" y="278"/>
                  <a:pt x="163" y="298"/>
                  <a:pt x="151" y="311"/>
                </a:cubicBezTo>
                <a:lnTo>
                  <a:pt x="109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cubicBezTo>
                  <a:pt x="512" y="402"/>
                  <a:pt x="498" y="416"/>
                  <a:pt x="480" y="416"/>
                </a:cubicBezTo>
                <a:lnTo>
                  <a:pt x="109" y="416"/>
                </a:lnTo>
                <a:lnTo>
                  <a:pt x="151" y="457"/>
                </a:lnTo>
                <a:cubicBezTo>
                  <a:pt x="163" y="470"/>
                  <a:pt x="163" y="490"/>
                  <a:pt x="151" y="503"/>
                </a:cubicBezTo>
                <a:cubicBezTo>
                  <a:pt x="138" y="515"/>
                  <a:pt x="118" y="515"/>
                  <a:pt x="105" y="50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604500" y="48260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SIDE-BY-SIDE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6985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Space Grotesk"/>
                <a:ea typeface="Space Grotesk"/>
              </a:rPr>
              <a:t>x402</a:t>
            </a:r>
            <a:r>
              <a:rPr lang="en-US" sz="3000" noProof="1" b="1">
                <a:solidFill>
                  <a:srgbClr val="475569"/>
                </a:solidFill>
                <a:latin typeface="Space Grotesk"/>
                <a:ea typeface="Space Grotesk"/>
              </a:rPr>
              <a:t> vs </a:t>
            </a:r>
            <a:r>
              <a:rPr lang="en-US" sz="3000" noProof="1" b="1">
                <a:solidFill>
                  <a:srgbClr val="A78BFA"/>
                </a:solidFill>
                <a:latin typeface="Space Grotesk"/>
                <a:ea typeface="Space Grotesk"/>
              </a:rPr>
              <a:t>MPP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065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สองมาตรฐานการชำระเงินสำหรับ AI agents — เปรียบเทียบก่อนเลือกใช้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536700"/>
            <a:ext cx="533400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8" name="x-bg"/>
          <p:cNvSpPr/>
          <p:nvPr/>
        </p:nvSpPr>
        <p:spPr>
          <a:xfrm>
            <a:off x="685800" y="1879600"/>
            <a:ext cx="5257800" cy="38735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9" name="x-top"/>
          <p:cNvSpPr/>
          <p:nvPr/>
        </p:nvSpPr>
        <p:spPr>
          <a:xfrm>
            <a:off x="762000" y="1879600"/>
            <a:ext cx="51054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x-badge"/>
          <p:cNvSpPr/>
          <p:nvPr/>
        </p:nvSpPr>
        <p:spPr>
          <a:xfrm>
            <a:off x="927100" y="2133600"/>
            <a:ext cx="711200" cy="330200"/>
          </a:xfrm>
          <a:prstGeom prst="roundRect">
            <a:avLst>
              <a:gd name="adj" fmla="val 20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11" name="x-badge-text"/>
          <p:cNvSpPr txBox="1"/>
          <p:nvPr/>
        </p:nvSpPr>
        <p:spPr>
          <a:xfrm>
            <a:off x="927100" y="2133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50" noProof="1" b="1">
                <a:solidFill>
                  <a:srgbClr val="06B6D4"/>
                </a:solidFill>
                <a:latin typeface="JetBrains Mono"/>
                <a:ea typeface="JetBrains Mono"/>
              </a:rPr>
              <a:t>x402</a:t>
            </a:r>
            <a:endParaRPr lang="en-US" sz="1350" noProof="1"/>
          </a:p>
        </p:txBody>
      </p:sp>
      <p:sp>
        <p:nvSpPr>
          <p:cNvPr id="12" name="x-bolt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1727200" y="223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3" name="x-meta"/>
          <p:cNvSpPr txBox="1"/>
          <p:nvPr/>
        </p:nvSpPr>
        <p:spPr>
          <a:xfrm>
            <a:off x="927100" y="26035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94A3B8"/>
                </a:solidFill>
                <a:latin typeface="JetBrains Mono"/>
                <a:ea typeface="JetBrains Mono"/>
              </a:rPr>
              <a:t>Coinbase · x402.org · 2025</a:t>
            </a:r>
            <a:endParaRPr lang="en-US" sz="900" noProof="1"/>
          </a:p>
        </p:txBody>
      </p:sp>
      <p:sp>
        <p:nvSpPr>
          <p:cNvPr id="14" name="x-desc-bg"/>
          <p:cNvSpPr/>
          <p:nvPr/>
        </p:nvSpPr>
        <p:spPr>
          <a:xfrm>
            <a:off x="838200" y="2870200"/>
            <a:ext cx="4851400" cy="431800"/>
          </a:xfrm>
          <a:prstGeom prst="roundRect">
            <a:avLst>
              <a:gd name="adj" fmla="val 12000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15" name="x-desc"/>
          <p:cNvSpPr txBox="1"/>
          <p:nvPr/>
        </p:nvSpPr>
        <p:spPr>
          <a:xfrm>
            <a:off x="889000" y="2870200"/>
            <a:ext cx="4749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Payment protocol สำหรับ AI agents ที่ใช้ stablecoin โดยตรงผ่าน HTTP 402</a:t>
            </a:r>
            <a:endParaRPr lang="en-US" sz="1010" noProof="1"/>
          </a:p>
        </p:txBody>
      </p:sp>
      <p:sp>
        <p:nvSpPr>
          <p:cNvPr id="16" name="x-r1-label"/>
          <p:cNvSpPr txBox="1"/>
          <p:nvPr/>
        </p:nvSpPr>
        <p:spPr>
          <a:xfrm>
            <a:off x="927100" y="34798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ORIGIN</a:t>
            </a:r>
            <a:endParaRPr lang="en-US" sz="820" noProof="1"/>
          </a:p>
        </p:txBody>
      </p:sp>
      <p:sp>
        <p:nvSpPr>
          <p:cNvPr id="17" name="x-r1-value"/>
          <p:cNvSpPr txBox="1"/>
          <p:nvPr/>
        </p:nvSpPr>
        <p:spPr>
          <a:xfrm>
            <a:off x="1778000" y="34671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Coinbase (May 2025)</a:t>
            </a:r>
            <a:endParaRPr lang="en-US" sz="980" noProof="1"/>
          </a:p>
        </p:txBody>
      </p:sp>
      <p:sp>
        <p:nvSpPr>
          <p:cNvPr id="18" name="x-div1"/>
          <p:cNvSpPr/>
          <p:nvPr/>
        </p:nvSpPr>
        <p:spPr>
          <a:xfrm>
            <a:off x="927100" y="37211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19" name="x-r2-label"/>
          <p:cNvSpPr txBox="1"/>
          <p:nvPr/>
        </p:nvSpPr>
        <p:spPr>
          <a:xfrm>
            <a:off x="927100" y="37973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CURRENCY</a:t>
            </a:r>
            <a:endParaRPr lang="en-US" sz="820" noProof="1"/>
          </a:p>
        </p:txBody>
      </p:sp>
      <p:sp>
        <p:nvSpPr>
          <p:cNvPr id="20" name="x-r2-value"/>
          <p:cNvSpPr txBox="1"/>
          <p:nvPr/>
        </p:nvSpPr>
        <p:spPr>
          <a:xfrm>
            <a:off x="1778000" y="3784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USDC</a:t>
            </a:r>
            <a:r>
              <a:rPr lang="en-US" sz="980" noProof="1">
                <a:solidFill>
                  <a:srgbClr val="94A3B8"/>
                </a:solidFill>
                <a:latin typeface="Space Grotesk"/>
                <a:ea typeface="Space Grotesk"/>
              </a:rPr>
              <a:t> (stablecoin-native)</a:t>
            </a:r>
            <a:endParaRPr lang="en-US" sz="980" noProof="1"/>
          </a:p>
        </p:txBody>
      </p:sp>
      <p:sp>
        <p:nvSpPr>
          <p:cNvPr id="21" name="x-div2"/>
          <p:cNvSpPr/>
          <p:nvPr/>
        </p:nvSpPr>
        <p:spPr>
          <a:xfrm>
            <a:off x="927100" y="40386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22" name="x-r3-label"/>
          <p:cNvSpPr txBox="1"/>
          <p:nvPr/>
        </p:nvSpPr>
        <p:spPr>
          <a:xfrm>
            <a:off x="927100" y="41148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NETWORK</a:t>
            </a:r>
            <a:endParaRPr lang="en-US" sz="820" noProof="1"/>
          </a:p>
        </p:txBody>
      </p:sp>
      <p:sp>
        <p:nvSpPr>
          <p:cNvPr id="23" name="x-r3-value"/>
          <p:cNvSpPr txBox="1"/>
          <p:nvPr/>
        </p:nvSpPr>
        <p:spPr>
          <a:xfrm>
            <a:off x="1778000" y="41021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Base / Ethereum L2</a:t>
            </a:r>
            <a:endParaRPr lang="en-US" sz="980" noProof="1"/>
          </a:p>
        </p:txBody>
      </p:sp>
      <p:sp>
        <p:nvSpPr>
          <p:cNvPr id="24" name="x-div3"/>
          <p:cNvSpPr/>
          <p:nvPr/>
        </p:nvSpPr>
        <p:spPr>
          <a:xfrm>
            <a:off x="927100" y="43561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25" name="x-r4-label"/>
          <p:cNvSpPr txBox="1"/>
          <p:nvPr/>
        </p:nvSpPr>
        <p:spPr>
          <a:xfrm>
            <a:off x="927100" y="4445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FLOW</a:t>
            </a:r>
            <a:endParaRPr lang="en-US" sz="820" noProof="1"/>
          </a:p>
        </p:txBody>
      </p:sp>
      <p:sp>
        <p:nvSpPr>
          <p:cNvPr id="26" name="x-r4-value"/>
          <p:cNvSpPr txBox="1"/>
          <p:nvPr/>
        </p:nvSpPr>
        <p:spPr>
          <a:xfrm>
            <a:off x="1778000" y="44323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402 challenge → pay → retry → 200 + receipt</a:t>
            </a:r>
            <a:endParaRPr lang="en-US" sz="980" noProof="1"/>
          </a:p>
        </p:txBody>
      </p:sp>
      <p:sp>
        <p:nvSpPr>
          <p:cNvPr id="27" name="x-div4"/>
          <p:cNvSpPr/>
          <p:nvPr/>
        </p:nvSpPr>
        <p:spPr>
          <a:xfrm>
            <a:off x="927100" y="50546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28" name="x-uc-label"/>
          <p:cNvSpPr txBox="1"/>
          <p:nvPr/>
        </p:nvSpPr>
        <p:spPr>
          <a:xfrm>
            <a:off x="927100" y="5245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USE CASE</a:t>
            </a:r>
            <a:endParaRPr lang="en-US" sz="750" noProof="1"/>
          </a:p>
        </p:txBody>
      </p:sp>
      <p:sp>
        <p:nvSpPr>
          <p:cNvPr id="29" name="x-uc"/>
          <p:cNvSpPr txBox="1"/>
          <p:nvPr/>
        </p:nvSpPr>
        <p:spPr>
          <a:xfrm>
            <a:off x="914400" y="5397500"/>
            <a:ext cx="457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เหมาะกับ API ที่ต้องการ micropayment แบบ stablecoin-native</a:t>
            </a:r>
            <a:endParaRPr lang="en-US" sz="940" noProof="1"/>
          </a:p>
        </p:txBody>
      </p:sp>
      <p:sp>
        <p:nvSpPr>
          <p:cNvPr id="30" name="m-bg"/>
          <p:cNvSpPr/>
          <p:nvPr/>
        </p:nvSpPr>
        <p:spPr>
          <a:xfrm>
            <a:off x="6248400" y="1879600"/>
            <a:ext cx="5257800" cy="38735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31" name="m-top"/>
          <p:cNvSpPr/>
          <p:nvPr/>
        </p:nvSpPr>
        <p:spPr>
          <a:xfrm>
            <a:off x="6324600" y="1879600"/>
            <a:ext cx="51054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m-badge"/>
          <p:cNvSpPr/>
          <p:nvPr/>
        </p:nvSpPr>
        <p:spPr>
          <a:xfrm>
            <a:off x="6489700" y="2133600"/>
            <a:ext cx="711200" cy="330200"/>
          </a:xfrm>
          <a:prstGeom prst="roundRect">
            <a:avLst>
              <a:gd name="adj" fmla="val 20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33" name="m-badge-text"/>
          <p:cNvSpPr txBox="1"/>
          <p:nvPr/>
        </p:nvSpPr>
        <p:spPr>
          <a:xfrm>
            <a:off x="6489700" y="2133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50" noProof="1" b="1">
                <a:solidFill>
                  <a:srgbClr val="A78BFA"/>
                </a:solidFill>
                <a:latin typeface="JetBrains Mono"/>
                <a:ea typeface="JetBrains Mono"/>
              </a:rPr>
              <a:t>MPP</a:t>
            </a:r>
            <a:endParaRPr lang="en-US" sz="1350" noProof="1"/>
          </a:p>
        </p:txBody>
      </p:sp>
      <p:sp>
        <p:nvSpPr>
          <p:cNvPr id="34" name="m-hub"/>
          <p:cNvSpPr/>
          <p:nvPr>
            <p:extLst>
              <p:ext uri="{F5677B7D-0D2A-4D9B-9A5C-6D8D7D0E5A5D}">
                <pptd:icon encoding="base64url">eyJpY29uTmFtZSI6ImZhczpjaXJjbGUtbm9kZXMifQ</pptd:icon>
              </p:ext>
            </p:extLst>
          </p:nvPr>
        </p:nvSpPr>
        <p:spPr>
          <a:xfrm>
            <a:off x="7289800" y="223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8" y="158"/>
                </a:moveTo>
                <a:cubicBezTo>
                  <a:pt x="454" y="150"/>
                  <a:pt x="480" y="118"/>
                  <a:pt x="480" y="80"/>
                </a:cubicBezTo>
                <a:cubicBezTo>
                  <a:pt x="480" y="36"/>
                  <a:pt x="444" y="0"/>
                  <a:pt x="400" y="0"/>
                </a:cubicBezTo>
                <a:cubicBezTo>
                  <a:pt x="357" y="0"/>
                  <a:pt x="321" y="35"/>
                  <a:pt x="320" y="78"/>
                </a:cubicBezTo>
                <a:lnTo>
                  <a:pt x="136" y="151"/>
                </a:lnTo>
                <a:cubicBezTo>
                  <a:pt x="122" y="137"/>
                  <a:pt x="102" y="128"/>
                  <a:pt x="80" y="128"/>
                </a:cubicBezTo>
                <a:cubicBezTo>
                  <a:pt x="36" y="128"/>
                  <a:pt x="0" y="164"/>
                  <a:pt x="0" y="208"/>
                </a:cubicBezTo>
                <a:cubicBezTo>
                  <a:pt x="0" y="252"/>
                  <a:pt x="36" y="288"/>
                  <a:pt x="80" y="288"/>
                </a:cubicBezTo>
                <a:cubicBezTo>
                  <a:pt x="92" y="288"/>
                  <a:pt x="104" y="285"/>
                  <a:pt x="114" y="280"/>
                </a:cubicBezTo>
                <a:lnTo>
                  <a:pt x="260" y="408"/>
                </a:lnTo>
                <a:cubicBezTo>
                  <a:pt x="257" y="415"/>
                  <a:pt x="256" y="424"/>
                  <a:pt x="256" y="432"/>
                </a:cubicBezTo>
                <a:cubicBezTo>
                  <a:pt x="256" y="476"/>
                  <a:pt x="292" y="512"/>
                  <a:pt x="336" y="512"/>
                </a:cubicBezTo>
                <a:cubicBezTo>
                  <a:pt x="380" y="512"/>
                  <a:pt x="416" y="476"/>
                  <a:pt x="416" y="432"/>
                </a:cubicBezTo>
                <a:cubicBezTo>
                  <a:pt x="416" y="404"/>
                  <a:pt x="402" y="380"/>
                  <a:pt x="381" y="366"/>
                </a:cubicBezTo>
                <a:lnTo>
                  <a:pt x="418" y="158"/>
                </a:lnTo>
                <a:close/>
                <a:moveTo>
                  <a:pt x="156" y="232"/>
                </a:moveTo>
                <a:cubicBezTo>
                  <a:pt x="159" y="225"/>
                  <a:pt x="160" y="218"/>
                  <a:pt x="160" y="211"/>
                </a:cubicBezTo>
                <a:lnTo>
                  <a:pt x="344" y="137"/>
                </a:lnTo>
                <a:cubicBezTo>
                  <a:pt x="347" y="141"/>
                  <a:pt x="351" y="144"/>
                  <a:pt x="355" y="147"/>
                </a:cubicBezTo>
                <a:lnTo>
                  <a:pt x="318" y="354"/>
                </a:lnTo>
                <a:cubicBezTo>
                  <a:pt x="312" y="355"/>
                  <a:pt x="307" y="357"/>
                  <a:pt x="302" y="360"/>
                </a:cubicBezTo>
                <a:lnTo>
                  <a:pt x="156" y="232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35" name="m-meta"/>
          <p:cNvSpPr txBox="1"/>
          <p:nvPr/>
        </p:nvSpPr>
        <p:spPr>
          <a:xfrm>
            <a:off x="6489700" y="26035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94A3B8"/>
                </a:solidFill>
                <a:latin typeface="JetBrains Mono"/>
                <a:ea typeface="JetBrains Mono"/>
              </a:rPr>
              <a:t>Tempo × Stripe · mpp.dev · IETF draft</a:t>
            </a:r>
            <a:endParaRPr lang="en-US" sz="900" noProof="1"/>
          </a:p>
        </p:txBody>
      </p:sp>
      <p:sp>
        <p:nvSpPr>
          <p:cNvPr id="36" name="m-desc-bg"/>
          <p:cNvSpPr/>
          <p:nvPr/>
        </p:nvSpPr>
        <p:spPr>
          <a:xfrm>
            <a:off x="6400800" y="2870200"/>
            <a:ext cx="4851400" cy="635000"/>
          </a:xfrm>
          <a:prstGeom prst="roundRect">
            <a:avLst>
              <a:gd name="adj" fmla="val 10000"/>
            </a:avLst>
          </a:prstGeom>
          <a:solidFill>
            <a:srgbClr val="0E1729"/>
          </a:solidFill>
          <a:ln>
            <a:noFill/>
          </a:ln>
        </p:spPr>
      </p:sp>
      <p:sp>
        <p:nvSpPr>
          <p:cNvPr id="37" name="m-desc"/>
          <p:cNvSpPr txBox="1"/>
          <p:nvPr/>
        </p:nvSpPr>
        <p:spPr>
          <a:xfrm>
            <a:off x="6502400" y="2870200"/>
            <a:ext cx="4648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Open IETF standard สำหรับ machine-to-machine payments, payment-method agnostic</a:t>
            </a:r>
            <a:endParaRPr lang="en-US" sz="1010" noProof="1"/>
          </a:p>
        </p:txBody>
      </p:sp>
      <p:sp>
        <p:nvSpPr>
          <p:cNvPr id="38" name="m-r1-label"/>
          <p:cNvSpPr txBox="1"/>
          <p:nvPr/>
        </p:nvSpPr>
        <p:spPr>
          <a:xfrm>
            <a:off x="6489700" y="3683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ORIGIN</a:t>
            </a:r>
            <a:endParaRPr lang="en-US" sz="820" noProof="1"/>
          </a:p>
        </p:txBody>
      </p:sp>
      <p:sp>
        <p:nvSpPr>
          <p:cNvPr id="39" name="m-r1-value"/>
          <p:cNvSpPr txBox="1"/>
          <p:nvPr/>
        </p:nvSpPr>
        <p:spPr>
          <a:xfrm>
            <a:off x="7353300" y="36703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Tempo × Stripe (2025)</a:t>
            </a:r>
            <a:endParaRPr lang="en-US" sz="980" noProof="1"/>
          </a:p>
        </p:txBody>
      </p:sp>
      <p:sp>
        <p:nvSpPr>
          <p:cNvPr id="40" name="m-div1"/>
          <p:cNvSpPr/>
          <p:nvPr/>
        </p:nvSpPr>
        <p:spPr>
          <a:xfrm>
            <a:off x="6489700" y="39243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1" name="m-r2-label"/>
          <p:cNvSpPr txBox="1"/>
          <p:nvPr/>
        </p:nvSpPr>
        <p:spPr>
          <a:xfrm>
            <a:off x="6489700" y="40005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CURRENCY</a:t>
            </a:r>
            <a:endParaRPr lang="en-US" sz="820" noProof="1"/>
          </a:p>
        </p:txBody>
      </p:sp>
      <p:sp>
        <p:nvSpPr>
          <p:cNvPr id="42" name="m-r2-value"/>
          <p:cNvSpPr txBox="1"/>
          <p:nvPr/>
        </p:nvSpPr>
        <p:spPr>
          <a:xfrm>
            <a:off x="7353300" y="3987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Any</a:t>
            </a:r>
            <a:r>
              <a:rPr lang="en-US" sz="980" noProof="1">
                <a:solidFill>
                  <a:srgbClr val="94A3B8"/>
                </a:solidFill>
                <a:latin typeface="Space Grotesk"/>
                <a:ea typeface="Space Grotesk"/>
              </a:rPr>
              <a:t> (stablecoins, cards, bank)</a:t>
            </a:r>
            <a:endParaRPr lang="en-US" sz="980" noProof="1"/>
          </a:p>
        </p:txBody>
      </p:sp>
      <p:sp>
        <p:nvSpPr>
          <p:cNvPr id="43" name="m-div2"/>
          <p:cNvSpPr/>
          <p:nvPr/>
        </p:nvSpPr>
        <p:spPr>
          <a:xfrm>
            <a:off x="6489700" y="42418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4" name="m-r3-label"/>
          <p:cNvSpPr txBox="1"/>
          <p:nvPr/>
        </p:nvSpPr>
        <p:spPr>
          <a:xfrm>
            <a:off x="6489700" y="431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NETWORK</a:t>
            </a:r>
            <a:endParaRPr lang="en-US" sz="820" noProof="1"/>
          </a:p>
        </p:txBody>
      </p:sp>
      <p:sp>
        <p:nvSpPr>
          <p:cNvPr id="45" name="m-r3-value"/>
          <p:cNvSpPr txBox="1"/>
          <p:nvPr/>
        </p:nvSpPr>
        <p:spPr>
          <a:xfrm>
            <a:off x="7353300" y="43053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Method-agnostic</a:t>
            </a:r>
            <a:endParaRPr lang="en-US" sz="980" noProof="1"/>
          </a:p>
        </p:txBody>
      </p:sp>
      <p:sp>
        <p:nvSpPr>
          <p:cNvPr id="46" name="m-div3"/>
          <p:cNvSpPr/>
          <p:nvPr/>
        </p:nvSpPr>
        <p:spPr>
          <a:xfrm>
            <a:off x="6489700" y="45593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7" name="m-r4-label"/>
          <p:cNvSpPr txBox="1"/>
          <p:nvPr/>
        </p:nvSpPr>
        <p:spPr>
          <a:xfrm>
            <a:off x="6489700" y="46482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100" kern="0">
                <a:solidFill>
                  <a:srgbClr val="94A3B8"/>
                </a:solidFill>
                <a:latin typeface="JetBrains Mono"/>
                <a:ea typeface="JetBrains Mono"/>
              </a:rPr>
              <a:t>FLOW</a:t>
            </a:r>
            <a:endParaRPr lang="en-US" sz="820" noProof="1"/>
          </a:p>
        </p:txBody>
      </p:sp>
      <p:sp>
        <p:nvSpPr>
          <p:cNvPr id="48" name="m-r4-value"/>
          <p:cNvSpPr txBox="1"/>
          <p:nvPr/>
        </p:nvSpPr>
        <p:spPr>
          <a:xfrm>
            <a:off x="7353300" y="46355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F1F5F9"/>
                </a:solidFill>
                <a:latin typeface="Space Grotesk"/>
                <a:ea typeface="Space Grotesk"/>
              </a:rPr>
              <a:t>Same Challenge → Credential → Receipt</a:t>
            </a:r>
            <a:endParaRPr lang="en-US" sz="980" noProof="1"/>
          </a:p>
        </p:txBody>
      </p:sp>
      <p:sp>
        <p:nvSpPr>
          <p:cNvPr id="49" name="m-div4"/>
          <p:cNvSpPr/>
          <p:nvPr/>
        </p:nvSpPr>
        <p:spPr>
          <a:xfrm>
            <a:off x="6489700" y="5054600"/>
            <a:ext cx="47625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50" name="m-uc-label"/>
          <p:cNvSpPr txBox="1"/>
          <p:nvPr/>
        </p:nvSpPr>
        <p:spPr>
          <a:xfrm>
            <a:off x="6489700" y="52451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250" kern="0">
                <a:solidFill>
                  <a:srgbClr val="64748B"/>
                </a:solidFill>
                <a:latin typeface="JetBrains Mono"/>
                <a:ea typeface="JetBrains Mono"/>
              </a:rPr>
              <a:t>USE CASE</a:t>
            </a:r>
            <a:endParaRPr lang="en-US" sz="750" noProof="1"/>
          </a:p>
        </p:txBody>
      </p:sp>
      <p:sp>
        <p:nvSpPr>
          <p:cNvPr id="51" name="m-uc"/>
          <p:cNvSpPr txBox="1"/>
          <p:nvPr/>
        </p:nvSpPr>
        <p:spPr>
          <a:xfrm>
            <a:off x="6477000" y="5397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เหมาะกับระบบที่ต้องการ multiple payment methods + multi-currency</a:t>
            </a:r>
            <a:endParaRPr lang="en-US" sz="940" noProof="1"/>
          </a:p>
        </p:txBody>
      </p:sp>
      <p:sp>
        <p:nvSpPr>
          <p:cNvPr id="52" name="shared-bg"/>
          <p:cNvSpPr/>
          <p:nvPr/>
        </p:nvSpPr>
        <p:spPr>
          <a:xfrm>
            <a:off x="685800" y="5816600"/>
            <a:ext cx="10820400" cy="457200"/>
          </a:xfrm>
          <a:prstGeom prst="roundRect">
            <a:avLst>
              <a:gd name="adj" fmla="val 24000"/>
            </a:avLst>
          </a:prstGeom>
          <a:solidFill>
            <a:srgbClr val="182138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53" name="shared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850900" y="59563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54" name="shared-label"/>
          <p:cNvSpPr txBox="1"/>
          <p:nvPr/>
        </p:nvSpPr>
        <p:spPr>
          <a:xfrm>
            <a:off x="1079500" y="5930900"/>
            <a:ext cx="177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SHARED CONCEPTS</a:t>
            </a:r>
            <a:endParaRPr lang="en-US" sz="1050" noProof="1"/>
          </a:p>
        </p:txBody>
      </p:sp>
      <p:sp>
        <p:nvSpPr>
          <p:cNvPr id="55" name="sc1"/>
          <p:cNvSpPr/>
          <p:nvPr/>
        </p:nvSpPr>
        <p:spPr>
          <a:xfrm>
            <a:off x="5727700" y="5880100"/>
            <a:ext cx="1473200" cy="3302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56" name="sc1-text"/>
          <p:cNvSpPr txBox="1"/>
          <p:nvPr/>
        </p:nvSpPr>
        <p:spPr>
          <a:xfrm>
            <a:off x="5727700" y="58801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06B6D4"/>
                </a:solidFill>
                <a:latin typeface="JetBrains Mono"/>
                <a:ea typeface="JetBrains Mono"/>
              </a:rPr>
              <a:t>HTTP </a:t>
            </a:r>
            <a:r>
              <a:rPr lang="en-US" sz="900" noProof="1">
                <a:solidFill>
                  <a:srgbClr val="CBD5E1"/>
                </a:solidFill>
                <a:latin typeface="JetBrains Mono"/>
                <a:ea typeface="JetBrains Mono"/>
              </a:rPr>
              <a:t>402 status code</a:t>
            </a:r>
            <a:endParaRPr lang="en-US" sz="900" noProof="1"/>
          </a:p>
        </p:txBody>
      </p:sp>
      <p:sp>
        <p:nvSpPr>
          <p:cNvPr id="57" name="sc2"/>
          <p:cNvSpPr/>
          <p:nvPr/>
        </p:nvSpPr>
        <p:spPr>
          <a:xfrm>
            <a:off x="7315200" y="5880100"/>
            <a:ext cx="1879600" cy="3302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58" name="sc2-icon"/>
          <p:cNvSpPr/>
          <p:nvPr>
            <p:extLst>
              <p:ext uri="{F5677B7D-0D2A-4D9B-9A5C-6D8D7D0E5A5D}">
                <pptd:icon encoding="base64url">eyJpY29uTmFtZSI6ImZhczpyaWdodC1sZWZ0In0</pptd:icon>
              </p:ext>
            </p:extLst>
          </p:nvPr>
        </p:nvSpPr>
        <p:spPr>
          <a:xfrm>
            <a:off x="7467600" y="59690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151"/>
                </a:moveTo>
                <a:lnTo>
                  <a:pt x="407" y="247"/>
                </a:lnTo>
                <a:cubicBezTo>
                  <a:pt x="397" y="256"/>
                  <a:pt x="384" y="259"/>
                  <a:pt x="372" y="254"/>
                </a:cubicBezTo>
                <a:cubicBezTo>
                  <a:pt x="360" y="249"/>
                  <a:pt x="352" y="237"/>
                  <a:pt x="352" y="224"/>
                </a:cubicBezTo>
                <a:lnTo>
                  <a:pt x="352" y="160"/>
                </a:lnTo>
                <a:lnTo>
                  <a:pt x="32" y="160"/>
                </a:lnTo>
                <a:cubicBezTo>
                  <a:pt x="14" y="160"/>
                  <a:pt x="0" y="146"/>
                  <a:pt x="0" y="128"/>
                </a:cubicBezTo>
                <a:cubicBezTo>
                  <a:pt x="0" y="110"/>
                  <a:pt x="14" y="96"/>
                  <a:pt x="32" y="96"/>
                </a:cubicBezTo>
                <a:lnTo>
                  <a:pt x="352" y="96"/>
                </a:lnTo>
                <a:lnTo>
                  <a:pt x="352" y="32"/>
                </a:lnTo>
                <a:cubicBezTo>
                  <a:pt x="352" y="19"/>
                  <a:pt x="360" y="7"/>
                  <a:pt x="372" y="2"/>
                </a:cubicBezTo>
                <a:cubicBezTo>
                  <a:pt x="384" y="-3"/>
                  <a:pt x="398" y="0"/>
                  <a:pt x="407" y="9"/>
                </a:cubicBezTo>
                <a:lnTo>
                  <a:pt x="503" y="105"/>
                </a:lnTo>
                <a:cubicBezTo>
                  <a:pt x="515" y="118"/>
                  <a:pt x="515" y="138"/>
                  <a:pt x="503" y="151"/>
                </a:cubicBezTo>
                <a:close/>
                <a:moveTo>
                  <a:pt x="105" y="503"/>
                </a:moveTo>
                <a:lnTo>
                  <a:pt x="9" y="407"/>
                </a:lnTo>
                <a:cubicBezTo>
                  <a:pt x="-3" y="394"/>
                  <a:pt x="-3" y="374"/>
                  <a:pt x="9" y="361"/>
                </a:cubicBezTo>
                <a:lnTo>
                  <a:pt x="105" y="265"/>
                </a:lnTo>
                <a:cubicBezTo>
                  <a:pt x="115" y="256"/>
                  <a:pt x="128" y="253"/>
                  <a:pt x="140" y="258"/>
                </a:cubicBezTo>
                <a:cubicBezTo>
                  <a:pt x="152" y="263"/>
                  <a:pt x="160" y="275"/>
                  <a:pt x="160" y="288"/>
                </a:cubicBezTo>
                <a:lnTo>
                  <a:pt x="160" y="352"/>
                </a:lnTo>
                <a:lnTo>
                  <a:pt x="480" y="352"/>
                </a:lnTo>
                <a:cubicBezTo>
                  <a:pt x="498" y="352"/>
                  <a:pt x="512" y="366"/>
                  <a:pt x="512" y="384"/>
                </a:cubicBezTo>
                <a:cubicBezTo>
                  <a:pt x="512" y="402"/>
                  <a:pt x="498" y="416"/>
                  <a:pt x="480" y="416"/>
                </a:cubicBezTo>
                <a:lnTo>
                  <a:pt x="160" y="416"/>
                </a:lnTo>
                <a:lnTo>
                  <a:pt x="160" y="480"/>
                </a:lnTo>
                <a:cubicBezTo>
                  <a:pt x="160" y="493"/>
                  <a:pt x="152" y="505"/>
                  <a:pt x="140" y="510"/>
                </a:cubicBezTo>
                <a:cubicBezTo>
                  <a:pt x="128" y="515"/>
                  <a:pt x="114" y="512"/>
                  <a:pt x="105" y="503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59" name="sc2-text"/>
          <p:cNvSpPr txBox="1"/>
          <p:nvPr/>
        </p:nvSpPr>
        <p:spPr>
          <a:xfrm>
            <a:off x="7658100" y="5880100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CBD5E1"/>
                </a:solidFill>
                <a:latin typeface="JetBrains Mono"/>
                <a:ea typeface="JetBrains Mono"/>
              </a:rPr>
              <a:t>Single HTTP round-trip</a:t>
            </a:r>
            <a:endParaRPr lang="en-US" sz="900" noProof="1"/>
          </a:p>
        </p:txBody>
      </p:sp>
      <p:sp>
        <p:nvSpPr>
          <p:cNvPr id="60" name="sc3"/>
          <p:cNvSpPr/>
          <p:nvPr/>
        </p:nvSpPr>
        <p:spPr>
          <a:xfrm>
            <a:off x="9372600" y="5880100"/>
            <a:ext cx="1930400" cy="3302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61" name="sc3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9525000" y="59690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62" name="sc3-text"/>
          <p:cNvSpPr txBox="1"/>
          <p:nvPr/>
        </p:nvSpPr>
        <p:spPr>
          <a:xfrm>
            <a:off x="9715500" y="58801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CBD5E1"/>
                </a:solidFill>
                <a:latin typeface="JetBrains Mono"/>
                <a:ea typeface="JetBrains Mono"/>
              </a:rPr>
              <a:t>Cryptographic receipts</a:t>
            </a:r>
            <a:endParaRPr lang="en-US" sz="900" noProof="1"/>
          </a:p>
        </p:txBody>
      </p:sp>
      <p:sp>
        <p:nvSpPr>
          <p:cNvPr id="63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10</a:t>
            </a:r>
            <a:endParaRPr lang="en-US" sz="800" noProof="1"/>
          </a:p>
        </p:txBody>
      </p:sp>
      <p:sp>
        <p:nvSpPr>
          <p:cNvPr id="64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203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MODULE 2.2 · 20 MIN</a:t>
            </a:r>
            <a:endParaRPr lang="en-US" sz="850" noProof="1"/>
          </a:p>
        </p:txBody>
      </p:sp>
      <p:sp>
        <p:nvSpPr>
          <p:cNvPr id="3" name="section-icon"/>
          <p:cNvSpPr/>
          <p:nvPr>
            <p:extLst>
              <p:ext uri="{F5677B7D-0D2A-4D9B-9A5C-6D8D7D0E5A5D}">
                <pptd:icon encoding="base64url">eyJpY29uTmFtZSI6ImZhczpiYWctc2hvcHBpbmcifQ</pptd:icon>
              </p:ext>
            </p:extLst>
          </p:nvPr>
        </p:nvSpPr>
        <p:spPr>
          <a:xfrm>
            <a:off x="100203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12" y="128"/>
                </a:moveTo>
                <a:lnTo>
                  <a:pt x="48" y="128"/>
                </a:lnTo>
                <a:cubicBezTo>
                  <a:pt x="22" y="128"/>
                  <a:pt x="0" y="150"/>
                  <a:pt x="0" y="176"/>
                </a:cubicBezTo>
                <a:lnTo>
                  <a:pt x="0" y="384"/>
                </a:lnTo>
                <a:cubicBezTo>
                  <a:pt x="0" y="437"/>
                  <a:pt x="43" y="480"/>
                  <a:pt x="96" y="480"/>
                </a:cubicBezTo>
                <a:lnTo>
                  <a:pt x="352" y="480"/>
                </a:lnTo>
                <a:cubicBezTo>
                  <a:pt x="405" y="480"/>
                  <a:pt x="448" y="437"/>
                  <a:pt x="448" y="384"/>
                </a:cubicBezTo>
                <a:lnTo>
                  <a:pt x="448" y="176"/>
                </a:lnTo>
                <a:cubicBezTo>
                  <a:pt x="448" y="150"/>
                  <a:pt x="427" y="128"/>
                  <a:pt x="400" y="128"/>
                </a:cubicBezTo>
                <a:lnTo>
                  <a:pt x="336" y="128"/>
                </a:lnTo>
                <a:lnTo>
                  <a:pt x="336" y="80"/>
                </a:lnTo>
                <a:cubicBezTo>
                  <a:pt x="336" y="18"/>
                  <a:pt x="286" y="-32"/>
                  <a:pt x="224" y="-32"/>
                </a:cubicBezTo>
                <a:cubicBezTo>
                  <a:pt x="162" y="-32"/>
                  <a:pt x="112" y="18"/>
                  <a:pt x="112" y="80"/>
                </a:cubicBezTo>
                <a:lnTo>
                  <a:pt x="112" y="128"/>
                </a:lnTo>
                <a:close/>
                <a:moveTo>
                  <a:pt x="160" y="80"/>
                </a:moveTo>
                <a:cubicBezTo>
                  <a:pt x="160" y="45"/>
                  <a:pt x="189" y="16"/>
                  <a:pt x="224" y="16"/>
                </a:cubicBezTo>
                <a:cubicBezTo>
                  <a:pt x="259" y="16"/>
                  <a:pt x="288" y="45"/>
                  <a:pt x="288" y="80"/>
                </a:cubicBezTo>
                <a:lnTo>
                  <a:pt x="288" y="128"/>
                </a:lnTo>
                <a:lnTo>
                  <a:pt x="160" y="128"/>
                </a:lnTo>
                <a:lnTo>
                  <a:pt x="160" y="80"/>
                </a:lnTo>
                <a:close/>
                <a:moveTo>
                  <a:pt x="136" y="176"/>
                </a:moveTo>
                <a:cubicBezTo>
                  <a:pt x="149" y="176"/>
                  <a:pt x="160" y="187"/>
                  <a:pt x="160" y="200"/>
                </a:cubicBezTo>
                <a:cubicBezTo>
                  <a:pt x="160" y="213"/>
                  <a:pt x="149" y="224"/>
                  <a:pt x="136" y="224"/>
                </a:cubicBezTo>
                <a:cubicBezTo>
                  <a:pt x="123" y="224"/>
                  <a:pt x="112" y="213"/>
                  <a:pt x="112" y="200"/>
                </a:cubicBezTo>
                <a:cubicBezTo>
                  <a:pt x="112" y="187"/>
                  <a:pt x="123" y="176"/>
                  <a:pt x="136" y="176"/>
                </a:cubicBezTo>
                <a:close/>
                <a:moveTo>
                  <a:pt x="288" y="200"/>
                </a:moveTo>
                <a:cubicBezTo>
                  <a:pt x="288" y="187"/>
                  <a:pt x="299" y="176"/>
                  <a:pt x="312" y="176"/>
                </a:cubicBezTo>
                <a:cubicBezTo>
                  <a:pt x="325" y="176"/>
                  <a:pt x="336" y="187"/>
                  <a:pt x="336" y="200"/>
                </a:cubicBezTo>
                <a:cubicBezTo>
                  <a:pt x="336" y="213"/>
                  <a:pt x="325" y="224"/>
                  <a:pt x="312" y="224"/>
                </a:cubicBezTo>
                <a:cubicBezTo>
                  <a:pt x="299" y="224"/>
                  <a:pt x="288" y="213"/>
                  <a:pt x="288" y="200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4" name="section-label"/>
          <p:cNvSpPr txBox="1"/>
          <p:nvPr/>
        </p:nvSpPr>
        <p:spPr>
          <a:xfrm>
            <a:off x="10223500" y="5080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PART 2 / SECTION 2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558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50" noProof="1" b="1">
                <a:solidFill>
                  <a:srgbClr val="FFFFFF"/>
                </a:solidFill>
                <a:latin typeface="Space Grotesk"/>
                <a:ea typeface="Space Grotesk"/>
              </a:rPr>
              <a:t>Autonomous Shopping</a:t>
            </a:r>
            <a:endParaRPr lang="en-US" sz="285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192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ตรวจสอบธุรกรรมบน x402scan.com / mppscan.com และให้ Agent สั่งซื้อสินค้าจริงที่ tryponcho.com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536700"/>
            <a:ext cx="5334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steps-head-icon"/>
          <p:cNvSpPr/>
          <p:nvPr>
            <p:extLst>
              <p:ext uri="{F5677B7D-0D2A-4D9B-9A5C-6D8D7D0E5A5D}">
                <pptd:icon encoding="base64url">eyJpY29uTmFtZSI6ImZhczpyb3V0ZSJ9</pptd:icon>
              </p:ext>
            </p:extLst>
          </p:nvPr>
        </p:nvSpPr>
        <p:spPr>
          <a:xfrm>
            <a:off x="685800" y="2108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96"/>
                </a:moveTo>
                <a:cubicBezTo>
                  <a:pt x="512" y="146"/>
                  <a:pt x="453" y="221"/>
                  <a:pt x="427" y="251"/>
                </a:cubicBezTo>
                <a:cubicBezTo>
                  <a:pt x="424" y="255"/>
                  <a:pt x="418" y="257"/>
                  <a:pt x="413" y="256"/>
                </a:cubicBezTo>
                <a:lnTo>
                  <a:pt x="320" y="256"/>
                </a:lnTo>
                <a:cubicBezTo>
                  <a:pt x="302" y="256"/>
                  <a:pt x="288" y="270"/>
                  <a:pt x="288" y="288"/>
                </a:cubicBezTo>
                <a:cubicBezTo>
                  <a:pt x="288" y="306"/>
                  <a:pt x="302" y="320"/>
                  <a:pt x="320" y="320"/>
                </a:cubicBezTo>
                <a:lnTo>
                  <a:pt x="416" y="320"/>
                </a:lnTo>
                <a:cubicBezTo>
                  <a:pt x="469" y="320"/>
                  <a:pt x="512" y="363"/>
                  <a:pt x="512" y="416"/>
                </a:cubicBezTo>
                <a:cubicBezTo>
                  <a:pt x="512" y="469"/>
                  <a:pt x="469" y="512"/>
                  <a:pt x="416" y="512"/>
                </a:cubicBezTo>
                <a:lnTo>
                  <a:pt x="140" y="512"/>
                </a:lnTo>
                <a:cubicBezTo>
                  <a:pt x="148" y="502"/>
                  <a:pt x="159" y="489"/>
                  <a:pt x="170" y="475"/>
                </a:cubicBezTo>
                <a:cubicBezTo>
                  <a:pt x="176" y="467"/>
                  <a:pt x="182" y="458"/>
                  <a:pt x="189" y="448"/>
                </a:cubicBezTo>
                <a:lnTo>
                  <a:pt x="416" y="448"/>
                </a:lnTo>
                <a:cubicBezTo>
                  <a:pt x="434" y="448"/>
                  <a:pt x="448" y="434"/>
                  <a:pt x="448" y="416"/>
                </a:cubicBezTo>
                <a:cubicBezTo>
                  <a:pt x="448" y="398"/>
                  <a:pt x="434" y="384"/>
                  <a:pt x="416" y="384"/>
                </a:cubicBezTo>
                <a:lnTo>
                  <a:pt x="320" y="384"/>
                </a:lnTo>
                <a:cubicBezTo>
                  <a:pt x="267" y="384"/>
                  <a:pt x="224" y="341"/>
                  <a:pt x="224" y="288"/>
                </a:cubicBezTo>
                <a:cubicBezTo>
                  <a:pt x="224" y="235"/>
                  <a:pt x="267" y="192"/>
                  <a:pt x="320" y="192"/>
                </a:cubicBezTo>
                <a:lnTo>
                  <a:pt x="360" y="192"/>
                </a:lnTo>
                <a:cubicBezTo>
                  <a:pt x="339" y="161"/>
                  <a:pt x="320" y="124"/>
                  <a:pt x="320" y="96"/>
                </a:cubicBezTo>
                <a:cubicBezTo>
                  <a:pt x="320" y="43"/>
                  <a:pt x="363" y="0"/>
                  <a:pt x="416" y="0"/>
                </a:cubicBezTo>
                <a:cubicBezTo>
                  <a:pt x="469" y="0"/>
                  <a:pt x="512" y="43"/>
                  <a:pt x="512" y="96"/>
                </a:cubicBezTo>
                <a:close/>
                <a:moveTo>
                  <a:pt x="416" y="128"/>
                </a:moveTo>
                <a:cubicBezTo>
                  <a:pt x="434" y="128"/>
                  <a:pt x="448" y="114"/>
                  <a:pt x="448" y="96"/>
                </a:cubicBezTo>
                <a:cubicBezTo>
                  <a:pt x="448" y="78"/>
                  <a:pt x="434" y="64"/>
                  <a:pt x="416" y="64"/>
                </a:cubicBezTo>
                <a:cubicBezTo>
                  <a:pt x="398" y="64"/>
                  <a:pt x="384" y="78"/>
                  <a:pt x="384" y="96"/>
                </a:cubicBezTo>
                <a:cubicBezTo>
                  <a:pt x="384" y="114"/>
                  <a:pt x="398" y="128"/>
                  <a:pt x="416" y="128"/>
                </a:cubicBezTo>
                <a:close/>
              </a:path>
              <a:path w="512" h="512">
                <a:moveTo>
                  <a:pt x="117" y="489"/>
                </a:moveTo>
                <a:cubicBezTo>
                  <a:pt x="113" y="493"/>
                  <a:pt x="110" y="497"/>
                  <a:pt x="107" y="500"/>
                </a:cubicBezTo>
                <a:lnTo>
                  <a:pt x="105" y="502"/>
                </a:lnTo>
                <a:lnTo>
                  <a:pt x="105" y="502"/>
                </a:lnTo>
                <a:cubicBezTo>
                  <a:pt x="99" y="507"/>
                  <a:pt x="90" y="506"/>
                  <a:pt x="85" y="500"/>
                </a:cubicBezTo>
                <a:cubicBezTo>
                  <a:pt x="60" y="473"/>
                  <a:pt x="0" y="403"/>
                  <a:pt x="0" y="352"/>
                </a:cubicBezTo>
                <a:cubicBezTo>
                  <a:pt x="0" y="299"/>
                  <a:pt x="43" y="256"/>
                  <a:pt x="96" y="256"/>
                </a:cubicBezTo>
                <a:cubicBezTo>
                  <a:pt x="149" y="256"/>
                  <a:pt x="192" y="299"/>
                  <a:pt x="192" y="352"/>
                </a:cubicBezTo>
                <a:cubicBezTo>
                  <a:pt x="192" y="382"/>
                  <a:pt x="171" y="419"/>
                  <a:pt x="149" y="450"/>
                </a:cubicBezTo>
                <a:cubicBezTo>
                  <a:pt x="138" y="465"/>
                  <a:pt x="127" y="478"/>
                  <a:pt x="118" y="488"/>
                </a:cubicBezTo>
                <a:lnTo>
                  <a:pt x="117" y="489"/>
                </a:lnTo>
                <a:close/>
                <a:moveTo>
                  <a:pt x="128" y="352"/>
                </a:moveTo>
                <a:cubicBezTo>
                  <a:pt x="128" y="334"/>
                  <a:pt x="114" y="320"/>
                  <a:pt x="96" y="320"/>
                </a:cubicBezTo>
                <a:cubicBezTo>
                  <a:pt x="78" y="320"/>
                  <a:pt x="64" y="334"/>
                  <a:pt x="64" y="352"/>
                </a:cubicBezTo>
                <a:cubicBezTo>
                  <a:pt x="64" y="370"/>
                  <a:pt x="78" y="384"/>
                  <a:pt x="96" y="384"/>
                </a:cubicBezTo>
                <a:cubicBezTo>
                  <a:pt x="114" y="384"/>
                  <a:pt x="128" y="370"/>
                  <a:pt x="128" y="352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9" name="steps-head"/>
          <p:cNvSpPr txBox="1"/>
          <p:nvPr/>
        </p:nvSpPr>
        <p:spPr>
          <a:xfrm>
            <a:off x="914400" y="20828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BBF24"/>
                </a:solidFill>
                <a:latin typeface="Loma"/>
                <a:ea typeface="Loma"/>
              </a:rPr>
              <a:t>ขั้นตอน — จาก Wallet สู่ Shopping Cart</a:t>
            </a:r>
            <a:endParaRPr lang="en-US" sz="1200" noProof="1"/>
          </a:p>
        </p:txBody>
      </p:sp>
      <p:sp>
        <p:nvSpPr>
          <p:cNvPr id="10" name="st1-circle"/>
          <p:cNvSpPr/>
          <p:nvPr/>
        </p:nvSpPr>
        <p:spPr>
          <a:xfrm>
            <a:off x="685800" y="24511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1" name="st1-num"/>
          <p:cNvSpPr txBox="1"/>
          <p:nvPr/>
        </p:nvSpPr>
        <p:spPr>
          <a:xfrm>
            <a:off x="685800" y="24511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2" name="st1-chip"/>
          <p:cNvSpPr/>
          <p:nvPr/>
        </p:nvSpPr>
        <p:spPr>
          <a:xfrm>
            <a:off x="1155700" y="2476500"/>
            <a:ext cx="5588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13" name="st1-chip-text"/>
          <p:cNvSpPr txBox="1"/>
          <p:nvPr/>
        </p:nvSpPr>
        <p:spPr>
          <a:xfrm>
            <a:off x="1155700" y="24765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VERIFY</a:t>
            </a:r>
            <a:endParaRPr lang="en-US" sz="820" noProof="1"/>
          </a:p>
        </p:txBody>
      </p:sp>
      <p:sp>
        <p:nvSpPr>
          <p:cNvPr id="14" name="st1-title"/>
          <p:cNvSpPr txBox="1"/>
          <p:nvPr/>
        </p:nvSpPr>
        <p:spPr>
          <a:xfrm>
            <a:off x="1765300" y="24765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ตรวจสอบยอด USDC และประวัติธุรกรรม</a:t>
            </a:r>
            <a:endParaRPr lang="en-US" sz="1050" noProof="1"/>
          </a:p>
        </p:txBody>
      </p:sp>
      <p:sp>
        <p:nvSpPr>
          <p:cNvPr id="15" name="st1-desc"/>
          <p:cNvSpPr txBox="1"/>
          <p:nvPr/>
        </p:nvSpPr>
        <p:spPr>
          <a:xfrm>
            <a:off x="1143000" y="27051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บน x402scan.com หรือ mppscan.com</a:t>
            </a:r>
            <a:endParaRPr lang="en-US" sz="940" noProof="1"/>
          </a:p>
        </p:txBody>
      </p:sp>
      <p:sp>
        <p:nvSpPr>
          <p:cNvPr id="16" name="st2-circle"/>
          <p:cNvSpPr/>
          <p:nvPr/>
        </p:nvSpPr>
        <p:spPr>
          <a:xfrm>
            <a:off x="685800" y="30099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7" name="st2-num"/>
          <p:cNvSpPr txBox="1"/>
          <p:nvPr/>
        </p:nvSpPr>
        <p:spPr>
          <a:xfrm>
            <a:off x="685800" y="30099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8" name="st2-chip"/>
          <p:cNvSpPr/>
          <p:nvPr/>
        </p:nvSpPr>
        <p:spPr>
          <a:xfrm>
            <a:off x="1155700" y="3035300"/>
            <a:ext cx="6731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19" name="st2-chip-text"/>
          <p:cNvSpPr txBox="1"/>
          <p:nvPr/>
        </p:nvSpPr>
        <p:spPr>
          <a:xfrm>
            <a:off x="1155700" y="3035300"/>
            <a:ext cx="6731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DISCOVER</a:t>
            </a:r>
            <a:endParaRPr lang="en-US" sz="820" noProof="1"/>
          </a:p>
        </p:txBody>
      </p:sp>
      <p:sp>
        <p:nvSpPr>
          <p:cNvPr id="20" name="st2-title"/>
          <p:cNvSpPr txBox="1"/>
          <p:nvPr/>
        </p:nvSpPr>
        <p:spPr>
          <a:xfrm>
            <a:off x="1879600" y="3035300"/>
            <a:ext cx="4064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สั่ง Agent ค้นหาสินค้าบน tryponcho.com</a:t>
            </a:r>
            <a:endParaRPr lang="en-US" sz="1050" noProof="1"/>
          </a:p>
        </p:txBody>
      </p:sp>
      <p:sp>
        <p:nvSpPr>
          <p:cNvPr id="21" name="st2-desc"/>
          <p:cNvSpPr txBox="1"/>
          <p:nvPr/>
        </p:nvSpPr>
        <p:spPr>
          <a:xfrm>
            <a:off x="1143000" y="32639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เช่น "หาหูฟัง bluetooth ราคาต่ำกว่า $50"</a:t>
            </a:r>
            <a:endParaRPr lang="en-US" sz="940" noProof="1"/>
          </a:p>
        </p:txBody>
      </p:sp>
      <p:sp>
        <p:nvSpPr>
          <p:cNvPr id="22" name="st3-circle"/>
          <p:cNvSpPr/>
          <p:nvPr/>
        </p:nvSpPr>
        <p:spPr>
          <a:xfrm>
            <a:off x="685800" y="35814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3" name="st3-num"/>
          <p:cNvSpPr txBox="1"/>
          <p:nvPr/>
        </p:nvSpPr>
        <p:spPr>
          <a:xfrm>
            <a:off x="685800" y="3581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4" name="st3-chip"/>
          <p:cNvSpPr/>
          <p:nvPr/>
        </p:nvSpPr>
        <p:spPr>
          <a:xfrm>
            <a:off x="1155700" y="3606800"/>
            <a:ext cx="3556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25" name="st3-chip-text"/>
          <p:cNvSpPr txBox="1"/>
          <p:nvPr/>
        </p:nvSpPr>
        <p:spPr>
          <a:xfrm>
            <a:off x="1155700" y="3606800"/>
            <a:ext cx="355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PAY</a:t>
            </a:r>
            <a:endParaRPr lang="en-US" sz="820" noProof="1"/>
          </a:p>
        </p:txBody>
      </p:sp>
      <p:sp>
        <p:nvSpPr>
          <p:cNvPr id="26" name="st3-title"/>
          <p:cNvSpPr txBox="1"/>
          <p:nvPr/>
        </p:nvSpPr>
        <p:spPr>
          <a:xfrm>
            <a:off x="1562100" y="36068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Agent ส่ง 402 payment ให้ merchant</a:t>
            </a:r>
            <a:endParaRPr lang="en-US" sz="1050" noProof="1"/>
          </a:p>
        </p:txBody>
      </p:sp>
      <p:sp>
        <p:nvSpPr>
          <p:cNvPr id="27" name="st3-desc"/>
          <p:cNvSpPr txBox="1"/>
          <p:nvPr/>
        </p:nvSpPr>
        <p:spPr>
          <a:xfrm>
            <a:off x="1143000" y="3835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ผ่าน x402/MPP โดยอัตโนมัติ</a:t>
            </a:r>
            <a:endParaRPr lang="en-US" sz="940" noProof="1"/>
          </a:p>
        </p:txBody>
      </p:sp>
      <p:sp>
        <p:nvSpPr>
          <p:cNvPr id="28" name="st4-circle"/>
          <p:cNvSpPr/>
          <p:nvPr/>
        </p:nvSpPr>
        <p:spPr>
          <a:xfrm>
            <a:off x="685800" y="41529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9" name="st4-num"/>
          <p:cNvSpPr txBox="1"/>
          <p:nvPr/>
        </p:nvSpPr>
        <p:spPr>
          <a:xfrm>
            <a:off x="685800" y="41529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30" name="st4-chip"/>
          <p:cNvSpPr/>
          <p:nvPr/>
        </p:nvSpPr>
        <p:spPr>
          <a:xfrm>
            <a:off x="1155700" y="4178300"/>
            <a:ext cx="6096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31" name="st4-chip-text"/>
          <p:cNvSpPr txBox="1"/>
          <p:nvPr/>
        </p:nvSpPr>
        <p:spPr>
          <a:xfrm>
            <a:off x="1155700" y="41783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CONFIRM</a:t>
            </a:r>
            <a:endParaRPr lang="en-US" sz="820" noProof="1"/>
          </a:p>
        </p:txBody>
      </p:sp>
      <p:sp>
        <p:nvSpPr>
          <p:cNvPr id="32" name="st4-title"/>
          <p:cNvSpPr txBox="1"/>
          <p:nvPr/>
        </p:nvSpPr>
        <p:spPr>
          <a:xfrm>
            <a:off x="1816100" y="41783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ตรวจ receipt ในแชต Telegram</a:t>
            </a:r>
            <a:endParaRPr lang="en-US" sz="1050" noProof="1"/>
          </a:p>
        </p:txBody>
      </p:sp>
      <p:sp>
        <p:nvSpPr>
          <p:cNvPr id="33" name="st4-desc"/>
          <p:cNvSpPr txBox="1"/>
          <p:nvPr/>
        </p:nvSpPr>
        <p:spPr>
          <a:xfrm>
            <a:off x="1143000" y="44069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CBD5E1"/>
                </a:solidFill>
                <a:latin typeface="Loma"/>
                <a:ea typeface="Loma"/>
              </a:rPr>
              <a:t>และบน blockchain explorer</a:t>
            </a:r>
            <a:endParaRPr lang="en-US" sz="940" noProof="1"/>
          </a:p>
        </p:txBody>
      </p:sp>
      <p:sp>
        <p:nvSpPr>
          <p:cNvPr id="34" name="result-bar"/>
          <p:cNvSpPr/>
          <p:nvPr/>
        </p:nvSpPr>
        <p:spPr>
          <a:xfrm>
            <a:off x="685800" y="4838700"/>
            <a:ext cx="38100" cy="33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5" name="result-icon"/>
          <p:cNvSpPr/>
          <p:nvPr>
            <p:extLst>
              <p:ext uri="{F5677B7D-0D2A-4D9B-9A5C-6D8D7D0E5A5D}">
                <pptd:icon encoding="base64url">eyJpY29uTmFtZSI6ImZhczp3YW5kLW1hZ2ljLXNwYXJrbGVzIn0</pptd:icon>
              </p:ext>
            </p:extLst>
          </p:nvPr>
        </p:nvSpPr>
        <p:spPr>
          <a:xfrm>
            <a:off x="850900" y="49149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6" name="result-text"/>
          <p:cNvSpPr txBox="1"/>
          <p:nvPr/>
        </p:nvSpPr>
        <p:spPr>
          <a:xfrm>
            <a:off x="1092200" y="48768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F1F5F9"/>
                </a:solidFill>
                <a:latin typeface="Loma"/>
                <a:ea typeface="Loma"/>
              </a:rPr>
              <a:t>ผลลัพธ์: สินค้าถูกสั่งซื้อจริง โดยที่ผู้เรียนไม่ได้คลิก checkout แม้แต่ครั้งเดียว</a:t>
            </a:r>
            <a:endParaRPr lang="en-US" sz="1200" noProof="1"/>
          </a:p>
        </p:txBody>
      </p:sp>
      <p:pic>
        <p:nvPicPr>
          <p:cNvPr id="37" name="shop-img"/>
          <p:cNvPicPr/>
          <p:nvPr/>
        </p:nvPicPr>
        <p:blipFill>
          <a:blip r:embed="rId3"/>
          <a:srcRect l="156" r="156"/>
          <a:stretch>
            <a:fillRect/>
          </a:stretch>
        </p:blipFill>
        <p:spPr>
          <a:xfrm>
            <a:off x="6781800" y="2095500"/>
            <a:ext cx="4711700" cy="20828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38" name="shop-caption"/>
          <p:cNvSpPr txBox="1"/>
          <p:nvPr/>
        </p:nvSpPr>
        <p:spPr>
          <a:xfrm>
            <a:off x="6781800" y="4229100"/>
            <a:ext cx="47117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94A3B8"/>
                </a:solidFill>
                <a:latin typeface="Loma"/>
                <a:ea typeface="Loma"/>
              </a:rPr>
              <a:t>ตัวอย่าง online shopping flow ที่ Agent จัดการให้</a:t>
            </a:r>
            <a:endParaRPr lang="en-US" sz="820" noProof="1"/>
          </a:p>
        </p:txBody>
      </p:sp>
      <p:sp>
        <p:nvSpPr>
          <p:cNvPr id="39" name="xs-bg"/>
          <p:cNvSpPr/>
          <p:nvPr/>
        </p:nvSpPr>
        <p:spPr>
          <a:xfrm>
            <a:off x="6781800" y="4546600"/>
            <a:ext cx="4724400" cy="558800"/>
          </a:xfrm>
          <a:prstGeom prst="roundRect">
            <a:avLst>
              <a:gd name="adj" fmla="val 14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30196"/>
              </a:srgbClr>
            </a:solidFill>
          </a:ln>
        </p:spPr>
      </p:sp>
      <p:sp>
        <p:nvSpPr>
          <p:cNvPr id="40" name="xs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6959600" y="473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1" name="xs-name"/>
          <p:cNvSpPr txBox="1"/>
          <p:nvPr/>
        </p:nvSpPr>
        <p:spPr>
          <a:xfrm>
            <a:off x="7277100" y="4648200"/>
            <a:ext cx="1651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 b="1">
                <a:solidFill>
                  <a:srgbClr val="06B6D4"/>
                </a:solidFill>
                <a:latin typeface="JetBrains Mono"/>
                <a:ea typeface="JetBrains Mono"/>
              </a:rPr>
              <a:t>x402scan.com</a:t>
            </a:r>
            <a:endParaRPr lang="en-US" sz="980" noProof="1"/>
          </a:p>
        </p:txBody>
      </p:sp>
      <p:sp>
        <p:nvSpPr>
          <p:cNvPr id="42" name="xs-desc"/>
          <p:cNvSpPr txBox="1"/>
          <p:nvPr/>
        </p:nvSpPr>
        <p:spPr>
          <a:xfrm>
            <a:off x="7277100" y="4838700"/>
            <a:ext cx="279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90" noProof="1">
                <a:solidFill>
                  <a:srgbClr val="94A3B8"/>
                </a:solidFill>
                <a:latin typeface="Loma"/>
                <a:ea typeface="Loma"/>
              </a:rPr>
              <a:t>ตรวจสอบธุรกรรม x402 บน Base/Ethereum</a:t>
            </a:r>
            <a:endParaRPr lang="en-US" sz="790" noProof="1"/>
          </a:p>
        </p:txBody>
      </p:sp>
      <p:sp>
        <p:nvSpPr>
          <p:cNvPr id="43" name="ms-bg"/>
          <p:cNvSpPr/>
          <p:nvPr/>
        </p:nvSpPr>
        <p:spPr>
          <a:xfrm>
            <a:off x="6781800" y="5207000"/>
            <a:ext cx="4724400" cy="558800"/>
          </a:xfrm>
          <a:prstGeom prst="roundRect">
            <a:avLst>
              <a:gd name="adj" fmla="val 14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7C3AED">
                <a:alpha val="30196"/>
              </a:srgbClr>
            </a:solidFill>
          </a:ln>
        </p:spPr>
      </p:sp>
      <p:sp>
        <p:nvSpPr>
          <p:cNvPr id="44" name="ms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6959600" y="5397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5" name="ms-name"/>
          <p:cNvSpPr txBox="1"/>
          <p:nvPr/>
        </p:nvSpPr>
        <p:spPr>
          <a:xfrm>
            <a:off x="7277100" y="5308600"/>
            <a:ext cx="1651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 b="1">
                <a:solidFill>
                  <a:srgbClr val="A78BFA"/>
                </a:solidFill>
                <a:latin typeface="JetBrains Mono"/>
                <a:ea typeface="JetBrains Mono"/>
              </a:rPr>
              <a:t>mppscan.com</a:t>
            </a:r>
            <a:endParaRPr lang="en-US" sz="980" noProof="1"/>
          </a:p>
        </p:txBody>
      </p:sp>
      <p:sp>
        <p:nvSpPr>
          <p:cNvPr id="46" name="ms-desc"/>
          <p:cNvSpPr txBox="1"/>
          <p:nvPr/>
        </p:nvSpPr>
        <p:spPr>
          <a:xfrm>
            <a:off x="7277100" y="5499100"/>
            <a:ext cx="279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90" noProof="1">
                <a:solidFill>
                  <a:srgbClr val="94A3B8"/>
                </a:solidFill>
                <a:latin typeface="Loma"/>
                <a:ea typeface="Loma"/>
              </a:rPr>
              <a:t>ตรวจสอบธุรกรรม MPP บน Tempo chain</a:t>
            </a:r>
            <a:endParaRPr lang="en-US" sz="790" noProof="1"/>
          </a:p>
        </p:txBody>
      </p:sp>
      <p:sp>
        <p:nvSpPr>
          <p:cNvPr id="47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11</a:t>
            </a:r>
            <a:endParaRPr lang="en-US" sz="800" noProof="1"/>
          </a:p>
        </p:txBody>
      </p:sp>
      <p:sp>
        <p:nvSpPr>
          <p:cNvPr id="48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BEFORE YOU START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105156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718800" y="508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4 ITEMS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Space Grotesk"/>
                <a:ea typeface="Space Grotesk"/>
              </a:rPr>
              <a:t>Prerequisites</a:t>
            </a:r>
            <a:endParaRPr lang="en-US" sz="30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319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เตรียมให้พร้อมก่อนเข้าห้องเรียน เพื่อให้ใช้เวลา 2 ชั่วโมงได้คุ้มที่สุด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536700"/>
            <a:ext cx="533400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8" name="c1-bg"/>
          <p:cNvSpPr/>
          <p:nvPr/>
        </p:nvSpPr>
        <p:spPr>
          <a:xfrm>
            <a:off x="685800" y="1879600"/>
            <a:ext cx="5334000" cy="1968500"/>
          </a:xfrm>
          <a:prstGeom prst="roundRect">
            <a:avLst>
              <a:gd name="adj" fmla="val 6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9" name="c1-top"/>
          <p:cNvSpPr/>
          <p:nvPr/>
        </p:nvSpPr>
        <p:spPr>
          <a:xfrm>
            <a:off x="762000" y="1879600"/>
            <a:ext cx="51816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c1-tile"/>
          <p:cNvSpPr/>
          <p:nvPr/>
        </p:nvSpPr>
        <p:spPr>
          <a:xfrm>
            <a:off x="914400" y="21209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11" name="c1-icon"/>
          <p:cNvSpPr/>
          <p:nvPr>
            <p:extLst>
              <p:ext uri="{F5677B7D-0D2A-4D9B-9A5C-6D8D7D0E5A5D}">
                <pptd:icon encoding="base64url">eyJpY29uTmFtZSI6ImZhczpwYXBlci1wbGFuZSJ9</pptd:icon>
              </p:ext>
            </p:extLst>
          </p:nvPr>
        </p:nvSpPr>
        <p:spPr>
          <a:xfrm>
            <a:off x="1028700" y="223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36" y="-26"/>
                </a:moveTo>
                <a:cubicBezTo>
                  <a:pt x="546" y="-30"/>
                  <a:pt x="557" y="-27"/>
                  <a:pt x="564" y="-20"/>
                </a:cubicBezTo>
                <a:cubicBezTo>
                  <a:pt x="572" y="-13"/>
                  <a:pt x="574" y="-2"/>
                  <a:pt x="571" y="8"/>
                </a:cubicBezTo>
                <a:lnTo>
                  <a:pt x="393" y="505"/>
                </a:lnTo>
                <a:cubicBezTo>
                  <a:pt x="388" y="519"/>
                  <a:pt x="375" y="528"/>
                  <a:pt x="360" y="528"/>
                </a:cubicBezTo>
                <a:cubicBezTo>
                  <a:pt x="346" y="528"/>
                  <a:pt x="333" y="519"/>
                  <a:pt x="328" y="506"/>
                </a:cubicBezTo>
                <a:lnTo>
                  <a:pt x="263" y="348"/>
                </a:lnTo>
                <a:cubicBezTo>
                  <a:pt x="259" y="337"/>
                  <a:pt x="261" y="325"/>
                  <a:pt x="269" y="316"/>
                </a:cubicBezTo>
                <a:lnTo>
                  <a:pt x="363" y="203"/>
                </a:lnTo>
                <a:cubicBezTo>
                  <a:pt x="368" y="197"/>
                  <a:pt x="368" y="188"/>
                  <a:pt x="362" y="183"/>
                </a:cubicBezTo>
                <a:cubicBezTo>
                  <a:pt x="357" y="177"/>
                  <a:pt x="348" y="177"/>
                  <a:pt x="342" y="182"/>
                </a:cubicBezTo>
                <a:lnTo>
                  <a:pt x="229" y="276"/>
                </a:lnTo>
                <a:cubicBezTo>
                  <a:pt x="220" y="284"/>
                  <a:pt x="208" y="286"/>
                  <a:pt x="197" y="281"/>
                </a:cubicBezTo>
                <a:lnTo>
                  <a:pt x="38" y="217"/>
                </a:lnTo>
                <a:cubicBezTo>
                  <a:pt x="25" y="212"/>
                  <a:pt x="16" y="199"/>
                  <a:pt x="16" y="185"/>
                </a:cubicBezTo>
                <a:cubicBezTo>
                  <a:pt x="16" y="170"/>
                  <a:pt x="26" y="157"/>
                  <a:pt x="40" y="152"/>
                </a:cubicBezTo>
                <a:lnTo>
                  <a:pt x="536" y="-26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2" name="c1-idx"/>
          <p:cNvSpPr txBox="1"/>
          <p:nvPr/>
        </p:nvSpPr>
        <p:spPr>
          <a:xfrm>
            <a:off x="4826000" y="21336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2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01 / 04</a:t>
            </a:r>
            <a:endParaRPr lang="en-US" sz="820" noProof="1"/>
          </a:p>
        </p:txBody>
      </p:sp>
      <p:sp>
        <p:nvSpPr>
          <p:cNvPr id="13" name="c1-title"/>
          <p:cNvSpPr txBox="1"/>
          <p:nvPr/>
        </p:nvSpPr>
        <p:spPr>
          <a:xfrm>
            <a:off x="927100" y="264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FFFFFF"/>
                </a:solidFill>
                <a:latin typeface="Space Grotesk"/>
                <a:ea typeface="Space Grotesk"/>
              </a:rPr>
              <a:t>Telegram Account</a:t>
            </a:r>
            <a:endParaRPr lang="en-US" sz="1350" noProof="1"/>
          </a:p>
        </p:txBody>
      </p:sp>
      <p:sp>
        <p:nvSpPr>
          <p:cNvPr id="14" name="c1-desc"/>
          <p:cNvSpPr txBox="1"/>
          <p:nvPr/>
        </p:nvSpPr>
        <p:spPr>
          <a:xfrm>
            <a:off x="927100" y="292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เตรียมให้พร้อมและขอ Token จาก @BotFather สำหรับสร้าง Bot ใหม่ ใช้สำหรับเชื่อมกับ Agent runtime</a:t>
            </a:r>
            <a:endParaRPr lang="en-US" sz="940" noProof="1"/>
          </a:p>
        </p:txBody>
      </p:sp>
      <p:sp>
        <p:nvSpPr>
          <p:cNvPr id="15" name="c1-chip"/>
          <p:cNvSpPr/>
          <p:nvPr/>
        </p:nvSpPr>
        <p:spPr>
          <a:xfrm>
            <a:off x="939800" y="3454400"/>
            <a:ext cx="1371600" cy="254000"/>
          </a:xfrm>
          <a:prstGeom prst="roundRect">
            <a:avLst>
              <a:gd name="adj" fmla="val 50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1373"/>
              </a:srgbClr>
            </a:solidFill>
          </a:ln>
        </p:spPr>
      </p:sp>
      <p:sp>
        <p:nvSpPr>
          <p:cNvPr id="16" name="c1-chip-icon"/>
          <p:cNvSpPr/>
          <p:nvPr>
            <p:extLst>
              <p:ext uri="{F5677B7D-0D2A-4D9B-9A5C-6D8D7D0E5A5D}">
                <pptd:icon encoding="base64url">eyJpY29uTmFtZSI6ImZhczp1c2VyIn0</pptd:icon>
              </p:ext>
            </p:extLst>
          </p:nvPr>
        </p:nvSpPr>
        <p:spPr>
          <a:xfrm>
            <a:off x="1066800" y="35179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7" name="c1-chip-text"/>
          <p:cNvSpPr txBox="1"/>
          <p:nvPr/>
        </p:nvSpPr>
        <p:spPr>
          <a:xfrm>
            <a:off x="1244600" y="3454400"/>
            <a:ext cx="1041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REQUIRED · 5 MIN</a:t>
            </a:r>
            <a:endParaRPr lang="en-US" sz="820" noProof="1"/>
          </a:p>
        </p:txBody>
      </p:sp>
      <p:sp>
        <p:nvSpPr>
          <p:cNvPr id="18" name="c2-bg"/>
          <p:cNvSpPr/>
          <p:nvPr/>
        </p:nvSpPr>
        <p:spPr>
          <a:xfrm>
            <a:off x="6172200" y="1879600"/>
            <a:ext cx="5334000" cy="1968500"/>
          </a:xfrm>
          <a:prstGeom prst="roundRect">
            <a:avLst>
              <a:gd name="adj" fmla="val 6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9" name="c2-top"/>
          <p:cNvSpPr/>
          <p:nvPr/>
        </p:nvSpPr>
        <p:spPr>
          <a:xfrm>
            <a:off x="6248400" y="1879600"/>
            <a:ext cx="5181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c2-tile"/>
          <p:cNvSpPr/>
          <p:nvPr/>
        </p:nvSpPr>
        <p:spPr>
          <a:xfrm>
            <a:off x="6400800" y="21209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25098"/>
              </a:srgbClr>
            </a:solidFill>
          </a:ln>
        </p:spPr>
      </p:sp>
      <p:sp>
        <p:nvSpPr>
          <p:cNvPr id="21" name="c2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6515100" y="2235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2" name="c2-idx"/>
          <p:cNvSpPr txBox="1"/>
          <p:nvPr/>
        </p:nvSpPr>
        <p:spPr>
          <a:xfrm>
            <a:off x="10312400" y="21336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2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02 / 04</a:t>
            </a:r>
            <a:endParaRPr lang="en-US" sz="820" noProof="1"/>
          </a:p>
        </p:txBody>
      </p:sp>
      <p:sp>
        <p:nvSpPr>
          <p:cNvPr id="23" name="c2-title"/>
          <p:cNvSpPr txBox="1"/>
          <p:nvPr/>
        </p:nvSpPr>
        <p:spPr>
          <a:xfrm>
            <a:off x="6413500" y="2641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FFFFFF"/>
                </a:solidFill>
                <a:latin typeface="Space Grotesk"/>
                <a:ea typeface="Space Grotesk"/>
              </a:rPr>
              <a:t>Wallet &amp; Testnet USDC</a:t>
            </a:r>
            <a:endParaRPr lang="en-US" sz="1350" noProof="1"/>
          </a:p>
        </p:txBody>
      </p:sp>
      <p:sp>
        <p:nvSpPr>
          <p:cNvPr id="24" name="c2-desc"/>
          <p:cNvSpPr txBox="1"/>
          <p:nvPr/>
        </p:nvSpPr>
        <p:spPr>
          <a:xfrm>
            <a:off x="6413500" y="29210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วิทยากรจะเตรียม Faucet หรือกระเป๋าสำรองสำหรับแจก USDC ให้ผู้เรียนทดลองโอนได้ทันที</a:t>
            </a:r>
            <a:endParaRPr lang="en-US" sz="940" noProof="1"/>
          </a:p>
        </p:txBody>
      </p:sp>
      <p:sp>
        <p:nvSpPr>
          <p:cNvPr id="25" name="c2-chip"/>
          <p:cNvSpPr/>
          <p:nvPr/>
        </p:nvSpPr>
        <p:spPr>
          <a:xfrm>
            <a:off x="6426200" y="3454400"/>
            <a:ext cx="2057400" cy="254000"/>
          </a:xfrm>
          <a:prstGeom prst="roundRect">
            <a:avLst>
              <a:gd name="adj" fmla="val 50000"/>
            </a:avLst>
          </a:prstGeom>
          <a:solidFill>
            <a:srgbClr val="7C3AED">
              <a:alpha val="7843"/>
            </a:srgbClr>
          </a:solidFill>
          <a:ln w="12700">
            <a:solidFill>
              <a:srgbClr val="7C3AED">
                <a:alpha val="31373"/>
              </a:srgbClr>
            </a:solidFill>
          </a:ln>
        </p:spPr>
      </p:sp>
      <p:sp>
        <p:nvSpPr>
          <p:cNvPr id="26" name="c2-chip-icon"/>
          <p:cNvSpPr/>
          <p:nvPr>
            <p:extLst>
              <p:ext uri="{F5677B7D-0D2A-4D9B-9A5C-6D8D7D0E5A5D}">
                <pptd:icon encoding="base64url">eyJpY29uTmFtZSI6ImZhczpncmFkdWF0aW9uLWNhcCJ9</pptd:icon>
              </p:ext>
            </p:extLst>
          </p:nvPr>
        </p:nvSpPr>
        <p:spPr>
          <a:xfrm>
            <a:off x="6553200" y="35179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196"/>
                </a:moveTo>
                <a:lnTo>
                  <a:pt x="257" y="282"/>
                </a:lnTo>
                <a:cubicBezTo>
                  <a:pt x="267" y="286"/>
                  <a:pt x="277" y="288"/>
                  <a:pt x="288" y="288"/>
                </a:cubicBezTo>
                <a:cubicBezTo>
                  <a:pt x="299" y="288"/>
                  <a:pt x="309" y="286"/>
                  <a:pt x="319" y="282"/>
                </a:cubicBezTo>
                <a:lnTo>
                  <a:pt x="561" y="182"/>
                </a:lnTo>
                <a:cubicBezTo>
                  <a:pt x="570" y="178"/>
                  <a:pt x="576" y="170"/>
                  <a:pt x="576" y="160"/>
                </a:cubicBezTo>
                <a:cubicBezTo>
                  <a:pt x="576" y="150"/>
                  <a:pt x="570" y="142"/>
                  <a:pt x="561" y="138"/>
                </a:cubicBezTo>
                <a:lnTo>
                  <a:pt x="319" y="38"/>
                </a:lnTo>
                <a:cubicBezTo>
                  <a:pt x="309" y="34"/>
                  <a:pt x="299" y="32"/>
                  <a:pt x="288" y="32"/>
                </a:cubicBezTo>
                <a:cubicBezTo>
                  <a:pt x="277" y="32"/>
                  <a:pt x="267" y="34"/>
                  <a:pt x="257" y="38"/>
                </a:cubicBezTo>
                <a:lnTo>
                  <a:pt x="15" y="138"/>
                </a:lnTo>
                <a:cubicBezTo>
                  <a:pt x="6" y="142"/>
                  <a:pt x="0" y="150"/>
                  <a:pt x="0" y="160"/>
                </a:cubicBezTo>
                <a:lnTo>
                  <a:pt x="0" y="456"/>
                </a:lnTo>
                <a:cubicBezTo>
                  <a:pt x="0" y="469"/>
                  <a:pt x="11" y="480"/>
                  <a:pt x="24" y="480"/>
                </a:cubicBezTo>
                <a:cubicBezTo>
                  <a:pt x="37" y="480"/>
                  <a:pt x="48" y="469"/>
                  <a:pt x="48" y="456"/>
                </a:cubicBezTo>
                <a:lnTo>
                  <a:pt x="48" y="196"/>
                </a:lnTo>
                <a:close/>
                <a:moveTo>
                  <a:pt x="96" y="268"/>
                </a:moveTo>
                <a:lnTo>
                  <a:pt x="96" y="384"/>
                </a:lnTo>
                <a:cubicBezTo>
                  <a:pt x="96" y="437"/>
                  <a:pt x="182" y="480"/>
                  <a:pt x="288" y="480"/>
                </a:cubicBezTo>
                <a:cubicBezTo>
                  <a:pt x="394" y="480"/>
                  <a:pt x="480" y="437"/>
                  <a:pt x="480" y="384"/>
                </a:cubicBezTo>
                <a:lnTo>
                  <a:pt x="480" y="267"/>
                </a:lnTo>
                <a:lnTo>
                  <a:pt x="337" y="326"/>
                </a:lnTo>
                <a:cubicBezTo>
                  <a:pt x="322" y="333"/>
                  <a:pt x="305" y="336"/>
                  <a:pt x="288" y="336"/>
                </a:cubicBezTo>
                <a:cubicBezTo>
                  <a:pt x="271" y="336"/>
                  <a:pt x="255" y="333"/>
                  <a:pt x="239" y="326"/>
                </a:cubicBezTo>
                <a:lnTo>
                  <a:pt x="96" y="267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7" name="c2-chip-text"/>
          <p:cNvSpPr txBox="1"/>
          <p:nvPr/>
        </p:nvSpPr>
        <p:spPr>
          <a:xfrm>
            <a:off x="6731000" y="3454400"/>
            <a:ext cx="170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PROVIDED BY INSTRUCTOR</a:t>
            </a:r>
            <a:endParaRPr lang="en-US" sz="820" noProof="1"/>
          </a:p>
        </p:txBody>
      </p:sp>
      <p:sp>
        <p:nvSpPr>
          <p:cNvPr id="28" name="c3-bg"/>
          <p:cNvSpPr/>
          <p:nvPr/>
        </p:nvSpPr>
        <p:spPr>
          <a:xfrm>
            <a:off x="685800" y="3975100"/>
            <a:ext cx="5334000" cy="1968500"/>
          </a:xfrm>
          <a:prstGeom prst="roundRect">
            <a:avLst>
              <a:gd name="adj" fmla="val 6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9" name="c3-top"/>
          <p:cNvSpPr/>
          <p:nvPr/>
        </p:nvSpPr>
        <p:spPr>
          <a:xfrm>
            <a:off x="762000" y="3975100"/>
            <a:ext cx="51816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0" name="c3-tile"/>
          <p:cNvSpPr/>
          <p:nvPr/>
        </p:nvSpPr>
        <p:spPr>
          <a:xfrm>
            <a:off x="914400" y="42164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25098"/>
              </a:srgbClr>
            </a:solidFill>
          </a:ln>
        </p:spPr>
      </p:sp>
      <p:sp>
        <p:nvSpPr>
          <p:cNvPr id="31" name="c3-icon"/>
          <p:cNvSpPr/>
          <p:nvPr>
            <p:extLst>
              <p:ext uri="{F5677B7D-0D2A-4D9B-9A5C-6D8D7D0E5A5D}">
                <pptd:icon encoding="base64url">eyJpY29uTmFtZSI6ImZhczpnZWFyIn0</pptd:icon>
              </p:ext>
            </p:extLst>
          </p:nvPr>
        </p:nvSpPr>
        <p:spPr>
          <a:xfrm>
            <a:off x="1028700" y="433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95" y="10"/>
                </a:moveTo>
                <a:cubicBezTo>
                  <a:pt x="198" y="-5"/>
                  <a:pt x="211" y="-16"/>
                  <a:pt x="226" y="-16"/>
                </a:cubicBezTo>
                <a:lnTo>
                  <a:pt x="286" y="-16"/>
                </a:lnTo>
                <a:cubicBezTo>
                  <a:pt x="301" y="-16"/>
                  <a:pt x="315" y="-5"/>
                  <a:pt x="318" y="10"/>
                </a:cubicBezTo>
                <a:lnTo>
                  <a:pt x="332" y="80"/>
                </a:lnTo>
                <a:cubicBezTo>
                  <a:pt x="346" y="86"/>
                  <a:pt x="359" y="93"/>
                  <a:pt x="371" y="102"/>
                </a:cubicBezTo>
                <a:lnTo>
                  <a:pt x="439" y="80"/>
                </a:lnTo>
                <a:cubicBezTo>
                  <a:pt x="454" y="75"/>
                  <a:pt x="469" y="81"/>
                  <a:pt x="477" y="94"/>
                </a:cubicBezTo>
                <a:lnTo>
                  <a:pt x="507" y="146"/>
                </a:lnTo>
                <a:cubicBezTo>
                  <a:pt x="514" y="159"/>
                  <a:pt x="512" y="176"/>
                  <a:pt x="500" y="186"/>
                </a:cubicBezTo>
                <a:lnTo>
                  <a:pt x="447" y="233"/>
                </a:lnTo>
                <a:cubicBezTo>
                  <a:pt x="448" y="241"/>
                  <a:pt x="448" y="248"/>
                  <a:pt x="448" y="256"/>
                </a:cubicBezTo>
                <a:cubicBezTo>
                  <a:pt x="448" y="264"/>
                  <a:pt x="448" y="271"/>
                  <a:pt x="447" y="279"/>
                </a:cubicBezTo>
                <a:lnTo>
                  <a:pt x="500" y="326"/>
                </a:lnTo>
                <a:cubicBezTo>
                  <a:pt x="512" y="336"/>
                  <a:pt x="514" y="353"/>
                  <a:pt x="507" y="366"/>
                </a:cubicBezTo>
                <a:lnTo>
                  <a:pt x="477" y="418"/>
                </a:lnTo>
                <a:cubicBezTo>
                  <a:pt x="469" y="431"/>
                  <a:pt x="454" y="437"/>
                  <a:pt x="439" y="432"/>
                </a:cubicBezTo>
                <a:lnTo>
                  <a:pt x="371" y="410"/>
                </a:lnTo>
                <a:cubicBezTo>
                  <a:pt x="359" y="419"/>
                  <a:pt x="346" y="426"/>
                  <a:pt x="332" y="433"/>
                </a:cubicBezTo>
                <a:lnTo>
                  <a:pt x="318" y="503"/>
                </a:lnTo>
                <a:cubicBezTo>
                  <a:pt x="315" y="517"/>
                  <a:pt x="302" y="528"/>
                  <a:pt x="286" y="528"/>
                </a:cubicBezTo>
                <a:lnTo>
                  <a:pt x="227" y="528"/>
                </a:lnTo>
                <a:cubicBezTo>
                  <a:pt x="211" y="528"/>
                  <a:pt x="198" y="517"/>
                  <a:pt x="195" y="503"/>
                </a:cubicBezTo>
                <a:lnTo>
                  <a:pt x="181" y="433"/>
                </a:lnTo>
                <a:cubicBezTo>
                  <a:pt x="167" y="427"/>
                  <a:pt x="154" y="419"/>
                  <a:pt x="142" y="410"/>
                </a:cubicBezTo>
                <a:lnTo>
                  <a:pt x="74" y="432"/>
                </a:lnTo>
                <a:cubicBezTo>
                  <a:pt x="59" y="437"/>
                  <a:pt x="43" y="431"/>
                  <a:pt x="36" y="418"/>
                </a:cubicBezTo>
                <a:lnTo>
                  <a:pt x="6" y="366"/>
                </a:lnTo>
                <a:cubicBezTo>
                  <a:pt x="-2" y="353"/>
                  <a:pt x="1" y="336"/>
                  <a:pt x="12" y="326"/>
                </a:cubicBezTo>
                <a:lnTo>
                  <a:pt x="66" y="279"/>
                </a:lnTo>
                <a:cubicBezTo>
                  <a:pt x="65" y="271"/>
                  <a:pt x="64" y="264"/>
                  <a:pt x="64" y="256"/>
                </a:cubicBezTo>
                <a:cubicBezTo>
                  <a:pt x="64" y="248"/>
                  <a:pt x="65" y="241"/>
                  <a:pt x="66" y="233"/>
                </a:cubicBezTo>
                <a:lnTo>
                  <a:pt x="12" y="186"/>
                </a:lnTo>
                <a:cubicBezTo>
                  <a:pt x="1" y="176"/>
                  <a:pt x="-2" y="159"/>
                  <a:pt x="6" y="146"/>
                </a:cubicBezTo>
                <a:lnTo>
                  <a:pt x="36" y="94"/>
                </a:lnTo>
                <a:cubicBezTo>
                  <a:pt x="43" y="81"/>
                  <a:pt x="59" y="75"/>
                  <a:pt x="74" y="80"/>
                </a:cubicBezTo>
                <a:lnTo>
                  <a:pt x="141" y="102"/>
                </a:lnTo>
                <a:cubicBezTo>
                  <a:pt x="153" y="93"/>
                  <a:pt x="167" y="85"/>
                  <a:pt x="181" y="79"/>
                </a:cubicBezTo>
                <a:lnTo>
                  <a:pt x="195" y="10"/>
                </a:lnTo>
                <a:close/>
                <a:moveTo>
                  <a:pt x="256" y="336"/>
                </a:moveTo>
                <a:cubicBezTo>
                  <a:pt x="285" y="336"/>
                  <a:pt x="311" y="321"/>
                  <a:pt x="325" y="296"/>
                </a:cubicBezTo>
                <a:cubicBezTo>
                  <a:pt x="340" y="271"/>
                  <a:pt x="340" y="240"/>
                  <a:pt x="325" y="216"/>
                </a:cubicBezTo>
                <a:cubicBezTo>
                  <a:pt x="311" y="191"/>
                  <a:pt x="284" y="176"/>
                  <a:pt x="256" y="176"/>
                </a:cubicBezTo>
                <a:cubicBezTo>
                  <a:pt x="227" y="176"/>
                  <a:pt x="201" y="191"/>
                  <a:pt x="187" y="216"/>
                </a:cubicBezTo>
                <a:cubicBezTo>
                  <a:pt x="172" y="241"/>
                  <a:pt x="172" y="272"/>
                  <a:pt x="187" y="296"/>
                </a:cubicBezTo>
                <a:cubicBezTo>
                  <a:pt x="201" y="321"/>
                  <a:pt x="228" y="336"/>
                  <a:pt x="256" y="336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2" name="c3-idx"/>
          <p:cNvSpPr txBox="1"/>
          <p:nvPr/>
        </p:nvSpPr>
        <p:spPr>
          <a:xfrm>
            <a:off x="4826000" y="42291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2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03 / 04</a:t>
            </a:r>
            <a:endParaRPr lang="en-US" sz="820" noProof="1"/>
          </a:p>
        </p:txBody>
      </p:sp>
      <p:sp>
        <p:nvSpPr>
          <p:cNvPr id="33" name="c3-title"/>
          <p:cNvSpPr txBox="1"/>
          <p:nvPr/>
        </p:nvSpPr>
        <p:spPr>
          <a:xfrm>
            <a:off x="927100" y="47371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FFFFFF"/>
                </a:solidFill>
                <a:latin typeface="Space Grotesk"/>
                <a:ea typeface="Space Grotesk"/>
              </a:rPr>
              <a:t>ERPNext Sandbox</a:t>
            </a:r>
            <a:endParaRPr lang="en-US" sz="1350" noProof="1"/>
          </a:p>
        </p:txBody>
      </p:sp>
      <p:sp>
        <p:nvSpPr>
          <p:cNvPr id="34" name="c3-desc"/>
          <p:cNvSpPr txBox="1"/>
          <p:nvPr/>
        </p:nvSpPr>
        <p:spPr>
          <a:xfrm>
            <a:off x="927100" y="50165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วิทยากรเตรียม API Key, Secret Key และ Endpoint จำลองไว้ให้ผู้เรียนเชื่อมต่อผ่าน MCP Server</a:t>
            </a:r>
            <a:endParaRPr lang="en-US" sz="940" noProof="1"/>
          </a:p>
        </p:txBody>
      </p:sp>
      <p:sp>
        <p:nvSpPr>
          <p:cNvPr id="35" name="c3-chip"/>
          <p:cNvSpPr/>
          <p:nvPr/>
        </p:nvSpPr>
        <p:spPr>
          <a:xfrm>
            <a:off x="939800" y="5549900"/>
            <a:ext cx="2057400" cy="254000"/>
          </a:xfrm>
          <a:prstGeom prst="roundRect">
            <a:avLst>
              <a:gd name="adj" fmla="val 50000"/>
            </a:avLst>
          </a:prstGeom>
          <a:solidFill>
            <a:srgbClr val="FBBF24">
              <a:alpha val="7843"/>
            </a:srgbClr>
          </a:solidFill>
          <a:ln w="12700">
            <a:solidFill>
              <a:srgbClr val="FBBF24">
                <a:alpha val="31373"/>
              </a:srgbClr>
            </a:solidFill>
          </a:ln>
        </p:spPr>
      </p:sp>
      <p:sp>
        <p:nvSpPr>
          <p:cNvPr id="36" name="c3-chip-icon"/>
          <p:cNvSpPr/>
          <p:nvPr>
            <p:extLst>
              <p:ext uri="{F5677B7D-0D2A-4D9B-9A5C-6D8D7D0E5A5D}">
                <pptd:icon encoding="base64url">eyJpY29uTmFtZSI6ImZhczpncmFkdWF0aW9uLWNhcCJ9</pptd:icon>
              </p:ext>
            </p:extLst>
          </p:nvPr>
        </p:nvSpPr>
        <p:spPr>
          <a:xfrm>
            <a:off x="1066800" y="56134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8" y="196"/>
                </a:moveTo>
                <a:lnTo>
                  <a:pt x="257" y="282"/>
                </a:lnTo>
                <a:cubicBezTo>
                  <a:pt x="267" y="286"/>
                  <a:pt x="277" y="288"/>
                  <a:pt x="288" y="288"/>
                </a:cubicBezTo>
                <a:cubicBezTo>
                  <a:pt x="299" y="288"/>
                  <a:pt x="309" y="286"/>
                  <a:pt x="319" y="282"/>
                </a:cubicBezTo>
                <a:lnTo>
                  <a:pt x="561" y="182"/>
                </a:lnTo>
                <a:cubicBezTo>
                  <a:pt x="570" y="178"/>
                  <a:pt x="576" y="170"/>
                  <a:pt x="576" y="160"/>
                </a:cubicBezTo>
                <a:cubicBezTo>
                  <a:pt x="576" y="150"/>
                  <a:pt x="570" y="142"/>
                  <a:pt x="561" y="138"/>
                </a:cubicBezTo>
                <a:lnTo>
                  <a:pt x="319" y="38"/>
                </a:lnTo>
                <a:cubicBezTo>
                  <a:pt x="309" y="34"/>
                  <a:pt x="299" y="32"/>
                  <a:pt x="288" y="32"/>
                </a:cubicBezTo>
                <a:cubicBezTo>
                  <a:pt x="277" y="32"/>
                  <a:pt x="267" y="34"/>
                  <a:pt x="257" y="38"/>
                </a:cubicBezTo>
                <a:lnTo>
                  <a:pt x="15" y="138"/>
                </a:lnTo>
                <a:cubicBezTo>
                  <a:pt x="6" y="142"/>
                  <a:pt x="0" y="150"/>
                  <a:pt x="0" y="160"/>
                </a:cubicBezTo>
                <a:lnTo>
                  <a:pt x="0" y="456"/>
                </a:lnTo>
                <a:cubicBezTo>
                  <a:pt x="0" y="469"/>
                  <a:pt x="11" y="480"/>
                  <a:pt x="24" y="480"/>
                </a:cubicBezTo>
                <a:cubicBezTo>
                  <a:pt x="37" y="480"/>
                  <a:pt x="48" y="469"/>
                  <a:pt x="48" y="456"/>
                </a:cubicBezTo>
                <a:lnTo>
                  <a:pt x="48" y="196"/>
                </a:lnTo>
                <a:close/>
                <a:moveTo>
                  <a:pt x="96" y="268"/>
                </a:moveTo>
                <a:lnTo>
                  <a:pt x="96" y="384"/>
                </a:lnTo>
                <a:cubicBezTo>
                  <a:pt x="96" y="437"/>
                  <a:pt x="182" y="480"/>
                  <a:pt x="288" y="480"/>
                </a:cubicBezTo>
                <a:cubicBezTo>
                  <a:pt x="394" y="480"/>
                  <a:pt x="480" y="437"/>
                  <a:pt x="480" y="384"/>
                </a:cubicBezTo>
                <a:lnTo>
                  <a:pt x="480" y="267"/>
                </a:lnTo>
                <a:lnTo>
                  <a:pt x="337" y="326"/>
                </a:lnTo>
                <a:cubicBezTo>
                  <a:pt x="322" y="333"/>
                  <a:pt x="305" y="336"/>
                  <a:pt x="288" y="336"/>
                </a:cubicBezTo>
                <a:cubicBezTo>
                  <a:pt x="271" y="336"/>
                  <a:pt x="255" y="333"/>
                  <a:pt x="239" y="326"/>
                </a:cubicBezTo>
                <a:lnTo>
                  <a:pt x="96" y="267"/>
                </a:ln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37" name="c3-chip-text"/>
          <p:cNvSpPr txBox="1"/>
          <p:nvPr/>
        </p:nvSpPr>
        <p:spPr>
          <a:xfrm>
            <a:off x="1244600" y="5549900"/>
            <a:ext cx="1701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PROVIDED BY INSTRUCTOR</a:t>
            </a:r>
            <a:endParaRPr lang="en-US" sz="820" noProof="1"/>
          </a:p>
        </p:txBody>
      </p:sp>
      <p:sp>
        <p:nvSpPr>
          <p:cNvPr id="38" name="c4-bg"/>
          <p:cNvSpPr/>
          <p:nvPr/>
        </p:nvSpPr>
        <p:spPr>
          <a:xfrm>
            <a:off x="6172200" y="3975100"/>
            <a:ext cx="5334000" cy="1968500"/>
          </a:xfrm>
          <a:prstGeom prst="roundRect">
            <a:avLst>
              <a:gd name="adj" fmla="val 6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39" name="c4-top"/>
          <p:cNvSpPr/>
          <p:nvPr/>
        </p:nvSpPr>
        <p:spPr>
          <a:xfrm>
            <a:off x="6248400" y="3975100"/>
            <a:ext cx="51816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c4-tile"/>
          <p:cNvSpPr/>
          <p:nvPr/>
        </p:nvSpPr>
        <p:spPr>
          <a:xfrm>
            <a:off x="6400800" y="42164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25098"/>
              </a:srgbClr>
            </a:solidFill>
          </a:ln>
        </p:spPr>
      </p:sp>
      <p:sp>
        <p:nvSpPr>
          <p:cNvPr id="41" name="c4-icon"/>
          <p:cNvSpPr/>
          <p:nvPr>
            <p:extLst>
              <p:ext uri="{F5677B7D-0D2A-4D9B-9A5C-6D8D7D0E5A5D}">
                <pptd:icon encoding="base64url">eyJpY29uTmFtZSI6ImZhczpjb2RlIn0</pptd:icon>
              </p:ext>
            </p:extLst>
          </p:nvPr>
        </p:nvSpPr>
        <p:spPr>
          <a:xfrm>
            <a:off x="6515100" y="4330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2" name="c4-idx"/>
          <p:cNvSpPr txBox="1"/>
          <p:nvPr/>
        </p:nvSpPr>
        <p:spPr>
          <a:xfrm>
            <a:off x="10312400" y="4229100"/>
            <a:ext cx="939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2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04 / 04</a:t>
            </a:r>
            <a:endParaRPr lang="en-US" sz="820" noProof="1"/>
          </a:p>
        </p:txBody>
      </p:sp>
      <p:sp>
        <p:nvSpPr>
          <p:cNvPr id="43" name="c4-title"/>
          <p:cNvSpPr txBox="1"/>
          <p:nvPr/>
        </p:nvSpPr>
        <p:spPr>
          <a:xfrm>
            <a:off x="6413500" y="47371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FFFFFF"/>
                </a:solidFill>
                <a:latin typeface="Space Grotesk"/>
                <a:ea typeface="Space Grotesk"/>
              </a:rPr>
              <a:t>Starter Repository</a:t>
            </a:r>
            <a:endParaRPr lang="en-US" sz="1350" noProof="1"/>
          </a:p>
        </p:txBody>
      </p:sp>
      <p:sp>
        <p:nvSpPr>
          <p:cNvPr id="44" name="c4-desc"/>
          <p:cNvSpPr txBox="1"/>
          <p:nvPr/>
        </p:nvSpPr>
        <p:spPr>
          <a:xfrm>
            <a:off x="6413500" y="5016500"/>
            <a:ext cx="4889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Boilerplate code ของ MCP Server และตัวเชื่อม Telegram Bot วิทยากรเตรียมไว้ให้ clone ประหยัดเวลาเริ่มต้น</a:t>
            </a:r>
            <a:endParaRPr lang="en-US" sz="940" noProof="1"/>
          </a:p>
        </p:txBody>
      </p:sp>
      <p:sp>
        <p:nvSpPr>
          <p:cNvPr id="45" name="c4-chip"/>
          <p:cNvSpPr/>
          <p:nvPr/>
        </p:nvSpPr>
        <p:spPr>
          <a:xfrm>
            <a:off x="6426200" y="5549900"/>
            <a:ext cx="1346200" cy="254000"/>
          </a:xfrm>
          <a:prstGeom prst="roundRect">
            <a:avLst>
              <a:gd name="adj" fmla="val 50000"/>
            </a:avLst>
          </a:prstGeom>
          <a:solidFill>
            <a:srgbClr val="10B981">
              <a:alpha val="7843"/>
            </a:srgbClr>
          </a:solidFill>
          <a:ln w="12700">
            <a:solidFill>
              <a:srgbClr val="10B981">
                <a:alpha val="31373"/>
              </a:srgbClr>
            </a:solidFill>
          </a:ln>
        </p:spPr>
      </p:sp>
      <p:sp>
        <p:nvSpPr>
          <p:cNvPr id="46" name="c4-chip-icon"/>
          <p:cNvSpPr/>
          <p:nvPr>
            <p:extLst>
              <p:ext uri="{F5677B7D-0D2A-4D9B-9A5C-6D8D7D0E5A5D}">
                <pptd:icon encoding="base64url">eyJpY29uTmFtZSI6ImZhczp0ZXJtaW5hbCJ9</pptd:icon>
              </p:ext>
            </p:extLst>
          </p:nvPr>
        </p:nvSpPr>
        <p:spPr>
          <a:xfrm>
            <a:off x="6553200" y="56134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" y="119"/>
                </a:moveTo>
                <a:cubicBezTo>
                  <a:pt x="-3" y="106"/>
                  <a:pt x="-3" y="86"/>
                  <a:pt x="9" y="73"/>
                </a:cubicBezTo>
                <a:cubicBezTo>
                  <a:pt x="22" y="61"/>
                  <a:pt x="42" y="61"/>
                  <a:pt x="55" y="73"/>
                </a:cubicBezTo>
                <a:lnTo>
                  <a:pt x="215" y="233"/>
                </a:lnTo>
                <a:cubicBezTo>
                  <a:pt x="227" y="246"/>
                  <a:pt x="227" y="266"/>
                  <a:pt x="215" y="279"/>
                </a:cubicBezTo>
                <a:lnTo>
                  <a:pt x="55" y="439"/>
                </a:lnTo>
                <a:cubicBezTo>
                  <a:pt x="42" y="451"/>
                  <a:pt x="22" y="451"/>
                  <a:pt x="9" y="439"/>
                </a:cubicBezTo>
                <a:cubicBezTo>
                  <a:pt x="-3" y="426"/>
                  <a:pt x="-3" y="406"/>
                  <a:pt x="9" y="393"/>
                </a:cubicBezTo>
                <a:lnTo>
                  <a:pt x="147" y="256"/>
                </a:lnTo>
                <a:lnTo>
                  <a:pt x="9" y="119"/>
                </a:lnTo>
                <a:close/>
                <a:moveTo>
                  <a:pt x="224" y="384"/>
                </a:move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224" y="448"/>
                </a:lnTo>
                <a:cubicBezTo>
                  <a:pt x="206" y="448"/>
                  <a:pt x="192" y="434"/>
                  <a:pt x="192" y="416"/>
                </a:cubicBezTo>
                <a:cubicBezTo>
                  <a:pt x="192" y="398"/>
                  <a:pt x="206" y="384"/>
                  <a:pt x="224" y="384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7" name="c4-chip-text"/>
          <p:cNvSpPr txBox="1"/>
          <p:nvPr/>
        </p:nvSpPr>
        <p:spPr>
          <a:xfrm>
            <a:off x="6731000" y="55499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CLONE · 2 MIN</a:t>
            </a:r>
            <a:endParaRPr lang="en-US" sz="820" noProof="1"/>
          </a:p>
        </p:txBody>
      </p:sp>
      <p:sp>
        <p:nvSpPr>
          <p:cNvPr id="48" name="banner"/>
          <p:cNvSpPr/>
          <p:nvPr/>
        </p:nvSpPr>
        <p:spPr>
          <a:xfrm>
            <a:off x="685800" y="5867400"/>
            <a:ext cx="10820400" cy="406400"/>
          </a:xfrm>
          <a:prstGeom prst="roundRect">
            <a:avLst>
              <a:gd name="adj" fmla="val 30000"/>
            </a:avLst>
          </a:prstGeom>
          <a:solidFill>
            <a:srgbClr val="131B2E">
              <a:alpha val="50196"/>
            </a:srgbClr>
          </a:solidFill>
          <a:ln w="12700">
            <a:solidFill>
              <a:srgbClr val="263453"/>
            </a:solidFill>
            <a:prstDash val="dash"/>
          </a:ln>
        </p:spPr>
      </p:sp>
      <p:sp>
        <p:nvSpPr>
          <p:cNvPr id="49" name="banner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4673600" y="5994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50" name="banner-text"/>
          <p:cNvSpPr txBox="1"/>
          <p:nvPr/>
        </p:nvSpPr>
        <p:spPr>
          <a:xfrm>
            <a:off x="4902200" y="5956300"/>
            <a:ext cx="431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ครบทั้ง 4 ข้อ =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พร้อมเริ่มได้ทันทีที่ห้องเริ่ม</a:t>
            </a:r>
            <a:endParaRPr lang="en-US" sz="1050" noProof="1"/>
          </a:p>
        </p:txBody>
      </p:sp>
      <p:sp>
        <p:nvSpPr>
          <p:cNvPr id="51" name="page-num"/>
          <p:cNvSpPr txBox="1"/>
          <p:nvPr/>
        </p:nvSpPr>
        <p:spPr>
          <a:xfrm>
            <a:off x="342900" y="6438900"/>
            <a:ext cx="63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12</a:t>
            </a:r>
            <a:endParaRPr lang="en-US" sz="800" noProof="1"/>
          </a:p>
        </p:txBody>
      </p:sp>
      <p:sp>
        <p:nvSpPr>
          <p:cNvPr id="52" name="footer-right"/>
          <p:cNvSpPr txBox="1"/>
          <p:nvPr/>
        </p:nvSpPr>
        <p:spPr>
          <a:xfrm>
            <a:off x="9906000" y="6438900"/>
            <a:ext cx="1955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7239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57300" y="6350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APPENDIX · LEARNER'S GUIDE</a:t>
            </a:r>
            <a:endParaRPr lang="en-US" sz="850" noProof="1"/>
          </a:p>
        </p:txBody>
      </p:sp>
      <p:sp>
        <p:nvSpPr>
          <p:cNvPr id="4" name="section-label"/>
          <p:cNvSpPr txBox="1"/>
          <p:nvPr/>
        </p:nvSpPr>
        <p:spPr>
          <a:xfrm>
            <a:off x="9906000" y="635000"/>
            <a:ext cx="16764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50" noProof="1" spc="200" kern="0">
                <a:solidFill>
                  <a:srgbClr val="94A3B8"/>
                </a:solidFill>
                <a:latin typeface="JetBrains Mono"/>
                <a:ea typeface="JetBrains Mono"/>
              </a:rPr>
              <a:t>7 TOPICS</a:t>
            </a:r>
            <a:endParaRPr lang="en-US" sz="850" noProof="1"/>
          </a:p>
        </p:txBody>
      </p:sp>
      <p:sp>
        <p:nvSpPr>
          <p:cNvPr id="5" name="title"/>
          <p:cNvSpPr txBox="1"/>
          <p:nvPr/>
        </p:nvSpPr>
        <p:spPr>
          <a:xfrm>
            <a:off x="609600" y="1219200"/>
            <a:ext cx="762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5600" noProof="1" b="1">
                <a:solidFill>
                  <a:srgbClr val="FFFFFF"/>
                </a:solidFill>
                <a:latin typeface="Loma"/>
                <a:ea typeface="Loma"/>
              </a:rPr>
              <a:t>คู่มือผู้เรียน</a:t>
            </a:r>
            <a:endParaRPr lang="en-US" sz="5600" noProof="1"/>
          </a:p>
        </p:txBody>
      </p:sp>
      <p:sp>
        <p:nvSpPr>
          <p:cNvPr id="6" name="title-en"/>
          <p:cNvSpPr txBox="1"/>
          <p:nvPr/>
        </p:nvSpPr>
        <p:spPr>
          <a:xfrm>
            <a:off x="609600" y="22352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spc="300" kern="0">
                <a:solidFill>
                  <a:srgbClr val="06B6D4"/>
                </a:solidFill>
                <a:latin typeface="JetBrains Mono"/>
                <a:ea typeface="JetBrains Mono"/>
              </a:rPr>
              <a:t>STEP-BY-STEP HANDBOOK</a:t>
            </a:r>
            <a:endParaRPr lang="en-US" sz="2000" noProof="1"/>
          </a:p>
        </p:txBody>
      </p:sp>
      <p:sp>
        <p:nvSpPr>
          <p:cNvPr id="7" name="subtitle"/>
          <p:cNvSpPr txBox="1"/>
          <p:nvPr/>
        </p:nvSpPr>
        <p:spPr>
          <a:xfrm>
            <a:off x="609600" y="27686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94A3B8"/>
                </a:solidFill>
                <a:latin typeface="Loma"/>
                <a:ea typeface="Loma"/>
              </a:rPr>
              <a:t>ทำตามได้ทีละขั้นตอน ไม่ต้องมีพื้นฐานโปรแกรมมิ่ง — เก็บไว้เปิดดูระหว่างทำ workshop</a:t>
            </a:r>
            <a:endParaRPr lang="en-US" sz="1200" noProof="1"/>
          </a:p>
        </p:txBody>
      </p:sp>
      <p:sp>
        <p:nvSpPr>
          <p:cNvPr id="8" name="title-bar"/>
          <p:cNvSpPr/>
          <p:nvPr/>
        </p:nvSpPr>
        <p:spPr>
          <a:xfrm>
            <a:off x="609600" y="3200400"/>
            <a:ext cx="533400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9" name="t1-num"/>
          <p:cNvSpPr txBox="1"/>
          <p:nvPr/>
        </p:nvSpPr>
        <p:spPr>
          <a:xfrm>
            <a:off x="609600" y="37084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6B6D4"/>
                </a:solidFill>
                <a:latin typeface="JetBrains Mono"/>
                <a:ea typeface="JetBrains Mono"/>
              </a:rPr>
              <a:t>01</a:t>
            </a:r>
            <a:endParaRPr lang="en-US" sz="1100" noProof="1"/>
          </a:p>
        </p:txBody>
      </p:sp>
      <p:sp>
        <p:nvSpPr>
          <p:cNvPr id="10" name="t1"/>
          <p:cNvSpPr txBox="1"/>
          <p:nvPr/>
        </p:nvSpPr>
        <p:spPr>
          <a:xfrm>
            <a:off x="1041400" y="3708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ติดตั้ง Telegram บนมือถือหรือ PC</a:t>
            </a:r>
            <a:endParaRPr lang="en-US" sz="1300" noProof="1"/>
          </a:p>
        </p:txBody>
      </p:sp>
      <p:sp>
        <p:nvSpPr>
          <p:cNvPr id="11" name="t2-num"/>
          <p:cNvSpPr txBox="1"/>
          <p:nvPr/>
        </p:nvSpPr>
        <p:spPr>
          <a:xfrm>
            <a:off x="609600" y="4191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 lang="en-US" sz="1100" noProof="1"/>
          </a:p>
        </p:txBody>
      </p:sp>
      <p:sp>
        <p:nvSpPr>
          <p:cNvPr id="12" name="t2"/>
          <p:cNvSpPr txBox="1"/>
          <p:nvPr/>
        </p:nvSpPr>
        <p:spPr>
          <a:xfrm>
            <a:off x="1041400" y="41910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สร้าง Telegram Bot และคุยกับ Agent</a:t>
            </a:r>
            <a:endParaRPr lang="en-US" sz="1300" noProof="1"/>
          </a:p>
        </p:txBody>
      </p:sp>
      <p:sp>
        <p:nvSpPr>
          <p:cNvPr id="13" name="t3-num"/>
          <p:cNvSpPr txBox="1"/>
          <p:nvPr/>
        </p:nvSpPr>
        <p:spPr>
          <a:xfrm>
            <a:off x="609600" y="4673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6B6D4"/>
                </a:solidFill>
                <a:latin typeface="JetBrains Mono"/>
                <a:ea typeface="JetBrains Mono"/>
              </a:rPr>
              <a:t>03</a:t>
            </a:r>
            <a:endParaRPr lang="en-US" sz="1100" noProof="1"/>
          </a:p>
        </p:txBody>
      </p:sp>
      <p:sp>
        <p:nvSpPr>
          <p:cNvPr id="14" name="t3"/>
          <p:cNvSpPr txBox="1"/>
          <p:nvPr/>
        </p:nvSpPr>
        <p:spPr>
          <a:xfrm>
            <a:off x="1041400" y="4673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เปิดใช้งาน wallet.tempo.xyz</a:t>
            </a:r>
            <a:endParaRPr lang="en-US" sz="1300" noProof="1"/>
          </a:p>
        </p:txBody>
      </p:sp>
      <p:sp>
        <p:nvSpPr>
          <p:cNvPr id="15" name="t4-num"/>
          <p:cNvSpPr txBox="1"/>
          <p:nvPr/>
        </p:nvSpPr>
        <p:spPr>
          <a:xfrm>
            <a:off x="609600" y="51562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6B6D4"/>
                </a:solidFill>
                <a:latin typeface="JetBrains Mono"/>
                <a:ea typeface="JetBrains Mono"/>
              </a:rPr>
              <a:t>04</a:t>
            </a:r>
            <a:endParaRPr lang="en-US" sz="1100" noProof="1"/>
          </a:p>
        </p:txBody>
      </p:sp>
      <p:sp>
        <p:nvSpPr>
          <p:cNvPr id="16" name="t4"/>
          <p:cNvSpPr txBox="1"/>
          <p:nvPr/>
        </p:nvSpPr>
        <p:spPr>
          <a:xfrm>
            <a:off x="1041400" y="5156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รับโอน USDC (ส่ง wallet address)</a:t>
            </a:r>
            <a:endParaRPr lang="en-US" sz="1300" noProof="1"/>
          </a:p>
        </p:txBody>
      </p:sp>
      <p:sp>
        <p:nvSpPr>
          <p:cNvPr id="17" name="t5-num"/>
          <p:cNvSpPr txBox="1"/>
          <p:nvPr/>
        </p:nvSpPr>
        <p:spPr>
          <a:xfrm>
            <a:off x="6248400" y="37084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A78BFA"/>
                </a:solidFill>
                <a:latin typeface="JetBrains Mono"/>
                <a:ea typeface="JetBrains Mono"/>
              </a:rPr>
              <a:t>05</a:t>
            </a:r>
            <a:endParaRPr lang="en-US" sz="1100" noProof="1"/>
          </a:p>
        </p:txBody>
      </p:sp>
      <p:sp>
        <p:nvSpPr>
          <p:cNvPr id="18" name="t5"/>
          <p:cNvSpPr txBox="1"/>
          <p:nvPr/>
        </p:nvSpPr>
        <p:spPr>
          <a:xfrm>
            <a:off x="6680200" y="3708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โอน USDC อย่างปลอดภัย</a:t>
            </a:r>
            <a:endParaRPr lang="en-US" sz="1300" noProof="1"/>
          </a:p>
        </p:txBody>
      </p:sp>
      <p:sp>
        <p:nvSpPr>
          <p:cNvPr id="19" name="t6-num"/>
          <p:cNvSpPr txBox="1"/>
          <p:nvPr/>
        </p:nvSpPr>
        <p:spPr>
          <a:xfrm>
            <a:off x="6248400" y="41910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A78BFA"/>
                </a:solidFill>
                <a:latin typeface="JetBrains Mono"/>
                <a:ea typeface="JetBrains Mono"/>
              </a:rPr>
              <a:t>06</a:t>
            </a:r>
            <a:endParaRPr lang="en-US" sz="1100" noProof="1"/>
          </a:p>
        </p:txBody>
      </p:sp>
      <p:sp>
        <p:nvSpPr>
          <p:cNvPr id="20" name="t6"/>
          <p:cNvSpPr txBox="1"/>
          <p:nvPr/>
        </p:nvSpPr>
        <p:spPr>
          <a:xfrm>
            <a:off x="6680200" y="4191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ใช้งาน tryponcho.com</a:t>
            </a:r>
            <a:endParaRPr lang="en-US" sz="1300" noProof="1"/>
          </a:p>
        </p:txBody>
      </p:sp>
      <p:sp>
        <p:nvSpPr>
          <p:cNvPr id="21" name="t7-num"/>
          <p:cNvSpPr txBox="1"/>
          <p:nvPr/>
        </p:nvSpPr>
        <p:spPr>
          <a:xfrm>
            <a:off x="6248400" y="4673600"/>
            <a:ext cx="38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A78BFA"/>
                </a:solidFill>
                <a:latin typeface="JetBrains Mono"/>
                <a:ea typeface="JetBrains Mono"/>
              </a:rPr>
              <a:t>07</a:t>
            </a:r>
            <a:endParaRPr lang="en-US" sz="1100" noProof="1"/>
          </a:p>
        </p:txBody>
      </p:sp>
      <p:sp>
        <p:nvSpPr>
          <p:cNvPr id="22" name="t7"/>
          <p:cNvSpPr txBox="1"/>
          <p:nvPr/>
        </p:nvSpPr>
        <p:spPr>
          <a:xfrm>
            <a:off x="6680200" y="46736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E2E8F0"/>
                </a:solidFill>
                <a:latin typeface="Loma"/>
                <a:ea typeface="Loma"/>
              </a:rPr>
              <a:t>Deposit จาก Tempo Wallet เข้า TryPoncho</a:t>
            </a:r>
            <a:endParaRPr lang="en-US" sz="1300" noProof="1"/>
          </a:p>
        </p:txBody>
      </p:sp>
      <p:sp>
        <p:nvSpPr>
          <p:cNvPr id="23" name="guide-hint-icon"/>
          <p:cNvSpPr/>
          <p:nvPr>
            <p:extLst>
              <p:ext uri="{F5677B7D-0D2A-4D9B-9A5C-6D8D7D0E5A5D}">
                <pptd:icon encoding="base64url">eyJpY29uTmFtZSI6ImZhczpib29rLW9wZW4ifQ</pptd:icon>
              </p:ext>
            </p:extLst>
          </p:nvPr>
        </p:nvSpPr>
        <p:spPr>
          <a:xfrm>
            <a:off x="6248400" y="513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141"/>
                </a:moveTo>
                <a:lnTo>
                  <a:pt x="256" y="451"/>
                </a:lnTo>
                <a:lnTo>
                  <a:pt x="257" y="450"/>
                </a:lnTo>
                <a:cubicBezTo>
                  <a:pt x="311" y="428"/>
                  <a:pt x="370" y="416"/>
                  <a:pt x="429" y="416"/>
                </a:cubicBezTo>
                <a:lnTo>
                  <a:pt x="448" y="416"/>
                </a:lnTo>
                <a:lnTo>
                  <a:pt x="448" y="96"/>
                </a:lnTo>
                <a:lnTo>
                  <a:pt x="429" y="96"/>
                </a:lnTo>
                <a:cubicBezTo>
                  <a:pt x="387" y="96"/>
                  <a:pt x="345" y="104"/>
                  <a:pt x="306" y="121"/>
                </a:cubicBezTo>
                <a:cubicBezTo>
                  <a:pt x="289" y="128"/>
                  <a:pt x="272" y="135"/>
                  <a:pt x="256" y="141"/>
                </a:cubicBezTo>
                <a:close/>
                <a:moveTo>
                  <a:pt x="231" y="62"/>
                </a:moveTo>
                <a:lnTo>
                  <a:pt x="256" y="72"/>
                </a:lnTo>
                <a:lnTo>
                  <a:pt x="281" y="62"/>
                </a:lnTo>
                <a:cubicBezTo>
                  <a:pt x="328" y="42"/>
                  <a:pt x="378" y="32"/>
                  <a:pt x="429" y="32"/>
                </a:cubicBezTo>
                <a:lnTo>
                  <a:pt x="464" y="32"/>
                </a:lnTo>
                <a:cubicBezTo>
                  <a:pt x="491" y="32"/>
                  <a:pt x="512" y="54"/>
                  <a:pt x="512" y="80"/>
                </a:cubicBezTo>
                <a:lnTo>
                  <a:pt x="512" y="432"/>
                </a:lnTo>
                <a:cubicBezTo>
                  <a:pt x="512" y="459"/>
                  <a:pt x="491" y="480"/>
                  <a:pt x="464" y="480"/>
                </a:cubicBezTo>
                <a:lnTo>
                  <a:pt x="429" y="480"/>
                </a:lnTo>
                <a:cubicBezTo>
                  <a:pt x="378" y="480"/>
                  <a:pt x="328" y="490"/>
                  <a:pt x="281" y="510"/>
                </a:cubicBezTo>
                <a:lnTo>
                  <a:pt x="268" y="515"/>
                </a:lnTo>
                <a:cubicBezTo>
                  <a:pt x="260" y="518"/>
                  <a:pt x="252" y="518"/>
                  <a:pt x="244" y="515"/>
                </a:cubicBezTo>
                <a:lnTo>
                  <a:pt x="231" y="509"/>
                </a:lnTo>
                <a:cubicBezTo>
                  <a:pt x="184" y="490"/>
                  <a:pt x="134" y="480"/>
                  <a:pt x="83" y="480"/>
                </a:cubicBezTo>
                <a:lnTo>
                  <a:pt x="48" y="480"/>
                </a:lnTo>
                <a:cubicBezTo>
                  <a:pt x="22" y="480"/>
                  <a:pt x="0" y="459"/>
                  <a:pt x="0" y="432"/>
                </a:cubicBezTo>
                <a:lnTo>
                  <a:pt x="0" y="80"/>
                </a:lnTo>
                <a:cubicBezTo>
                  <a:pt x="0" y="54"/>
                  <a:pt x="22" y="32"/>
                  <a:pt x="48" y="32"/>
                </a:cubicBezTo>
                <a:lnTo>
                  <a:pt x="83" y="32"/>
                </a:lnTo>
                <a:cubicBezTo>
                  <a:pt x="134" y="32"/>
                  <a:pt x="184" y="42"/>
                  <a:pt x="231" y="6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4" name="guide-hint"/>
          <p:cNvSpPr txBox="1"/>
          <p:nvPr/>
        </p:nvSpPr>
        <p:spPr>
          <a:xfrm>
            <a:off x="6477000" y="5105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94A3B8"/>
                </a:solidFill>
                <a:latin typeface="Loma"/>
                <a:ea typeface="Loma"/>
              </a:rPr>
              <a:t>แต่ละหัวข้อมีขั้นตอนเป็นหมายเลข พร้อมข้อควรระวังท้ายหน้า</a:t>
            </a:r>
            <a:endParaRPr lang="en-US" sz="980" noProof="1"/>
          </a:p>
        </p:txBody>
      </p:sp>
      <p:sp>
        <p:nvSpPr>
          <p:cNvPr id="25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13 / 24</a:t>
            </a:r>
            <a:endParaRPr lang="en-US" sz="800" noProof="1"/>
          </a:p>
        </p:txBody>
      </p:sp>
      <p:sp>
        <p:nvSpPr>
          <p:cNvPr id="26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01 · TELEGRAM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eyJpY29uTmFtZSI6ImZhczpwYXBlci1wbGFuZSJ9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36" y="-26"/>
                </a:moveTo>
                <a:cubicBezTo>
                  <a:pt x="546" y="-30"/>
                  <a:pt x="557" y="-27"/>
                  <a:pt x="564" y="-20"/>
                </a:cubicBezTo>
                <a:cubicBezTo>
                  <a:pt x="572" y="-13"/>
                  <a:pt x="574" y="-2"/>
                  <a:pt x="571" y="8"/>
                </a:cubicBezTo>
                <a:lnTo>
                  <a:pt x="393" y="505"/>
                </a:lnTo>
                <a:cubicBezTo>
                  <a:pt x="388" y="519"/>
                  <a:pt x="375" y="528"/>
                  <a:pt x="360" y="528"/>
                </a:cubicBezTo>
                <a:cubicBezTo>
                  <a:pt x="346" y="528"/>
                  <a:pt x="333" y="519"/>
                  <a:pt x="328" y="506"/>
                </a:cubicBezTo>
                <a:lnTo>
                  <a:pt x="263" y="348"/>
                </a:lnTo>
                <a:cubicBezTo>
                  <a:pt x="259" y="337"/>
                  <a:pt x="261" y="325"/>
                  <a:pt x="269" y="316"/>
                </a:cubicBezTo>
                <a:lnTo>
                  <a:pt x="363" y="203"/>
                </a:lnTo>
                <a:cubicBezTo>
                  <a:pt x="368" y="197"/>
                  <a:pt x="368" y="188"/>
                  <a:pt x="362" y="183"/>
                </a:cubicBezTo>
                <a:cubicBezTo>
                  <a:pt x="357" y="177"/>
                  <a:pt x="348" y="177"/>
                  <a:pt x="342" y="182"/>
                </a:cubicBezTo>
                <a:lnTo>
                  <a:pt x="229" y="276"/>
                </a:lnTo>
                <a:cubicBezTo>
                  <a:pt x="220" y="284"/>
                  <a:pt x="208" y="286"/>
                  <a:pt x="197" y="281"/>
                </a:cubicBezTo>
                <a:lnTo>
                  <a:pt x="38" y="217"/>
                </a:lnTo>
                <a:cubicBezTo>
                  <a:pt x="25" y="212"/>
                  <a:pt x="16" y="199"/>
                  <a:pt x="16" y="185"/>
                </a:cubicBezTo>
                <a:cubicBezTo>
                  <a:pt x="16" y="170"/>
                  <a:pt x="26" y="157"/>
                  <a:pt x="40" y="152"/>
                </a:cubicBezTo>
                <a:lnTo>
                  <a:pt x="536" y="-26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01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ติดตั้ง Telegram บนมือถือหรือ PC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เลือกเครื่องที่ถนัดได้เลย — บัญชีเดียวกันใช้พร้อมกันได้ทั้งมือถือและคอมพิวเตอร์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9304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930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558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558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MOBILE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2019300" y="1955800"/>
            <a:ext cx="4064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มือถือ: App Store หรือ Google Play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844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ค้นหาคำว่า Telegram แล้วกดติดตั้ง (ฟรี ไม่มีค่าใช้จ่าย)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6416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641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67000"/>
            <a:ext cx="8128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67000"/>
            <a:ext cx="81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DESKTOP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2070100" y="2667000"/>
            <a:ext cx="4191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คอมพิวเตอร์: เปิด telegram.org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956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หรือค้นหา Telegram Desktop ใน Microsoft Store / Mac App Store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528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52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78200"/>
            <a:ext cx="7366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78200"/>
            <a:ext cx="736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SIGN UP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1993900" y="3378200"/>
            <a:ext cx="4191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เปิดแอป กด Start Messaging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6068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กรอกเบอร์มือถือของคุณ (ประเทศไทยเลือกรหัส +66)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640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64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89400"/>
            <a:ext cx="5080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894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OTP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1765300" y="40894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ยืนยันรหัส OTP ที่ส่งมาทาง SMS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318000"/>
            <a:ext cx="495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ตั้งชื่อ-นามสกุล เป็นอันเสร็จ พร้อมใช้งานทันที</a:t>
            </a:r>
            <a:endParaRPr lang="en-US" sz="980" noProof="1"/>
          </a:p>
        </p:txBody>
      </p:sp>
      <p:sp>
        <p:nvSpPr>
          <p:cNvPr id="32" name="tip-bar"/>
          <p:cNvSpPr/>
          <p:nvPr/>
        </p:nvSpPr>
        <p:spPr>
          <a:xfrm>
            <a:off x="685800" y="4927600"/>
            <a:ext cx="38100" cy="3556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3" name="tip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850900" y="5016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4" name="tip-text"/>
          <p:cNvSpPr txBox="1"/>
          <p:nvPr/>
        </p:nvSpPr>
        <p:spPr>
          <a:xfrm>
            <a:off x="1092200" y="49657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ตั้ง Username ที่ Settings → Edit Profile จะช่วยให้เพื่อนร่วมห้องและวิทยากรค้นหาคุณเจอง่ายขึ้น</a:t>
            </a:r>
            <a:endParaRPr lang="en-US" sz="1010" noProof="1"/>
          </a:p>
        </p:txBody>
      </p:sp>
      <p:sp>
        <p:nvSpPr>
          <p:cNvPr id="35" name="rc-bg"/>
          <p:cNvSpPr/>
          <p:nvPr/>
        </p:nvSpPr>
        <p:spPr>
          <a:xfrm>
            <a:off x="6781800" y="1930400"/>
            <a:ext cx="47244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36" name="rc-top"/>
          <p:cNvSpPr/>
          <p:nvPr/>
        </p:nvSpPr>
        <p:spPr>
          <a:xfrm>
            <a:off x="6858000" y="1930400"/>
            <a:ext cx="45720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7" name="rc-head-icon"/>
          <p:cNvSpPr/>
          <p:nvPr>
            <p:extLst>
              <p:ext uri="{F5677B7D-0D2A-4D9B-9A5C-6D8D7D0E5A5D}">
                <pptd:icon encoding="base64url">eyJpY29uTmFtZSI6ImZhczptb2JpbGUtc2NyZWVuLWJ1dHRvbiJ9</pptd:icon>
              </p:ext>
            </p:extLst>
          </p:nvPr>
        </p:nvSpPr>
        <p:spPr>
          <a:xfrm>
            <a:off x="7035800" y="2184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80" y="64"/>
                </a:move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lnTo>
                  <a:pt x="80" y="64"/>
                </a:lnTo>
                <a:close/>
                <a:moveTo>
                  <a:pt x="192" y="472"/>
                </a:moveTo>
                <a:cubicBezTo>
                  <a:pt x="210" y="472"/>
                  <a:pt x="224" y="458"/>
                  <a:pt x="224" y="440"/>
                </a:cubicBezTo>
                <a:cubicBezTo>
                  <a:pt x="224" y="422"/>
                  <a:pt x="210" y="408"/>
                  <a:pt x="192" y="408"/>
                </a:cubicBezTo>
                <a:cubicBezTo>
                  <a:pt x="174" y="408"/>
                  <a:pt x="160" y="422"/>
                  <a:pt x="160" y="440"/>
                </a:cubicBezTo>
                <a:cubicBezTo>
                  <a:pt x="160" y="458"/>
                  <a:pt x="174" y="472"/>
                  <a:pt x="192" y="47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8" name="rc-head"/>
          <p:cNvSpPr txBox="1"/>
          <p:nvPr/>
        </p:nvSpPr>
        <p:spPr>
          <a:xfrm>
            <a:off x="7289800" y="2159000"/>
            <a:ext cx="2794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Loma"/>
                <a:ea typeface="Loma"/>
              </a:rPr>
              <a:t>ใช้เครื่องไหนดี?</a:t>
            </a:r>
            <a:endParaRPr lang="en-US" sz="1200" noProof="1"/>
          </a:p>
        </p:txBody>
      </p:sp>
      <p:sp>
        <p:nvSpPr>
          <p:cNvPr id="39" name="rc-m-icon"/>
          <p:cNvSpPr/>
          <p:nvPr>
            <p:extLst>
              <p:ext uri="{F5677B7D-0D2A-4D9B-9A5C-6D8D7D0E5A5D}">
                <pptd:icon encoding="base64url">eyJpY29uTmFtZSI6ImZhczptb2JpbGUtc2NyZWVuIn0</pptd:icon>
              </p:ext>
            </p:extLst>
          </p:nvPr>
        </p:nvSpPr>
        <p:spPr>
          <a:xfrm>
            <a:off x="7035800" y="2616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" y="64"/>
                </a:moveTo>
                <a:cubicBezTo>
                  <a:pt x="16" y="29"/>
                  <a:pt x="45" y="0"/>
                  <a:pt x="80" y="0"/>
                </a:cubicBezTo>
                <a:lnTo>
                  <a:pt x="304" y="0"/>
                </a:lnTo>
                <a:cubicBezTo>
                  <a:pt x="339" y="0"/>
                  <a:pt x="368" y="29"/>
                  <a:pt x="368" y="64"/>
                </a:cubicBezTo>
                <a:lnTo>
                  <a:pt x="368" y="448"/>
                </a:lnTo>
                <a:cubicBezTo>
                  <a:pt x="368" y="483"/>
                  <a:pt x="339" y="512"/>
                  <a:pt x="304" y="512"/>
                </a:cubicBezTo>
                <a:lnTo>
                  <a:pt x="80" y="512"/>
                </a:lnTo>
                <a:cubicBezTo>
                  <a:pt x="45" y="512"/>
                  <a:pt x="16" y="483"/>
                  <a:pt x="16" y="448"/>
                </a:cubicBezTo>
                <a:lnTo>
                  <a:pt x="16" y="64"/>
                </a:lnTo>
                <a:close/>
                <a:moveTo>
                  <a:pt x="128" y="440"/>
                </a:moveTo>
                <a:cubicBezTo>
                  <a:pt x="128" y="453"/>
                  <a:pt x="139" y="464"/>
                  <a:pt x="152" y="464"/>
                </a:cubicBezTo>
                <a:lnTo>
                  <a:pt x="232" y="464"/>
                </a:lnTo>
                <a:cubicBezTo>
                  <a:pt x="245" y="464"/>
                  <a:pt x="256" y="453"/>
                  <a:pt x="256" y="440"/>
                </a:cubicBezTo>
                <a:cubicBezTo>
                  <a:pt x="256" y="427"/>
                  <a:pt x="245" y="416"/>
                  <a:pt x="232" y="416"/>
                </a:cubicBezTo>
                <a:lnTo>
                  <a:pt x="152" y="416"/>
                </a:lnTo>
                <a:cubicBezTo>
                  <a:pt x="139" y="416"/>
                  <a:pt x="128" y="427"/>
                  <a:pt x="128" y="440"/>
                </a:cubicBezTo>
                <a:close/>
                <a:moveTo>
                  <a:pt x="304" y="64"/>
                </a:moveTo>
                <a:lnTo>
                  <a:pt x="80" y="64"/>
                </a:lnTo>
                <a:lnTo>
                  <a:pt x="80" y="368"/>
                </a:lnTo>
                <a:lnTo>
                  <a:pt x="304" y="368"/>
                </a:lnTo>
                <a:lnTo>
                  <a:pt x="304" y="64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0" name="rc-m-title"/>
          <p:cNvSpPr txBox="1"/>
          <p:nvPr/>
        </p:nvSpPr>
        <p:spPr>
          <a:xfrm>
            <a:off x="7289800" y="25908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1F5F9"/>
                </a:solidFill>
                <a:latin typeface="Loma"/>
                <a:ea typeface="Loma"/>
              </a:rPr>
              <a:t>มือถือ</a:t>
            </a:r>
            <a:endParaRPr lang="en-US" sz="1050" noProof="1"/>
          </a:p>
        </p:txBody>
      </p:sp>
      <p:sp>
        <p:nvSpPr>
          <p:cNvPr id="41" name="rc-m-desc"/>
          <p:cNvSpPr txBox="1"/>
          <p:nvPr/>
        </p:nvSpPr>
        <p:spPr>
          <a:xfrm>
            <a:off x="7289800" y="28067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สะดวกสุดสำหรับรับ OTP และพกพาไปห้องเรียน ใช้สแกน QR / ถ่ายรูปหน้าจอได้</a:t>
            </a:r>
            <a:endParaRPr lang="en-US" sz="940" noProof="1"/>
          </a:p>
        </p:txBody>
      </p:sp>
      <p:sp>
        <p:nvSpPr>
          <p:cNvPr id="42" name="rc-div1"/>
          <p:cNvSpPr/>
          <p:nvPr/>
        </p:nvSpPr>
        <p:spPr>
          <a:xfrm>
            <a:off x="7035800" y="3276600"/>
            <a:ext cx="42164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3" name="rc-d-icon"/>
          <p:cNvSpPr/>
          <p:nvPr>
            <p:extLst>
              <p:ext uri="{F5677B7D-0D2A-4D9B-9A5C-6D8D7D0E5A5D}">
                <pptd:icon encoding="base64url">eyJpY29uTmFtZSI6ImZhczpsYXB0b3AifQ</pptd:icon>
              </p:ext>
            </p:extLst>
          </p:nvPr>
        </p:nvSpPr>
        <p:spPr>
          <a:xfrm>
            <a:off x="7035800" y="34544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28" y="32"/>
                </a:moveTo>
                <a:cubicBezTo>
                  <a:pt x="93" y="32"/>
                  <a:pt x="64" y="61"/>
                  <a:pt x="64" y="96"/>
                </a:cubicBezTo>
                <a:lnTo>
                  <a:pt x="64" y="336"/>
                </a:lnTo>
                <a:lnTo>
                  <a:pt x="128" y="336"/>
                </a:lnTo>
                <a:lnTo>
                  <a:pt x="128" y="96"/>
                </a:lnTo>
                <a:lnTo>
                  <a:pt x="512" y="96"/>
                </a:lnTo>
                <a:lnTo>
                  <a:pt x="512" y="336"/>
                </a:lnTo>
                <a:lnTo>
                  <a:pt x="576" y="336"/>
                </a:lnTo>
                <a:lnTo>
                  <a:pt x="576" y="96"/>
                </a:lnTo>
                <a:cubicBezTo>
                  <a:pt x="576" y="61"/>
                  <a:pt x="547" y="32"/>
                  <a:pt x="512" y="32"/>
                </a:cubicBezTo>
                <a:lnTo>
                  <a:pt x="128" y="32"/>
                </a:lnTo>
                <a:close/>
                <a:moveTo>
                  <a:pt x="19" y="384"/>
                </a:moveTo>
                <a:cubicBezTo>
                  <a:pt x="9" y="384"/>
                  <a:pt x="0" y="393"/>
                  <a:pt x="0" y="403"/>
                </a:cubicBezTo>
                <a:cubicBezTo>
                  <a:pt x="0" y="446"/>
                  <a:pt x="34" y="480"/>
                  <a:pt x="77" y="480"/>
                </a:cubicBezTo>
                <a:lnTo>
                  <a:pt x="563" y="480"/>
                </a:lnTo>
                <a:cubicBezTo>
                  <a:pt x="606" y="480"/>
                  <a:pt x="640" y="446"/>
                  <a:pt x="640" y="403"/>
                </a:cubicBezTo>
                <a:cubicBezTo>
                  <a:pt x="640" y="393"/>
                  <a:pt x="631" y="384"/>
                  <a:pt x="621" y="384"/>
                </a:cubicBezTo>
                <a:lnTo>
                  <a:pt x="19" y="384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4" name="rc-d-title"/>
          <p:cNvSpPr txBox="1"/>
          <p:nvPr/>
        </p:nvSpPr>
        <p:spPr>
          <a:xfrm>
            <a:off x="7289800" y="3429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1F5F9"/>
                </a:solidFill>
                <a:latin typeface="Loma"/>
                <a:ea typeface="Loma"/>
              </a:rPr>
              <a:t>คอมพิวเตอร์</a:t>
            </a:r>
            <a:endParaRPr lang="en-US" sz="1050" noProof="1"/>
          </a:p>
        </p:txBody>
      </p:sp>
      <p:sp>
        <p:nvSpPr>
          <p:cNvPr id="45" name="rc-d-desc"/>
          <p:cNvSpPr txBox="1"/>
          <p:nvPr/>
        </p:nvSpPr>
        <p:spPr>
          <a:xfrm>
            <a:off x="7289800" y="36449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พิมพ์ยาวสะดวก คัดลอก Token / Address ง่าย เหมาะทำงานคู่กับเบราว์เซอร์</a:t>
            </a:r>
            <a:endParaRPr lang="en-US" sz="940" noProof="1"/>
          </a:p>
        </p:txBody>
      </p:sp>
      <p:sp>
        <p:nvSpPr>
          <p:cNvPr id="46" name="rc-div2"/>
          <p:cNvSpPr/>
          <p:nvPr/>
        </p:nvSpPr>
        <p:spPr>
          <a:xfrm>
            <a:off x="7035800" y="4114800"/>
            <a:ext cx="42164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7" name="rc-b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7035800" y="43180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8" name="rc-b-title"/>
          <p:cNvSpPr txBox="1"/>
          <p:nvPr/>
        </p:nvSpPr>
        <p:spPr>
          <a:xfrm>
            <a:off x="7289800" y="4292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1F5F9"/>
                </a:solidFill>
                <a:latin typeface="Loma"/>
                <a:ea typeface="Loma"/>
              </a:rPr>
              <a:t>ลงทั้งสองเครื่องก็ได้</a:t>
            </a:r>
            <a:endParaRPr lang="en-US" sz="1050" noProof="1"/>
          </a:p>
        </p:txBody>
      </p:sp>
      <p:sp>
        <p:nvSpPr>
          <p:cNvPr id="49" name="rc-b-desc"/>
          <p:cNvSpPr txBox="1"/>
          <p:nvPr/>
        </p:nvSpPr>
        <p:spPr>
          <a:xfrm>
            <a:off x="7289800" y="4508500"/>
            <a:ext cx="393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ข้อความ sync กันอัตโนมัติ ล็อกอินครั้งเดียวใช้ได้พร้อมกันทุกอุปกรณ์</a:t>
            </a:r>
            <a:endParaRPr lang="en-US" sz="940" noProof="1"/>
          </a:p>
        </p:txBody>
      </p:sp>
      <p:sp>
        <p:nvSpPr>
          <p:cNvPr id="50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14 / 24</a:t>
            </a:r>
            <a:endParaRPr lang="en-US" sz="800" noProof="1"/>
          </a:p>
        </p:txBody>
      </p:sp>
      <p:sp>
        <p:nvSpPr>
          <p:cNvPr id="51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02 · TELEGRAM BOT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02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787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สร้าง Telegram Bot และแชตกับ Agent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สองส่วนต่อเนื้อกัน — สร้าง Bot ของตัวเองกับ @BotFather แล้วลองคุยกับ Agent (thClaws)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8" name="ca-bg"/>
          <p:cNvSpPr/>
          <p:nvPr/>
        </p:nvSpPr>
        <p:spPr>
          <a:xfrm>
            <a:off x="685800" y="1879600"/>
            <a:ext cx="52578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33333"/>
              </a:srgbClr>
            </a:solidFill>
          </a:ln>
        </p:spPr>
      </p:sp>
      <p:sp>
        <p:nvSpPr>
          <p:cNvPr id="9" name="ca-top"/>
          <p:cNvSpPr/>
          <p:nvPr/>
        </p:nvSpPr>
        <p:spPr>
          <a:xfrm>
            <a:off x="762000" y="1879600"/>
            <a:ext cx="51054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0" name="ca-head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927100" y="2133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1" name="ca-head"/>
          <p:cNvSpPr txBox="1"/>
          <p:nvPr/>
        </p:nvSpPr>
        <p:spPr>
          <a:xfrm>
            <a:off x="1193800" y="2108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PART A</a:t>
            </a:r>
            <a:r>
              <a:rPr lang="en-US" sz="1100" noProof="1">
                <a:solidFill>
                  <a:srgbClr val="06B6D4"/>
                </a:solidFill>
                <a:latin typeface="Loma"/>
                <a:ea typeface="Loma"/>
              </a:rPr>
              <a:t>  · สร้าง Bot กับ @BotFather</a:t>
            </a:r>
            <a:endParaRPr lang="en-US" sz="1600" noProof="1"/>
          </a:p>
        </p:txBody>
      </p:sp>
      <p:sp>
        <p:nvSpPr>
          <p:cNvPr id="12" name="ca-s1"/>
          <p:cNvSpPr txBox="1"/>
          <p:nvPr/>
        </p:nvSpPr>
        <p:spPr>
          <a:xfrm>
            <a:off x="927100" y="2540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06B6D4"/>
                </a:solidFill>
                <a:latin typeface="JetBrains Mono"/>
                <a:ea typeface="JetBrains Mono"/>
              </a:rPr>
              <a:t>1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ค้นหา @BotFather ในช่อง Search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เลือกบัญชีที่มีติ๊กถูกสีฟ้า (Verified) ของแท้ตัวเดียวเท่านั้น</a:t>
            </a:r>
            <a:endParaRPr lang="en-US" sz="1600" noProof="1"/>
          </a:p>
        </p:txBody>
      </p:sp>
      <p:sp>
        <p:nvSpPr>
          <p:cNvPr id="13" name="ca-s2"/>
          <p:cNvSpPr txBox="1"/>
          <p:nvPr/>
        </p:nvSpPr>
        <p:spPr>
          <a:xfrm>
            <a:off x="927100" y="30988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06B6D4"/>
                </a:solidFill>
                <a:latin typeface="JetBrains Mono"/>
                <a:ea typeface="JetBrains Mono"/>
              </a:rPr>
              <a:t>2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กด Start แล้วพิมพ์ /newbot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BotFather จะถามชื่อ Bot ตอบเป็นชื่อที่แสดง เช่น My Shop Agent</a:t>
            </a:r>
            <a:endParaRPr lang="en-US" sz="1600" noProof="1"/>
          </a:p>
        </p:txBody>
      </p:sp>
      <p:sp>
        <p:nvSpPr>
          <p:cNvPr id="14" name="ca-s3"/>
          <p:cNvSpPr txBox="1"/>
          <p:nvPr/>
        </p:nvSpPr>
        <p:spPr>
          <a:xfrm>
            <a:off x="927100" y="36576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06B6D4"/>
                </a:solidFill>
                <a:latin typeface="JetBrains Mono"/>
                <a:ea typeface="JetBrains Mono"/>
              </a:rPr>
              <a:t>3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ตั้ง Username ลงท้ายด้วย bot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เช่น myshop_agent_bot — ถ้าชื่อซ้ำระบบจะให้ตั้งใหม่</a:t>
            </a:r>
            <a:endParaRPr lang="en-US" sz="1600" noProof="1"/>
          </a:p>
        </p:txBody>
      </p:sp>
      <p:sp>
        <p:nvSpPr>
          <p:cNvPr id="15" name="ca-s4"/>
          <p:cNvSpPr txBox="1"/>
          <p:nvPr/>
        </p:nvSpPr>
        <p:spPr>
          <a:xfrm>
            <a:off x="927100" y="42164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06B6D4"/>
                </a:solidFill>
                <a:latin typeface="JetBrains Mono"/>
                <a:ea typeface="JetBrains Mono"/>
              </a:rPr>
              <a:t>4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รับ Token แล้วเก็บทันที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ข้อความยาวรูปแบบ 123456:ABC-DEF... คัดลอกไว้ใน Notes</a:t>
            </a:r>
            <a:endParaRPr lang="en-US" sz="1600" noProof="1"/>
          </a:p>
        </p:txBody>
      </p:sp>
      <p:sp>
        <p:nvSpPr>
          <p:cNvPr id="16" name="ca-done"/>
          <p:cNvSpPr txBox="1"/>
          <p:nvPr/>
        </p:nvSpPr>
        <p:spPr>
          <a:xfrm>
            <a:off x="927100" y="4826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10B981"/>
                </a:solidFill>
                <a:latin typeface="Loma"/>
                <a:ea typeface="Loma"/>
              </a:rPr>
              <a:t>✓ เสร็จแล้ว</a:t>
            </a:r>
            <a:r>
              <a:rPr lang="en-US" sz="980" noProof="1">
                <a:solidFill>
                  <a:srgbClr val="94A3B8"/>
                </a:solidFill>
                <a:latin typeface="Loma"/>
                <a:ea typeface="Loma"/>
              </a:rPr>
              <a:t> — Bot ของคุณพร้อมใช้งานใน Telegram</a:t>
            </a:r>
            <a:endParaRPr lang="en-US" sz="1600" noProof="1"/>
          </a:p>
        </p:txBody>
      </p:sp>
      <p:sp>
        <p:nvSpPr>
          <p:cNvPr id="17" name="cb-bg"/>
          <p:cNvSpPr/>
          <p:nvPr/>
        </p:nvSpPr>
        <p:spPr>
          <a:xfrm>
            <a:off x="6248400" y="1879600"/>
            <a:ext cx="52578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7C3AED">
                <a:alpha val="33333"/>
              </a:srgbClr>
            </a:solidFill>
          </a:ln>
        </p:spPr>
      </p:sp>
      <p:sp>
        <p:nvSpPr>
          <p:cNvPr id="18" name="cb-top"/>
          <p:cNvSpPr/>
          <p:nvPr/>
        </p:nvSpPr>
        <p:spPr>
          <a:xfrm>
            <a:off x="6324600" y="1879600"/>
            <a:ext cx="51054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cb-head-icon"/>
          <p:cNvSpPr/>
          <p:nvPr>
            <p:extLst>
              <p:ext uri="{F5677B7D-0D2A-4D9B-9A5C-6D8D7D0E5A5D}">
                <pptd:icon encoding="base64url">eyJpY29uTmFtZSI6ImZhczptZXNzYWdlIn0</pptd:icon>
              </p:ext>
            </p:extLst>
          </p:nvPr>
        </p:nvSpPr>
        <p:spPr>
          <a:xfrm>
            <a:off x="6489700" y="2133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352"/>
                </a:moveTo>
                <a:lnTo>
                  <a:pt x="0" y="128"/>
                </a:lnTo>
                <a:cubicBezTo>
                  <a:pt x="0" y="75"/>
                  <a:pt x="43" y="32"/>
                  <a:pt x="96" y="32"/>
                </a:cubicBezTo>
                <a:lnTo>
                  <a:pt x="416" y="32"/>
                </a:lnTo>
                <a:cubicBezTo>
                  <a:pt x="469" y="32"/>
                  <a:pt x="512" y="75"/>
                  <a:pt x="512" y="128"/>
                </a:cubicBezTo>
                <a:lnTo>
                  <a:pt x="512" y="352"/>
                </a:lnTo>
                <a:cubicBezTo>
                  <a:pt x="512" y="405"/>
                  <a:pt x="469" y="448"/>
                  <a:pt x="416" y="448"/>
                </a:cubicBezTo>
                <a:lnTo>
                  <a:pt x="296" y="448"/>
                </a:lnTo>
                <a:cubicBezTo>
                  <a:pt x="291" y="448"/>
                  <a:pt x="286" y="450"/>
                  <a:pt x="282" y="453"/>
                </a:cubicBezTo>
                <a:lnTo>
                  <a:pt x="166" y="539"/>
                </a:lnTo>
                <a:cubicBezTo>
                  <a:pt x="162" y="542"/>
                  <a:pt x="157" y="544"/>
                  <a:pt x="152" y="544"/>
                </a:cubicBezTo>
                <a:cubicBezTo>
                  <a:pt x="139" y="544"/>
                  <a:pt x="128" y="533"/>
                  <a:pt x="128" y="520"/>
                </a:cubicBezTo>
                <a:lnTo>
                  <a:pt x="128" y="448"/>
                </a:lnTo>
                <a:lnTo>
                  <a:pt x="96" y="448"/>
                </a:lnTo>
                <a:cubicBezTo>
                  <a:pt x="43" y="448"/>
                  <a:pt x="0" y="405"/>
                  <a:pt x="0" y="35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0" name="cb-head"/>
          <p:cNvSpPr txBox="1"/>
          <p:nvPr/>
        </p:nvSpPr>
        <p:spPr>
          <a:xfrm>
            <a:off x="6756400" y="210820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PART B</a:t>
            </a:r>
            <a:r>
              <a:rPr lang="en-US" sz="1100" noProof="1">
                <a:solidFill>
                  <a:srgbClr val="A78BFA"/>
                </a:solidFill>
                <a:latin typeface="Loma"/>
                <a:ea typeface="Loma"/>
              </a:rPr>
              <a:t>  · แชตกับ Agent (thClaws)</a:t>
            </a:r>
            <a:endParaRPr lang="en-US" sz="1600" noProof="1"/>
          </a:p>
        </p:txBody>
      </p:sp>
      <p:sp>
        <p:nvSpPr>
          <p:cNvPr id="21" name="cb-s1"/>
          <p:cNvSpPr txBox="1"/>
          <p:nvPr/>
        </p:nvSpPr>
        <p:spPr>
          <a:xfrm>
            <a:off x="6489700" y="2540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A78BFA"/>
                </a:solidFill>
                <a:latin typeface="JetBrains Mono"/>
                <a:ea typeface="JetBrains Mono"/>
              </a:rPr>
              <a:t>1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เปิดแชต Bot ของ Agent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ค้นหาชื่อ Bot หรือกดลิงก์ที่วิทยากรแจกในห้องเรียน</a:t>
            </a:r>
            <a:endParaRPr lang="en-US" sz="1600" noProof="1"/>
          </a:p>
        </p:txBody>
      </p:sp>
      <p:sp>
        <p:nvSpPr>
          <p:cNvPr id="22" name="cb-s2"/>
          <p:cNvSpPr txBox="1"/>
          <p:nvPr/>
        </p:nvSpPr>
        <p:spPr>
          <a:xfrm>
            <a:off x="6489700" y="30988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A78BFA"/>
                </a:solidFill>
                <a:latin typeface="JetBrains Mono"/>
                <a:ea typeface="JetBrains Mono"/>
              </a:rPr>
              <a:t>2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กด Start เพื่อเริ่มบทสนทนา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Agent จะทักกลับพร้อมแนะนำคำสั่งที่ใช้ได้</a:t>
            </a:r>
            <a:endParaRPr lang="en-US" sz="1600" noProof="1"/>
          </a:p>
        </p:txBody>
      </p:sp>
      <p:sp>
        <p:nvSpPr>
          <p:cNvPr id="23" name="cb-s3"/>
          <p:cNvSpPr txBox="1"/>
          <p:nvPr/>
        </p:nvSpPr>
        <p:spPr>
          <a:xfrm>
            <a:off x="6489700" y="36576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A78BFA"/>
                </a:solidFill>
                <a:latin typeface="JetBrains Mono"/>
                <a:ea typeface="JetBrains Mono"/>
              </a:rPr>
              <a:t>3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พิมพ์คำสั่งเป็นภาษาคน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เช่น "อ่านไฟล์ยอดขายแล้วสรุปให้หน่อย" ไม่ต้องเขียนโค้ด</a:t>
            </a:r>
            <a:endParaRPr lang="en-US" sz="1600" noProof="1"/>
          </a:p>
        </p:txBody>
      </p:sp>
      <p:sp>
        <p:nvSpPr>
          <p:cNvPr id="24" name="cb-s4"/>
          <p:cNvSpPr txBox="1"/>
          <p:nvPr/>
        </p:nvSpPr>
        <p:spPr>
          <a:xfrm>
            <a:off x="6489700" y="42164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A78BFA"/>
                </a:solidFill>
                <a:latin typeface="JetBrains Mono"/>
                <a:ea typeface="JetBrains Mono"/>
              </a:rPr>
              <a:t>4  </a:t>
            </a:r>
            <a:r>
              <a:rPr lang="en-US" sz="1050" noProof="1">
                <a:solidFill>
                  <a:srgbClr val="FFFFFF"/>
                </a:solidFill>
                <a:latin typeface="Loma"/>
                <a:ea typeface="Loma"/>
              </a:rPr>
              <a:t>รอ Agent ตอบกลับในแชต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     ถ้างานใหญ่อาจใช้เวลาสักครู่ ดูสถานะกำลังประมวลผลได้ในแชต</a:t>
            </a:r>
            <a:endParaRPr lang="en-US" sz="1600" noProof="1"/>
          </a:p>
        </p:txBody>
      </p:sp>
      <p:sp>
        <p:nvSpPr>
          <p:cNvPr id="25" name="cb-done"/>
          <p:cNvSpPr txBox="1"/>
          <p:nvPr/>
        </p:nvSpPr>
        <p:spPr>
          <a:xfrm>
            <a:off x="6489700" y="4826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10B981"/>
                </a:solidFill>
                <a:latin typeface="Loma"/>
                <a:ea typeface="Loma"/>
              </a:rPr>
              <a:t>✓ จำไว้</a:t>
            </a:r>
            <a:r>
              <a:rPr lang="en-US" sz="980" noProof="1">
                <a:solidFill>
                  <a:srgbClr val="94A3B8"/>
                </a:solidFill>
                <a:latin typeface="Loma"/>
                <a:ea typeface="Loma"/>
              </a:rPr>
              <a:t> — คุยเหมือนแชตกับคนปกติ ยิ่งบริบทชัด คำตอบยิ่งตรง</a:t>
            </a:r>
            <a:endParaRPr lang="en-US" sz="1600" noProof="1"/>
          </a:p>
        </p:txBody>
      </p:sp>
      <p:sp>
        <p:nvSpPr>
          <p:cNvPr id="26" name="warn"/>
          <p:cNvSpPr/>
          <p:nvPr/>
        </p:nvSpPr>
        <p:spPr>
          <a:xfrm>
            <a:off x="685800" y="5562600"/>
            <a:ext cx="10820400" cy="457200"/>
          </a:xfrm>
          <a:prstGeom prst="roundRect">
            <a:avLst>
              <a:gd name="adj" fmla="val 24000"/>
            </a:avLst>
          </a:prstGeom>
          <a:solidFill>
            <a:srgbClr val="FBBF24">
              <a:alpha val="7059"/>
            </a:srgbClr>
          </a:solidFill>
          <a:ln w="12700">
            <a:solidFill>
              <a:srgbClr val="FBBF24">
                <a:alpha val="37647"/>
              </a:srgbClr>
            </a:solidFill>
            <a:prstDash val="dash"/>
          </a:ln>
        </p:spPr>
      </p:sp>
      <p:sp>
        <p:nvSpPr>
          <p:cNvPr id="27" name="warn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850900" y="57023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28" name="warn-text"/>
          <p:cNvSpPr txBox="1"/>
          <p:nvPr/>
        </p:nvSpPr>
        <p:spPr>
          <a:xfrm>
            <a:off x="1092200" y="56769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FBBF24"/>
                </a:solidFill>
                <a:latin typeface="Loma"/>
                <a:ea typeface="Loma"/>
              </a:rPr>
              <a:t>Token คือรหัสผ่านของ Bot</a:t>
            </a: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 — ห้ามส่งให้คนอื่น ห้ามโพสต์ลงกลุ่ม ถ้าหลุดให้กลับไปที่ @BotFather แล้วใช้ /revoke ออกตัวใหม่</a:t>
            </a:r>
            <a:endParaRPr lang="en-US" sz="1010" noProof="1"/>
          </a:p>
        </p:txBody>
      </p:sp>
      <p:sp>
        <p:nvSpPr>
          <p:cNvPr id="29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15 / 24</a:t>
            </a:r>
            <a:endParaRPr lang="en-US" sz="800" noProof="1"/>
          </a:p>
        </p:txBody>
      </p:sp>
      <p:sp>
        <p:nvSpPr>
          <p:cNvPr id="30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03 · TEMPO WALLET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03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660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เปิดใช้งาน wallet.tempo.xyz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กระเป๋าเงินดิจิทัลแบบ passkey — สร้างเสร็จในไม่ถึง 1 นาที ไม่ต้องจด seed phrase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9304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930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55800"/>
            <a:ext cx="5588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558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OPEN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1816100" y="19558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เปิดเบราว์เซอร์ไปที่ wallet.tempo.xyz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84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ใช้ Chrome หรือ Safari บนมือถือหรือคอมพิวเตอร์ก็ได้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6416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641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67000"/>
            <a:ext cx="6858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67000"/>
            <a:ext cx="685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SIGN IN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1943100" y="26670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กดปุ่ม Sign in with Tempo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95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ปุ่มสีดำที่มุมขวาบนของหน้าเว็บ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528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52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782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782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PASSKEY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2019300" y="33782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สร้าง Passkey เมื่อระบบถาม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606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ยืนยันตัวตนด้วย Face ID / Touch ID / Windows Hello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64000"/>
            <a:ext cx="342900" cy="3429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64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89400"/>
            <a:ext cx="635000" cy="215900"/>
          </a:xfrm>
          <a:prstGeom prst="roundRect">
            <a:avLst>
              <a:gd name="adj" fmla="val 24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89400"/>
            <a:ext cx="635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READY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1892300" y="40894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ได้ Wallet พร้อมใช้งานทันที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318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เห็นหน้ายอดเงิน พร้อมปุ่ม Send / Receive / Deposit</a:t>
            </a:r>
            <a:endParaRPr lang="en-US" sz="980" noProof="1"/>
          </a:p>
        </p:txBody>
      </p:sp>
      <p:sp>
        <p:nvSpPr>
          <p:cNvPr id="32" name="tip-bar"/>
          <p:cNvSpPr/>
          <p:nvPr/>
        </p:nvSpPr>
        <p:spPr>
          <a:xfrm>
            <a:off x="685800" y="4927600"/>
            <a:ext cx="38100" cy="3556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3" name="tip-icon"/>
          <p:cNvSpPr/>
          <p:nvPr>
            <p:extLst>
              <p:ext uri="{F5677B7D-0D2A-4D9B-9A5C-6D8D7D0E5A5D}">
                <pptd:icon encoding="base64url">eyJpY29uTmFtZSI6ImZhczpzaGllbGQtaGFsdmVkIn0</pptd:icon>
              </p:ext>
            </p:extLst>
          </p:nvPr>
        </p:nvSpPr>
        <p:spPr>
          <a:xfrm>
            <a:off x="850900" y="5016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4" name="tip-text"/>
          <p:cNvSpPr txBox="1"/>
          <p:nvPr/>
        </p:nvSpPr>
        <p:spPr>
          <a:xfrm>
            <a:off x="1092200" y="49657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Passkey ผูกกับอุปกรณ์เครื่องนั้น — ถ้าจะเปลี่ยนมือถือ ให้เพิ่ม passkey บนเครื่องใหม่ก่อนลบเครื่องเก่า</a:t>
            </a:r>
            <a:endParaRPr lang="en-US" sz="1010" noProof="1"/>
          </a:p>
        </p:txBody>
      </p:sp>
      <p:pic>
        <p:nvPicPr>
          <p:cNvPr id="35" name="web-img"/>
          <p:cNvPicPr/>
          <p:nvPr/>
        </p:nvPicPr>
        <p:blipFill>
          <a:blip r:embed="rId3"/>
          <a:srcRect t="10" b="10"/>
          <a:stretch>
            <a:fillRect/>
          </a:stretch>
        </p:blipFill>
        <p:spPr>
          <a:xfrm>
            <a:off x="6781800" y="1930400"/>
            <a:ext cx="4724400" cy="3162300"/>
          </a:xfrm>
          <a:prstGeom prst="roundRect">
            <a:avLst>
              <a:gd name="adj" fmla="val 5000"/>
            </a:avLst>
          </a:prstGeom>
          <a:ln>
            <a:noFill/>
          </a:ln>
        </p:spPr>
      </p:pic>
      <p:sp>
        <p:nvSpPr>
          <p:cNvPr id="36" name="web-caption"/>
          <p:cNvSpPr txBox="1"/>
          <p:nvPr/>
        </p:nvSpPr>
        <p:spPr>
          <a:xfrm>
            <a:off x="6781800" y="51435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94A3B8"/>
                </a:solidFill>
                <a:latin typeface="Loma"/>
                <a:ea typeface="Loma"/>
              </a:rPr>
              <a:t>หน้าแรกของ wallet.tempo.xyz — กด Sign in with Tempo มุมขวาบน</a:t>
            </a:r>
            <a:endParaRPr lang="en-US" sz="820" noProof="1"/>
          </a:p>
        </p:txBody>
      </p:sp>
      <p:sp>
        <p:nvSpPr>
          <p:cNvPr id="37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16 / 24</a:t>
            </a:r>
            <a:endParaRPr lang="en-US" sz="800" noProof="1"/>
          </a:p>
        </p:txBody>
      </p:sp>
      <p:sp>
        <p:nvSpPr>
          <p:cNvPr id="38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55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04 · RECEIVE USDC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04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รับโอน USDC เข้า Wallet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ไม่ต้องทำอะไรที่ wallet เลย — แค่คัดลอก address ของตัวเองส่งให้คนโอน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8796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879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05000"/>
            <a:ext cx="5588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050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OPEN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1816100" y="19050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 wallet.tempo.xyz แล้ว Sign in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33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ยืนยันตัวตนด้วย passkey ตามปกติ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590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16200"/>
            <a:ext cx="7366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16200"/>
            <a:ext cx="736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RECEIVE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1993900" y="26162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กดปุ่ม Receive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44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หน้าจอจะแสดง Wallet Address พร้อม QR code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020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02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27400"/>
            <a:ext cx="5588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274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COPY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1816100" y="33274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กด Copy คัดลอก Address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556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ขึ้นต้นด้วย 0x... ยาว 42 ตัวอักษร คัดลอกมาให้ครบทั้งบรรทัด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132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132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38600"/>
            <a:ext cx="6096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386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SHARE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1866900" y="40386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วางส่งให้ผู้โอนทาง Telegram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26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หรือยื่นหน้าจอให้ผู้โอนสแกน QR ได้เลยถ้าอยู่ด้วยกัน</a:t>
            </a:r>
            <a:endParaRPr lang="en-US" sz="980" noProof="1"/>
          </a:p>
        </p:txBody>
      </p:sp>
      <p:sp>
        <p:nvSpPr>
          <p:cNvPr id="32" name="st5-circle"/>
          <p:cNvSpPr/>
          <p:nvPr/>
        </p:nvSpPr>
        <p:spPr>
          <a:xfrm>
            <a:off x="685800" y="47244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t5-num"/>
          <p:cNvSpPr txBox="1"/>
          <p:nvPr/>
        </p:nvSpPr>
        <p:spPr>
          <a:xfrm>
            <a:off x="685800" y="4724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5</a:t>
            </a:r>
            <a:endParaRPr lang="en-US" sz="1050" noProof="1"/>
          </a:p>
        </p:txBody>
      </p:sp>
      <p:sp>
        <p:nvSpPr>
          <p:cNvPr id="34" name="st5-chip"/>
          <p:cNvSpPr/>
          <p:nvPr/>
        </p:nvSpPr>
        <p:spPr>
          <a:xfrm>
            <a:off x="1155700" y="4749800"/>
            <a:ext cx="6350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35" name="st5-chip-text"/>
          <p:cNvSpPr txBox="1"/>
          <p:nvPr/>
        </p:nvSpPr>
        <p:spPr>
          <a:xfrm>
            <a:off x="1155700" y="4749800"/>
            <a:ext cx="635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CHECK</a:t>
            </a:r>
            <a:endParaRPr lang="en-US" sz="820" noProof="1"/>
          </a:p>
        </p:txBody>
      </p:sp>
      <p:sp>
        <p:nvSpPr>
          <p:cNvPr id="36" name="st5-title"/>
          <p:cNvSpPr txBox="1"/>
          <p:nvPr/>
        </p:nvSpPr>
        <p:spPr>
          <a:xfrm>
            <a:off x="1892300" y="47498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รอเงินเข้า แล้วเช็กยอดหน้า Wallet</a:t>
            </a:r>
            <a:endParaRPr lang="en-US" sz="1050" noProof="1"/>
          </a:p>
        </p:txBody>
      </p:sp>
      <p:sp>
        <p:nvSpPr>
          <p:cNvPr id="37" name="st5-desc"/>
          <p:cNvSpPr txBox="1"/>
          <p:nvPr/>
        </p:nvSpPr>
        <p:spPr>
          <a:xfrm>
            <a:off x="1143000" y="497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ปกติไม่กี่วินาทีถึง 1 นาที ยอดจะอัปเดตเอง</a:t>
            </a:r>
            <a:endParaRPr lang="en-US" sz="980" noProof="1"/>
          </a:p>
        </p:txBody>
      </p:sp>
      <p:sp>
        <p:nvSpPr>
          <p:cNvPr id="38" name="tip-bar"/>
          <p:cNvSpPr/>
          <p:nvPr/>
        </p:nvSpPr>
        <p:spPr>
          <a:xfrm>
            <a:off x="685800" y="5435600"/>
            <a:ext cx="38100" cy="355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tip-icon"/>
          <p:cNvSpPr/>
          <p:nvPr>
            <p:extLst>
              <p:ext uri="{F5677B7D-0D2A-4D9B-9A5C-6D8D7D0E5A5D}">
                <pptd:icon encoding="base64url">eyJpY29uTmFtZSI6ImZhczpjaXJjbGUtaW5mbyJ9</pptd:icon>
              </p:ext>
            </p:extLst>
          </p:nvPr>
        </p:nvSpPr>
        <p:spPr>
          <a:xfrm>
            <a:off x="850900" y="5524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224" y="160"/>
                </a:move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ubicBezTo>
                  <a:pt x="288" y="178"/>
                  <a:pt x="274" y="192"/>
                  <a:pt x="256" y="192"/>
                </a:cubicBezTo>
                <a:cubicBezTo>
                  <a:pt x="238" y="192"/>
                  <a:pt x="224" y="178"/>
                  <a:pt x="224" y="160"/>
                </a:cubicBezTo>
                <a:close/>
                <a:moveTo>
                  <a:pt x="216" y="224"/>
                </a:moveTo>
                <a:lnTo>
                  <a:pt x="264" y="224"/>
                </a:lnTo>
                <a:cubicBezTo>
                  <a:pt x="277" y="224"/>
                  <a:pt x="288" y="235"/>
                  <a:pt x="288" y="248"/>
                </a:cubicBezTo>
                <a:lnTo>
                  <a:pt x="288" y="336"/>
                </a:lnTo>
                <a:lnTo>
                  <a:pt x="296" y="336"/>
                </a:lnTo>
                <a:cubicBezTo>
                  <a:pt x="309" y="336"/>
                  <a:pt x="320" y="347"/>
                  <a:pt x="320" y="360"/>
                </a:cubicBezTo>
                <a:cubicBezTo>
                  <a:pt x="320" y="373"/>
                  <a:pt x="309" y="384"/>
                  <a:pt x="296" y="384"/>
                </a:cubicBezTo>
                <a:lnTo>
                  <a:pt x="216" y="384"/>
                </a:lnTo>
                <a:cubicBezTo>
                  <a:pt x="203" y="384"/>
                  <a:pt x="192" y="373"/>
                  <a:pt x="192" y="360"/>
                </a:cubicBezTo>
                <a:cubicBezTo>
                  <a:pt x="192" y="347"/>
                  <a:pt x="203" y="336"/>
                  <a:pt x="216" y="336"/>
                </a:cubicBezTo>
                <a:lnTo>
                  <a:pt x="240" y="336"/>
                </a:lnTo>
                <a:lnTo>
                  <a:pt x="240" y="272"/>
                </a:lnTo>
                <a:lnTo>
                  <a:pt x="216" y="272"/>
                </a:lnTo>
                <a:cubicBezTo>
                  <a:pt x="203" y="272"/>
                  <a:pt x="192" y="261"/>
                  <a:pt x="192" y="248"/>
                </a:cubicBezTo>
                <a:cubicBezTo>
                  <a:pt x="192" y="235"/>
                  <a:pt x="203" y="224"/>
                  <a:pt x="216" y="224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0" name="tip-text"/>
          <p:cNvSpPr txBox="1"/>
          <p:nvPr/>
        </p:nvSpPr>
        <p:spPr>
          <a:xfrm>
            <a:off x="1092200" y="54737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Address เดิมใช้รับเงินได้ทุกครั้ง ไม่ต้องสร้างใหม่ — ดูประวัติรับโอนได้ที่ mppscan.com</a:t>
            </a:r>
            <a:endParaRPr lang="en-US" sz="1010" noProof="1"/>
          </a:p>
        </p:txBody>
      </p:sp>
      <p:sp>
        <p:nvSpPr>
          <p:cNvPr id="41" name="rc-bg"/>
          <p:cNvSpPr/>
          <p:nvPr/>
        </p:nvSpPr>
        <p:spPr>
          <a:xfrm>
            <a:off x="6781800" y="1879600"/>
            <a:ext cx="47244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42" name="rc-top"/>
          <p:cNvSpPr/>
          <p:nvPr/>
        </p:nvSpPr>
        <p:spPr>
          <a:xfrm>
            <a:off x="6858000" y="1879600"/>
            <a:ext cx="4572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3" name="rc-head"/>
          <p:cNvSpPr txBox="1"/>
          <p:nvPr/>
        </p:nvSpPr>
        <p:spPr>
          <a:xfrm>
            <a:off x="7035800" y="21082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Loma"/>
                <a:ea typeface="Loma"/>
              </a:rPr>
              <a:t>Wallet Address หน้าตาเป็นยังไง</a:t>
            </a:r>
            <a:endParaRPr lang="en-US" sz="1200" noProof="1"/>
          </a:p>
        </p:txBody>
      </p:sp>
      <p:sp>
        <p:nvSpPr>
          <p:cNvPr id="44" name="rc-addr-bg"/>
          <p:cNvSpPr/>
          <p:nvPr/>
        </p:nvSpPr>
        <p:spPr>
          <a:xfrm>
            <a:off x="7035800" y="2463800"/>
            <a:ext cx="4216400" cy="508000"/>
          </a:xfrm>
          <a:prstGeom prst="roundRect">
            <a:avLst>
              <a:gd name="adj" fmla="val 12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45" name="rc-addr"/>
          <p:cNvSpPr txBox="1"/>
          <p:nvPr/>
        </p:nvSpPr>
        <p:spPr>
          <a:xfrm>
            <a:off x="7162800" y="2463800"/>
            <a:ext cx="3987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06B6D4"/>
                </a:solidFill>
                <a:latin typeface="JetBrains Mono"/>
                <a:ea typeface="JetBrains Mono"/>
              </a:rPr>
              <a:t>0x1a2b...9f8e</a:t>
            </a:r>
            <a:endParaRPr lang="en-US" sz="1050" noProof="1"/>
          </a:p>
        </p:txBody>
      </p:sp>
      <p:sp>
        <p:nvSpPr>
          <p:cNvPr id="46" name="rc-r1-k"/>
          <p:cNvSpPr txBox="1"/>
          <p:nvPr/>
        </p:nvSpPr>
        <p:spPr>
          <a:xfrm>
            <a:off x="7035800" y="3200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100" kern="0">
                <a:solidFill>
                  <a:srgbClr val="64748B"/>
                </a:solidFill>
                <a:latin typeface="JetBrains Mono"/>
                <a:ea typeface="JetBrains Mono"/>
              </a:rPr>
              <a:t>เหมือนเลขบัญชี</a:t>
            </a:r>
            <a:endParaRPr lang="en-US" sz="850" noProof="1"/>
          </a:p>
        </p:txBody>
      </p:sp>
      <p:sp>
        <p:nvSpPr>
          <p:cNvPr id="47" name="rc-r1-v"/>
          <p:cNvSpPr txBox="1"/>
          <p:nvPr/>
        </p:nvSpPr>
        <p:spPr>
          <a:xfrm>
            <a:off x="7035800" y="3403600"/>
            <a:ext cx="4216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แชร์ให้ใครก็ได้เพื่อรับเงิน — คนอื่นเอาไปทำอะไรกับ wallet เราไม่ได้ นอกจากโอนเข้า</a:t>
            </a:r>
            <a:endParaRPr lang="en-US" sz="940" noProof="1"/>
          </a:p>
        </p:txBody>
      </p:sp>
      <p:sp>
        <p:nvSpPr>
          <p:cNvPr id="48" name="rc-div"/>
          <p:cNvSpPr/>
          <p:nvPr/>
        </p:nvSpPr>
        <p:spPr>
          <a:xfrm>
            <a:off x="7035800" y="3886200"/>
            <a:ext cx="4216400" cy="12700"/>
          </a:xfrm>
          <a:prstGeom prst="rect">
            <a:avLst/>
          </a:prstGeom>
          <a:solidFill>
            <a:srgbClr val="1E2A45"/>
          </a:solidFill>
          <a:ln>
            <a:noFill/>
          </a:ln>
        </p:spPr>
      </p:sp>
      <p:sp>
        <p:nvSpPr>
          <p:cNvPr id="49" name="rc-r2-k"/>
          <p:cNvSpPr txBox="1"/>
          <p:nvPr/>
        </p:nvSpPr>
        <p:spPr>
          <a:xfrm>
            <a:off x="7035800" y="40386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100" kern="0">
                <a:solidFill>
                  <a:srgbClr val="64748B"/>
                </a:solidFill>
                <a:latin typeface="JetBrains Mono"/>
                <a:ea typeface="JetBrains Mono"/>
              </a:rPr>
              <a:t>แตกต่างจาก PASSKEY</a:t>
            </a:r>
            <a:endParaRPr lang="en-US" sz="850" noProof="1"/>
          </a:p>
        </p:txBody>
      </p:sp>
      <p:sp>
        <p:nvSpPr>
          <p:cNvPr id="50" name="rc-r2-v"/>
          <p:cNvSpPr txBox="1"/>
          <p:nvPr/>
        </p:nvSpPr>
        <p:spPr>
          <a:xfrm>
            <a:off x="7035800" y="4241800"/>
            <a:ext cx="421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Passkey คือกุญแจล็อกอิน ห้ามแชร์เด็ดขาด ส่วน Address คือหน้าบ้าน แชร์ได้ปลอดภัย</a:t>
            </a:r>
            <a:endParaRPr lang="en-US" sz="940" noProof="1"/>
          </a:p>
        </p:txBody>
      </p:sp>
      <p:sp>
        <p:nvSpPr>
          <p:cNvPr id="51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17 / 24</a:t>
            </a:r>
            <a:endParaRPr lang="en-US" sz="800" noProof="1"/>
          </a:p>
        </p:txBody>
      </p:sp>
      <p:sp>
        <p:nvSpPr>
          <p:cNvPr id="52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05 · SEND USDC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eyJpY29uTmFtZSI6ImZhczphcnJvdy11cCJ9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15" y="9"/>
                </a:moveTo>
                <a:cubicBezTo>
                  <a:pt x="202" y="-3"/>
                  <a:pt x="182" y="-3"/>
                  <a:pt x="169" y="9"/>
                </a:cubicBezTo>
                <a:lnTo>
                  <a:pt x="9" y="169"/>
                </a:lnTo>
                <a:cubicBezTo>
                  <a:pt x="-3" y="182"/>
                  <a:pt x="-3" y="202"/>
                  <a:pt x="9" y="215"/>
                </a:cubicBezTo>
                <a:cubicBezTo>
                  <a:pt x="22" y="227"/>
                  <a:pt x="42" y="227"/>
                  <a:pt x="55" y="215"/>
                </a:cubicBezTo>
                <a:lnTo>
                  <a:pt x="160" y="109"/>
                </a:lnTo>
                <a:lnTo>
                  <a:pt x="160" y="480"/>
                </a:lnTo>
                <a:cubicBezTo>
                  <a:pt x="160" y="498"/>
                  <a:pt x="174" y="512"/>
                  <a:pt x="192" y="512"/>
                </a:cubicBezTo>
                <a:cubicBezTo>
                  <a:pt x="210" y="512"/>
                  <a:pt x="224" y="498"/>
                  <a:pt x="224" y="480"/>
                </a:cubicBezTo>
                <a:lnTo>
                  <a:pt x="224" y="109"/>
                </a:lnTo>
                <a:lnTo>
                  <a:pt x="329" y="215"/>
                </a:lnTo>
                <a:cubicBezTo>
                  <a:pt x="342" y="227"/>
                  <a:pt x="362" y="227"/>
                  <a:pt x="375" y="215"/>
                </a:cubicBezTo>
                <a:cubicBezTo>
                  <a:pt x="387" y="202"/>
                  <a:pt x="387" y="182"/>
                  <a:pt x="375" y="169"/>
                </a:cubicBezTo>
                <a:lnTo>
                  <a:pt x="215" y="9"/>
                </a:ln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05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โอน USDC ให้คนอื่น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โอนบน blockchain แก้ไขย้อนหลังไม่ได้ — อ่านขั้นตอนก่อนกดยืนยันทุกครั้ง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8796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879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05000"/>
            <a:ext cx="5080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05000"/>
            <a:ext cx="50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SEND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1765300" y="19050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 Wallet แล้วกดปุ่ม Send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33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อยู่หน้าแรกของ wallet.tempo.xyz ข้างปุ่ม Deposit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590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16200"/>
            <a:ext cx="5842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16200"/>
            <a:ext cx="584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PASTE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1841500" y="26162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วาง Address ของผู้รับ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44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เทียบ 4 ตัวอักษรแรกและ 4 ตัวสุดท้าย ให้ตรงกับที่ผู้รับส่งมา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020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02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27400"/>
            <a:ext cx="7112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27400"/>
            <a:ext cx="711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AMOUNT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1968500" y="33274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ใส่จำนวน USDC ที่จะโอน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556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ครั้งแรกแนะนำทดลองจำนวนเล็กก่อน เช่น 1 USDC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132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132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386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386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CONFIRM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2019300" y="40386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กดยืนยัน แล้ว approve ด้วย Passkey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26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รอสถานะเปลี่ยนเป็น Confirmed — อย่าปิดหน้าเว็บระหว่างรอ</a:t>
            </a:r>
            <a:endParaRPr lang="en-US" sz="980" noProof="1"/>
          </a:p>
        </p:txBody>
      </p:sp>
      <p:sp>
        <p:nvSpPr>
          <p:cNvPr id="32" name="st5-circle"/>
          <p:cNvSpPr/>
          <p:nvPr/>
        </p:nvSpPr>
        <p:spPr>
          <a:xfrm>
            <a:off x="685800" y="4724400"/>
            <a:ext cx="342900" cy="3429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33" name="st5-num"/>
          <p:cNvSpPr txBox="1"/>
          <p:nvPr/>
        </p:nvSpPr>
        <p:spPr>
          <a:xfrm>
            <a:off x="685800" y="4724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5</a:t>
            </a:r>
            <a:endParaRPr lang="en-US" sz="1050" noProof="1"/>
          </a:p>
        </p:txBody>
      </p:sp>
      <p:sp>
        <p:nvSpPr>
          <p:cNvPr id="34" name="st5-chip"/>
          <p:cNvSpPr/>
          <p:nvPr/>
        </p:nvSpPr>
        <p:spPr>
          <a:xfrm>
            <a:off x="1155700" y="4749800"/>
            <a:ext cx="609600" cy="215900"/>
          </a:xfrm>
          <a:prstGeom prst="roundRect">
            <a:avLst>
              <a:gd name="adj" fmla="val 24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37647"/>
              </a:srgbClr>
            </a:solidFill>
          </a:ln>
        </p:spPr>
      </p:sp>
      <p:sp>
        <p:nvSpPr>
          <p:cNvPr id="35" name="st5-chip-text"/>
          <p:cNvSpPr txBox="1"/>
          <p:nvPr/>
        </p:nvSpPr>
        <p:spPr>
          <a:xfrm>
            <a:off x="1155700" y="4749800"/>
            <a:ext cx="6096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FBBF24"/>
                </a:solidFill>
                <a:latin typeface="JetBrains Mono"/>
                <a:ea typeface="JetBrains Mono"/>
              </a:rPr>
              <a:t>VERIFY</a:t>
            </a:r>
            <a:endParaRPr lang="en-US" sz="820" noProof="1"/>
          </a:p>
        </p:txBody>
      </p:sp>
      <p:sp>
        <p:nvSpPr>
          <p:cNvPr id="36" name="st5-title"/>
          <p:cNvSpPr txBox="1"/>
          <p:nvPr/>
        </p:nvSpPr>
        <p:spPr>
          <a:xfrm>
            <a:off x="1866900" y="4749800"/>
            <a:ext cx="4318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ตรวจธุรกรรมบน mppscan.com</a:t>
            </a:r>
            <a:endParaRPr lang="en-US" sz="1050" noProof="1"/>
          </a:p>
        </p:txBody>
      </p:sp>
      <p:sp>
        <p:nvSpPr>
          <p:cNvPr id="37" name="st5-desc"/>
          <p:cNvSpPr txBox="1"/>
          <p:nvPr/>
        </p:nvSpPr>
        <p:spPr>
          <a:xfrm>
            <a:off x="1143000" y="497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วาง address ของตัวเองในช่องค้นหา จะเห็นรายการโอนล่าสุด</a:t>
            </a:r>
            <a:endParaRPr lang="en-US" sz="980" noProof="1"/>
          </a:p>
        </p:txBody>
      </p:sp>
      <p:sp>
        <p:nvSpPr>
          <p:cNvPr id="38" name="warn"/>
          <p:cNvSpPr/>
          <p:nvPr/>
        </p:nvSpPr>
        <p:spPr>
          <a:xfrm>
            <a:off x="685800" y="5410200"/>
            <a:ext cx="5740400" cy="431800"/>
          </a:xfrm>
          <a:prstGeom prst="roundRect">
            <a:avLst>
              <a:gd name="adj" fmla="val 24000"/>
            </a:avLst>
          </a:prstGeom>
          <a:solidFill>
            <a:srgbClr val="FBBF24">
              <a:alpha val="7059"/>
            </a:srgbClr>
          </a:solidFill>
          <a:ln w="12700">
            <a:solidFill>
              <a:srgbClr val="FBBF24">
                <a:alpha val="37647"/>
              </a:srgbClr>
            </a:solidFill>
            <a:prstDash val="dash"/>
          </a:ln>
        </p:spPr>
      </p:sp>
      <p:sp>
        <p:nvSpPr>
          <p:cNvPr id="39" name="warn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838200" y="55372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40" name="warn-text"/>
          <p:cNvSpPr txBox="1"/>
          <p:nvPr/>
        </p:nvSpPr>
        <p:spPr>
          <a:xfrm>
            <a:off x="1079500" y="5486400"/>
            <a:ext cx="5257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โอนผิด address = เงินหายถาวร ไม่มีธนาคารคอยช่วยย้อนรายการ</a:t>
            </a:r>
            <a:endParaRPr lang="en-US" sz="1010" noProof="1"/>
          </a:p>
        </p:txBody>
      </p:sp>
      <p:sp>
        <p:nvSpPr>
          <p:cNvPr id="41" name="rc-bg"/>
          <p:cNvSpPr/>
          <p:nvPr/>
        </p:nvSpPr>
        <p:spPr>
          <a:xfrm>
            <a:off x="6781800" y="1879600"/>
            <a:ext cx="47244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42" name="rc-top"/>
          <p:cNvSpPr/>
          <p:nvPr/>
        </p:nvSpPr>
        <p:spPr>
          <a:xfrm>
            <a:off x="6858000" y="1879600"/>
            <a:ext cx="4572000" cy="254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43" name="rc-head-icon"/>
          <p:cNvSpPr/>
          <p:nvPr>
            <p:extLst>
              <p:ext uri="{F5677B7D-0D2A-4D9B-9A5C-6D8D7D0E5A5D}">
                <pptd:icon encoding="base64url">eyJpY29uTmFtZSI6ImZhczpsaXN0LWNoZWNrIn0</pptd:icon>
              </p:ext>
            </p:extLst>
          </p:nvPr>
        </p:nvSpPr>
        <p:spPr>
          <a:xfrm>
            <a:off x="7035800" y="21082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44" name="rc-head"/>
          <p:cNvSpPr txBox="1"/>
          <p:nvPr/>
        </p:nvSpPr>
        <p:spPr>
          <a:xfrm>
            <a:off x="7289800" y="20828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Loma"/>
                <a:ea typeface="Loma"/>
              </a:rPr>
              <a:t>เช็กลิสต์ก่อนกดยืนยัน</a:t>
            </a:r>
            <a:endParaRPr lang="en-US" sz="1200" noProof="1"/>
          </a:p>
        </p:txBody>
      </p:sp>
      <p:sp>
        <p:nvSpPr>
          <p:cNvPr id="45" name="ck1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7035800" y="2514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6" name="ck1"/>
          <p:cNvSpPr txBox="1"/>
          <p:nvPr/>
        </p:nvSpPr>
        <p:spPr>
          <a:xfrm>
            <a:off x="7289800" y="24765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ได้ address จากช่องทางที่เชื่อถือได้ (แชตตรงกับผู้รับตัวจริง ไม่ใช่กลุ่มสาธารณะ)</a:t>
            </a:r>
            <a:endParaRPr lang="en-US" sz="980" noProof="1"/>
          </a:p>
        </p:txBody>
      </p:sp>
      <p:sp>
        <p:nvSpPr>
          <p:cNvPr id="47" name="ck2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7035800" y="2997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8" name="ck2"/>
          <p:cNvSpPr txBox="1"/>
          <p:nvPr/>
        </p:nvSpPr>
        <p:spPr>
          <a:xfrm>
            <a:off x="7289800" y="29591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เทียบตัวอักษรหน้า-ท้ายของ address ตรงกันแล้ว</a:t>
            </a:r>
            <a:endParaRPr lang="en-US" sz="980" noProof="1"/>
          </a:p>
        </p:txBody>
      </p:sp>
      <p:sp>
        <p:nvSpPr>
          <p:cNvPr id="49" name="ck3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7035800" y="3479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0" name="ck3"/>
          <p:cNvSpPr txBox="1"/>
          <p:nvPr/>
        </p:nvSpPr>
        <p:spPr>
          <a:xfrm>
            <a:off x="7289800" y="34417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จำนวนเงินถูกต้อง และยอดใน wallet เพียงพอ</a:t>
            </a:r>
            <a:endParaRPr lang="en-US" sz="980" noProof="1"/>
          </a:p>
        </p:txBody>
      </p:sp>
      <p:sp>
        <p:nvSpPr>
          <p:cNvPr id="51" name="ck4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7035800" y="3962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2" name="ck4"/>
          <p:cNvSpPr txBox="1"/>
          <p:nvPr/>
        </p:nvSpPr>
        <p:spPr>
          <a:xfrm>
            <a:off x="7289800" y="3924300"/>
            <a:ext cx="3962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ถ้าเป็นการโอนจริงครั้งแรก ส่งรอบทดลองจำนวนเล็กก่อนเสมอ</a:t>
            </a:r>
            <a:endParaRPr lang="en-US" sz="980" noProof="1"/>
          </a:p>
        </p:txBody>
      </p:sp>
      <p:sp>
        <p:nvSpPr>
          <p:cNvPr id="53" name="rc-note"/>
          <p:cNvSpPr txBox="1"/>
          <p:nvPr/>
        </p:nvSpPr>
        <p:spPr>
          <a:xfrm>
            <a:off x="7035800" y="4470400"/>
            <a:ext cx="421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ในเวิร์กช็อปนี้เป็น testnet USDC ทดลองได้เต็มที่ ไม่มีของจริงเสียหาย</a:t>
            </a:r>
            <a:endParaRPr lang="en-US" sz="940" noProof="1"/>
          </a:p>
        </p:txBody>
      </p:sp>
      <p:sp>
        <p:nvSpPr>
          <p:cNvPr id="54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18 / 24</a:t>
            </a:r>
            <a:endParaRPr lang="en-US" sz="800" noProof="1"/>
          </a:p>
        </p:txBody>
      </p:sp>
      <p:sp>
        <p:nvSpPr>
          <p:cNvPr id="55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06 · TRYPONCHO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06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7112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ใช้งาน tryponcho.com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แพลตฟอร์ม agentic commerce — สั่ง Agent หาของและจ่ายเงินให้โดยอัตโนมัติ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8796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879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05000"/>
            <a:ext cx="558800" cy="215900"/>
          </a:xfrm>
          <a:prstGeom prst="roundRect">
            <a:avLst>
              <a:gd name="adj" fmla="val 24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05000"/>
            <a:ext cx="558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OPEN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1816100" y="19050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 tryponcho.com แล้วกด Get Started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33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หน้าแรกมีช่อง "What do you need done?" ตรงกลาง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590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16200"/>
            <a:ext cx="685800" cy="215900"/>
          </a:xfrm>
          <a:prstGeom prst="roundRect">
            <a:avLst>
              <a:gd name="adj" fmla="val 24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16200"/>
            <a:ext cx="685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SIGN IN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1943100" y="26162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สมัคร / Sign in ด้วยอีเมล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44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เริ่มใช้งานฟรี — จ่ายเฉพาะตอนใช้บริการจริงแบบ pay-per-use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020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02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27400"/>
            <a:ext cx="457200" cy="215900"/>
          </a:xfrm>
          <a:prstGeom prst="roundRect">
            <a:avLst>
              <a:gd name="adj" fmla="val 24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27400"/>
            <a:ext cx="457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ASK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1714500" y="33274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พิมพ์สิ่งที่ต้องการลงในช่องค้นหา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556000"/>
            <a:ext cx="520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เช่น "หาหูฟัง bluetooth ราคาต่ำกว่า $50" หรือเลือกงานจาก Marketplace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132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132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38600"/>
            <a:ext cx="685800" cy="215900"/>
          </a:xfrm>
          <a:prstGeom prst="roundRect">
            <a:avLst>
              <a:gd name="adj" fmla="val 24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38600"/>
            <a:ext cx="685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REVIEW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1943100" y="40386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ตรวจตัวเลือกที่ Agent เสนอ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26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ดูรายละเอียดสินค้า ราคา และค่าบริการก่อนยืนยัน</a:t>
            </a:r>
            <a:endParaRPr lang="en-US" sz="980" noProof="1"/>
          </a:p>
        </p:txBody>
      </p:sp>
      <p:sp>
        <p:nvSpPr>
          <p:cNvPr id="32" name="st5-circle"/>
          <p:cNvSpPr/>
          <p:nvPr/>
        </p:nvSpPr>
        <p:spPr>
          <a:xfrm>
            <a:off x="685800" y="47244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3" name="st5-num"/>
          <p:cNvSpPr txBox="1"/>
          <p:nvPr/>
        </p:nvSpPr>
        <p:spPr>
          <a:xfrm>
            <a:off x="685800" y="4724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JetBrains Mono"/>
                <a:ea typeface="JetBrains Mono"/>
              </a:rPr>
              <a:t>5</a:t>
            </a:r>
            <a:endParaRPr lang="en-US" sz="1050" noProof="1"/>
          </a:p>
        </p:txBody>
      </p:sp>
      <p:sp>
        <p:nvSpPr>
          <p:cNvPr id="34" name="st5-chip"/>
          <p:cNvSpPr/>
          <p:nvPr/>
        </p:nvSpPr>
        <p:spPr>
          <a:xfrm>
            <a:off x="1155700" y="47498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35" name="st5-chip-text"/>
          <p:cNvSpPr txBox="1"/>
          <p:nvPr/>
        </p:nvSpPr>
        <p:spPr>
          <a:xfrm>
            <a:off x="1155700" y="47498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A78BFA"/>
                </a:solidFill>
                <a:latin typeface="JetBrains Mono"/>
                <a:ea typeface="JetBrains Mono"/>
              </a:rPr>
              <a:t>CONFIRM</a:t>
            </a:r>
            <a:endParaRPr lang="en-US" sz="820" noProof="1"/>
          </a:p>
        </p:txBody>
      </p:sp>
      <p:sp>
        <p:nvSpPr>
          <p:cNvPr id="36" name="st5-title"/>
          <p:cNvSpPr txBox="1"/>
          <p:nvPr/>
        </p:nvSpPr>
        <p:spPr>
          <a:xfrm>
            <a:off x="2019300" y="47498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ยืนยัน — Agent จ่ายผ่าน x402/MPP ให้เอง</a:t>
            </a:r>
            <a:endParaRPr lang="en-US" sz="1050" noProof="1"/>
          </a:p>
        </p:txBody>
      </p:sp>
      <p:sp>
        <p:nvSpPr>
          <p:cNvPr id="37" name="st5-desc"/>
          <p:cNvSpPr txBox="1"/>
          <p:nvPr/>
        </p:nvSpPr>
        <p:spPr>
          <a:xfrm>
            <a:off x="1143000" y="497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ใบเสร็จและผลลัพธ์ส่งกลับมาที่แชต Telegram ของคุณ</a:t>
            </a:r>
            <a:endParaRPr lang="en-US" sz="980" noProof="1"/>
          </a:p>
        </p:txBody>
      </p:sp>
      <p:sp>
        <p:nvSpPr>
          <p:cNvPr id="38" name="tip-bar"/>
          <p:cNvSpPr/>
          <p:nvPr/>
        </p:nvSpPr>
        <p:spPr>
          <a:xfrm>
            <a:off x="685800" y="5435600"/>
            <a:ext cx="38100" cy="3556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9" name="tip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850900" y="5524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40" name="tip-text"/>
          <p:cNvSpPr txBox="1"/>
          <p:nvPr/>
        </p:nvSpPr>
        <p:spPr>
          <a:xfrm>
            <a:off x="1092200" y="54737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เงินที่ Agent ใช้จ่ายมาจาก Balance ที่ deposit ไว้ล่วงหน้า — ดูวิธีเติมเงินในหัวข้อถัดไป</a:t>
            </a:r>
            <a:endParaRPr lang="en-US" sz="1010" noProof="1"/>
          </a:p>
        </p:txBody>
      </p:sp>
      <p:pic>
        <p:nvPicPr>
          <p:cNvPr id="41" name="web-img"/>
          <p:cNvPicPr/>
          <p:nvPr/>
        </p:nvPicPr>
        <p:blipFill>
          <a:blip r:embed="rId3"/>
          <a:srcRect l="7738" r="7738"/>
          <a:stretch>
            <a:fillRect/>
          </a:stretch>
        </p:blipFill>
        <p:spPr>
          <a:xfrm>
            <a:off x="6781800" y="1879600"/>
            <a:ext cx="4724400" cy="3213100"/>
          </a:xfrm>
          <a:prstGeom prst="roundRect">
            <a:avLst>
              <a:gd name="adj" fmla="val 5000"/>
            </a:avLst>
          </a:prstGeom>
          <a:ln>
            <a:noFill/>
          </a:ln>
        </p:spPr>
      </p:pic>
      <p:sp>
        <p:nvSpPr>
          <p:cNvPr id="42" name="web-caption"/>
          <p:cNvSpPr txBox="1"/>
          <p:nvPr/>
        </p:nvSpPr>
        <p:spPr>
          <a:xfrm>
            <a:off x="6781800" y="5143500"/>
            <a:ext cx="4724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94A3B8"/>
                </a:solidFill>
                <a:latin typeface="Loma"/>
                <a:ea typeface="Loma"/>
              </a:rPr>
              <a:t>หน้าแรก tryponcho.com — พิมพ์งานในช่องกลางจอ หรือเลือกจาก Marketplace</a:t>
            </a:r>
            <a:endParaRPr lang="en-US" sz="820" noProof="1"/>
          </a:p>
        </p:txBody>
      </p:sp>
      <p:sp>
        <p:nvSpPr>
          <p:cNvPr id="43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19 / 24</a:t>
            </a:r>
            <a:endParaRPr lang="en-US" sz="800" noProof="1"/>
          </a:p>
        </p:txBody>
      </p:sp>
      <p:sp>
        <p:nvSpPr>
          <p:cNvPr id="44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85800" y="4953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GUIDE 07 · DEPOSIT</a:t>
            </a:r>
            <a:endParaRPr lang="en-US" sz="850" noProof="1"/>
          </a:p>
        </p:txBody>
      </p:sp>
      <p:sp>
        <p:nvSpPr>
          <p:cNvPr id="3" name="side-icon"/>
          <p:cNvSpPr/>
          <p:nvPr>
            <p:extLst>
              <p:ext uri="{F5677B7D-0D2A-4D9B-9A5C-6D8D7D0E5A5D}">
                <pptd:icon encoding="base64url">eyJpY29uTmFtZSI6ImZhczptb25leS1iaWxsLXRyYW5zZmVyIn0</pptd:icon>
              </p:ext>
            </p:extLst>
          </p:nvPr>
        </p:nvSpPr>
        <p:spPr>
          <a:xfrm>
            <a:off x="11074400" y="52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1" y="105"/>
                </a:moveTo>
                <a:cubicBezTo>
                  <a:pt x="22" y="96"/>
                  <a:pt x="22" y="80"/>
                  <a:pt x="31" y="71"/>
                </a:cubicBezTo>
                <a:lnTo>
                  <a:pt x="103" y="-1"/>
                </a:lnTo>
                <a:cubicBezTo>
                  <a:pt x="112" y="-10"/>
                  <a:pt x="128" y="-10"/>
                  <a:pt x="137" y="-1"/>
                </a:cubicBezTo>
                <a:cubicBezTo>
                  <a:pt x="146" y="8"/>
                  <a:pt x="146" y="24"/>
                  <a:pt x="137" y="33"/>
                </a:cubicBezTo>
                <a:lnTo>
                  <a:pt x="106" y="64"/>
                </a:lnTo>
                <a:lnTo>
                  <a:pt x="174" y="64"/>
                </a:lnTo>
                <a:lnTo>
                  <a:pt x="174" y="64"/>
                </a:lnTo>
                <a:lnTo>
                  <a:pt x="512" y="64"/>
                </a:lnTo>
                <a:cubicBezTo>
                  <a:pt x="547" y="64"/>
                  <a:pt x="576" y="93"/>
                  <a:pt x="576" y="128"/>
                </a:cubicBezTo>
                <a:lnTo>
                  <a:pt x="576" y="306"/>
                </a:lnTo>
                <a:lnTo>
                  <a:pt x="571" y="301"/>
                </a:lnTo>
                <a:cubicBezTo>
                  <a:pt x="543" y="273"/>
                  <a:pt x="497" y="273"/>
                  <a:pt x="469" y="301"/>
                </a:cubicBezTo>
                <a:cubicBezTo>
                  <a:pt x="442" y="328"/>
                  <a:pt x="441" y="372"/>
                  <a:pt x="466" y="400"/>
                </a:cubicBezTo>
                <a:lnTo>
                  <a:pt x="534" y="400"/>
                </a:lnTo>
                <a:lnTo>
                  <a:pt x="503" y="369"/>
                </a:lnTo>
                <a:cubicBezTo>
                  <a:pt x="494" y="360"/>
                  <a:pt x="494" y="344"/>
                  <a:pt x="503" y="335"/>
                </a:cubicBezTo>
                <a:cubicBezTo>
                  <a:pt x="512" y="326"/>
                  <a:pt x="528" y="326"/>
                  <a:pt x="537" y="335"/>
                </a:cubicBezTo>
                <a:lnTo>
                  <a:pt x="609" y="407"/>
                </a:lnTo>
                <a:cubicBezTo>
                  <a:pt x="618" y="416"/>
                  <a:pt x="618" y="432"/>
                  <a:pt x="609" y="441"/>
                </a:cubicBezTo>
                <a:lnTo>
                  <a:pt x="537" y="513"/>
                </a:lnTo>
                <a:cubicBezTo>
                  <a:pt x="527" y="522"/>
                  <a:pt x="512" y="522"/>
                  <a:pt x="503" y="513"/>
                </a:cubicBezTo>
                <a:cubicBezTo>
                  <a:pt x="494" y="504"/>
                  <a:pt x="494" y="488"/>
                  <a:pt x="503" y="479"/>
                </a:cubicBezTo>
                <a:lnTo>
                  <a:pt x="534" y="448"/>
                </a:lnTo>
                <a:lnTo>
                  <a:pt x="128" y="448"/>
                </a:lnTo>
                <a:cubicBezTo>
                  <a:pt x="93" y="448"/>
                  <a:pt x="64" y="419"/>
                  <a:pt x="64" y="384"/>
                </a:cubicBezTo>
                <a:lnTo>
                  <a:pt x="64" y="206"/>
                </a:lnTo>
                <a:lnTo>
                  <a:pt x="69" y="211"/>
                </a:lnTo>
                <a:cubicBezTo>
                  <a:pt x="97" y="239"/>
                  <a:pt x="143" y="239"/>
                  <a:pt x="171" y="211"/>
                </a:cubicBezTo>
                <a:cubicBezTo>
                  <a:pt x="198" y="184"/>
                  <a:pt x="199" y="140"/>
                  <a:pt x="174" y="112"/>
                </a:cubicBezTo>
                <a:lnTo>
                  <a:pt x="106" y="112"/>
                </a:lnTo>
                <a:lnTo>
                  <a:pt x="137" y="143"/>
                </a:lnTo>
                <a:cubicBezTo>
                  <a:pt x="146" y="152"/>
                  <a:pt x="146" y="168"/>
                  <a:pt x="137" y="177"/>
                </a:cubicBezTo>
                <a:cubicBezTo>
                  <a:pt x="127" y="186"/>
                  <a:pt x="112" y="186"/>
                  <a:pt x="103" y="177"/>
                </a:cubicBezTo>
                <a:lnTo>
                  <a:pt x="31" y="105"/>
                </a:lnTo>
                <a:close/>
                <a:moveTo>
                  <a:pt x="416" y="256"/>
                </a:moveTo>
                <a:cubicBezTo>
                  <a:pt x="416" y="203"/>
                  <a:pt x="373" y="160"/>
                  <a:pt x="320" y="160"/>
                </a:cubicBezTo>
                <a:cubicBezTo>
                  <a:pt x="267" y="160"/>
                  <a:pt x="224" y="203"/>
                  <a:pt x="224" y="256"/>
                </a:cubicBezTo>
                <a:cubicBezTo>
                  <a:pt x="224" y="309"/>
                  <a:pt x="267" y="352"/>
                  <a:pt x="320" y="352"/>
                </a:cubicBezTo>
                <a:cubicBezTo>
                  <a:pt x="373" y="352"/>
                  <a:pt x="416" y="309"/>
                  <a:pt x="416" y="256"/>
                </a:cubicBezTo>
                <a:close/>
                <a:moveTo>
                  <a:pt x="504" y="192"/>
                </a:moveTo>
                <a:cubicBezTo>
                  <a:pt x="508" y="192"/>
                  <a:pt x="512" y="188"/>
                  <a:pt x="512" y="184"/>
                </a:cubicBezTo>
                <a:lnTo>
                  <a:pt x="512" y="136"/>
                </a:lnTo>
                <a:cubicBezTo>
                  <a:pt x="512" y="132"/>
                  <a:pt x="508" y="128"/>
                  <a:pt x="504" y="128"/>
                </a:cubicBezTo>
                <a:lnTo>
                  <a:pt x="456" y="128"/>
                </a:lnTo>
                <a:cubicBezTo>
                  <a:pt x="452" y="128"/>
                  <a:pt x="448" y="132"/>
                  <a:pt x="449" y="136"/>
                </a:cubicBezTo>
                <a:cubicBezTo>
                  <a:pt x="452" y="165"/>
                  <a:pt x="475" y="188"/>
                  <a:pt x="504" y="192"/>
                </a:cubicBezTo>
                <a:close/>
                <a:moveTo>
                  <a:pt x="136" y="321"/>
                </a:moveTo>
                <a:cubicBezTo>
                  <a:pt x="132" y="320"/>
                  <a:pt x="128" y="324"/>
                  <a:pt x="128" y="328"/>
                </a:cubicBezTo>
                <a:lnTo>
                  <a:pt x="128" y="376"/>
                </a:lnTo>
                <a:cubicBezTo>
                  <a:pt x="128" y="380"/>
                  <a:pt x="132" y="384"/>
                  <a:pt x="136" y="384"/>
                </a:cubicBezTo>
                <a:lnTo>
                  <a:pt x="184" y="384"/>
                </a:lnTo>
                <a:cubicBezTo>
                  <a:pt x="188" y="384"/>
                  <a:pt x="192" y="380"/>
                  <a:pt x="192" y="376"/>
                </a:cubicBezTo>
                <a:cubicBezTo>
                  <a:pt x="188" y="347"/>
                  <a:pt x="165" y="324"/>
                  <a:pt x="136" y="321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" name="side-label"/>
          <p:cNvSpPr txBox="1"/>
          <p:nvPr/>
        </p:nvSpPr>
        <p:spPr>
          <a:xfrm>
            <a:off x="10287000" y="508000"/>
            <a:ext cx="73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GUIDE 07</a:t>
            </a:r>
            <a:endParaRPr lang="en-US" sz="1050" noProof="1"/>
          </a:p>
        </p:txBody>
      </p:sp>
      <p:sp>
        <p:nvSpPr>
          <p:cNvPr id="5" name="title"/>
          <p:cNvSpPr txBox="1"/>
          <p:nvPr/>
        </p:nvSpPr>
        <p:spPr>
          <a:xfrm>
            <a:off x="685800" y="7493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FFFFFF"/>
                </a:solidFill>
                <a:latin typeface="Loma"/>
                <a:ea typeface="Loma"/>
              </a:rPr>
              <a:t>Deposit จาก Tempo Wallet เข้า TryPoncho</a:t>
            </a:r>
            <a:endParaRPr lang="en-US" sz="2600" noProof="1"/>
          </a:p>
        </p:txBody>
      </p:sp>
      <p:sp>
        <p:nvSpPr>
          <p:cNvPr id="6" name="subtitle"/>
          <p:cNvSpPr txBox="1"/>
          <p:nvPr/>
        </p:nvSpPr>
        <p:spPr>
          <a:xfrm>
            <a:off x="685800" y="12573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เติมยอด Balance ให้ Agent ใช้จ่าย — ทำผ่านเมนู Settings → Advanced ของ tryponcho.com</a:t>
            </a:r>
            <a:endParaRPr lang="en-US" sz="1050" noProof="1"/>
          </a:p>
        </p:txBody>
      </p:sp>
      <p:sp>
        <p:nvSpPr>
          <p:cNvPr id="7" name="title-bar"/>
          <p:cNvSpPr/>
          <p:nvPr/>
        </p:nvSpPr>
        <p:spPr>
          <a:xfrm>
            <a:off x="685800" y="1600200"/>
            <a:ext cx="533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8" name="st1-circle"/>
          <p:cNvSpPr/>
          <p:nvPr/>
        </p:nvSpPr>
        <p:spPr>
          <a:xfrm>
            <a:off x="685800" y="18796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9" name="st1-num"/>
          <p:cNvSpPr txBox="1"/>
          <p:nvPr/>
        </p:nvSpPr>
        <p:spPr>
          <a:xfrm>
            <a:off x="685800" y="1879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1</a:t>
            </a:r>
            <a:endParaRPr lang="en-US" sz="1050" noProof="1"/>
          </a:p>
        </p:txBody>
      </p:sp>
      <p:sp>
        <p:nvSpPr>
          <p:cNvPr id="10" name="st1-chip"/>
          <p:cNvSpPr/>
          <p:nvPr/>
        </p:nvSpPr>
        <p:spPr>
          <a:xfrm>
            <a:off x="1155700" y="1905000"/>
            <a:ext cx="6858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11" name="st1-chip-text"/>
          <p:cNvSpPr txBox="1"/>
          <p:nvPr/>
        </p:nvSpPr>
        <p:spPr>
          <a:xfrm>
            <a:off x="1155700" y="1905000"/>
            <a:ext cx="685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SIGN IN</a:t>
            </a:r>
            <a:endParaRPr lang="en-US" sz="820" noProof="1"/>
          </a:p>
        </p:txBody>
      </p:sp>
      <p:sp>
        <p:nvSpPr>
          <p:cNvPr id="12" name="st1-title"/>
          <p:cNvSpPr txBox="1"/>
          <p:nvPr/>
        </p:nvSpPr>
        <p:spPr>
          <a:xfrm>
            <a:off x="1943100" y="19050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Sign in ที่ tryponcho.com</a:t>
            </a:r>
            <a:endParaRPr lang="en-US" sz="1050" noProof="1"/>
          </a:p>
        </p:txBody>
      </p:sp>
      <p:sp>
        <p:nvSpPr>
          <p:cNvPr id="13" name="st1-desc"/>
          <p:cNvSpPr txBox="1"/>
          <p:nvPr/>
        </p:nvSpPr>
        <p:spPr>
          <a:xfrm>
            <a:off x="1143000" y="2133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ใช้บัญชีเดียวกับที่ใช้สั่งซื้อสินค้า</a:t>
            </a:r>
            <a:endParaRPr lang="en-US" sz="980" noProof="1"/>
          </a:p>
        </p:txBody>
      </p:sp>
      <p:sp>
        <p:nvSpPr>
          <p:cNvPr id="14" name="st2-circle"/>
          <p:cNvSpPr/>
          <p:nvPr/>
        </p:nvSpPr>
        <p:spPr>
          <a:xfrm>
            <a:off x="685800" y="25908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5" name="st2-num"/>
          <p:cNvSpPr txBox="1"/>
          <p:nvPr/>
        </p:nvSpPr>
        <p:spPr>
          <a:xfrm>
            <a:off x="685800" y="2590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2</a:t>
            </a:r>
            <a:endParaRPr lang="en-US" sz="1050" noProof="1"/>
          </a:p>
        </p:txBody>
      </p:sp>
      <p:sp>
        <p:nvSpPr>
          <p:cNvPr id="16" name="st2-chip"/>
          <p:cNvSpPr/>
          <p:nvPr/>
        </p:nvSpPr>
        <p:spPr>
          <a:xfrm>
            <a:off x="1155700" y="26162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17" name="st2-chip-text"/>
          <p:cNvSpPr txBox="1"/>
          <p:nvPr/>
        </p:nvSpPr>
        <p:spPr>
          <a:xfrm>
            <a:off x="1155700" y="26162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SETTINGS</a:t>
            </a:r>
            <a:endParaRPr lang="en-US" sz="820" noProof="1"/>
          </a:p>
        </p:txBody>
      </p:sp>
      <p:sp>
        <p:nvSpPr>
          <p:cNvPr id="18" name="st2-title"/>
          <p:cNvSpPr txBox="1"/>
          <p:nvPr/>
        </p:nvSpPr>
        <p:spPr>
          <a:xfrm>
            <a:off x="2019300" y="26162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เปิดเมนู Settings</a:t>
            </a:r>
            <a:endParaRPr lang="en-US" sz="1050" noProof="1"/>
          </a:p>
        </p:txBody>
      </p:sp>
      <p:sp>
        <p:nvSpPr>
          <p:cNvPr id="19" name="st2-desc"/>
          <p:cNvSpPr txBox="1"/>
          <p:nvPr/>
        </p:nvSpPr>
        <p:spPr>
          <a:xfrm>
            <a:off x="1143000" y="2844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หรือกดเมนู Balance ที่แถบด้านซ้ายของหน้าจอ</a:t>
            </a:r>
            <a:endParaRPr lang="en-US" sz="980" noProof="1"/>
          </a:p>
        </p:txBody>
      </p:sp>
      <p:sp>
        <p:nvSpPr>
          <p:cNvPr id="20" name="st3-circle"/>
          <p:cNvSpPr/>
          <p:nvPr/>
        </p:nvSpPr>
        <p:spPr>
          <a:xfrm>
            <a:off x="685800" y="33020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1" name="st3-num"/>
          <p:cNvSpPr txBox="1"/>
          <p:nvPr/>
        </p:nvSpPr>
        <p:spPr>
          <a:xfrm>
            <a:off x="685800" y="3302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3</a:t>
            </a:r>
            <a:endParaRPr lang="en-US" sz="1050" noProof="1"/>
          </a:p>
        </p:txBody>
      </p:sp>
      <p:sp>
        <p:nvSpPr>
          <p:cNvPr id="22" name="st3-chip"/>
          <p:cNvSpPr/>
          <p:nvPr/>
        </p:nvSpPr>
        <p:spPr>
          <a:xfrm>
            <a:off x="1155700" y="3327400"/>
            <a:ext cx="8128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23" name="st3-chip-text"/>
          <p:cNvSpPr txBox="1"/>
          <p:nvPr/>
        </p:nvSpPr>
        <p:spPr>
          <a:xfrm>
            <a:off x="1155700" y="3327400"/>
            <a:ext cx="81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ADVANCED</a:t>
            </a:r>
            <a:endParaRPr lang="en-US" sz="820" noProof="1"/>
          </a:p>
        </p:txBody>
      </p:sp>
      <p:sp>
        <p:nvSpPr>
          <p:cNvPr id="24" name="st3-title"/>
          <p:cNvSpPr txBox="1"/>
          <p:nvPr/>
        </p:nvSpPr>
        <p:spPr>
          <a:xfrm>
            <a:off x="2070100" y="33274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เลือกแท็บ Advanced</a:t>
            </a:r>
            <a:endParaRPr lang="en-US" sz="1050" noProof="1"/>
          </a:p>
        </p:txBody>
      </p:sp>
      <p:sp>
        <p:nvSpPr>
          <p:cNvPr id="25" name="st3-desc"/>
          <p:cNvSpPr txBox="1"/>
          <p:nvPr/>
        </p:nvSpPr>
        <p:spPr>
          <a:xfrm>
            <a:off x="1143000" y="3556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ส่วนตั้งค่าที่เกี่ยวกับ wallet และการเติมเงิน</a:t>
            </a:r>
            <a:endParaRPr lang="en-US" sz="980" noProof="1"/>
          </a:p>
        </p:txBody>
      </p:sp>
      <p:sp>
        <p:nvSpPr>
          <p:cNvPr id="26" name="st4-circle"/>
          <p:cNvSpPr/>
          <p:nvPr/>
        </p:nvSpPr>
        <p:spPr>
          <a:xfrm>
            <a:off x="685800" y="40132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7" name="st4-num"/>
          <p:cNvSpPr txBox="1"/>
          <p:nvPr/>
        </p:nvSpPr>
        <p:spPr>
          <a:xfrm>
            <a:off x="685800" y="40132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4</a:t>
            </a:r>
            <a:endParaRPr lang="en-US" sz="1050" noProof="1"/>
          </a:p>
        </p:txBody>
      </p:sp>
      <p:sp>
        <p:nvSpPr>
          <p:cNvPr id="28" name="st4-chip"/>
          <p:cNvSpPr/>
          <p:nvPr/>
        </p:nvSpPr>
        <p:spPr>
          <a:xfrm>
            <a:off x="1155700" y="4038600"/>
            <a:ext cx="7112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29" name="st4-chip-text"/>
          <p:cNvSpPr txBox="1"/>
          <p:nvPr/>
        </p:nvSpPr>
        <p:spPr>
          <a:xfrm>
            <a:off x="1155700" y="4038600"/>
            <a:ext cx="7112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DEPOSIT</a:t>
            </a:r>
            <a:endParaRPr lang="en-US" sz="820" noProof="1"/>
          </a:p>
        </p:txBody>
      </p:sp>
      <p:sp>
        <p:nvSpPr>
          <p:cNvPr id="30" name="st4-title"/>
          <p:cNvSpPr txBox="1"/>
          <p:nvPr/>
        </p:nvSpPr>
        <p:spPr>
          <a:xfrm>
            <a:off x="1968500" y="40386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กด Deposit จาก Tempo Wallet</a:t>
            </a:r>
            <a:endParaRPr lang="en-US" sz="1050" noProof="1"/>
          </a:p>
        </p:txBody>
      </p:sp>
      <p:sp>
        <p:nvSpPr>
          <p:cNvPr id="31" name="st4-desc"/>
          <p:cNvSpPr txBox="1"/>
          <p:nvPr/>
        </p:nvSpPr>
        <p:spPr>
          <a:xfrm>
            <a:off x="1143000" y="4267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ระบบจะเชื่อมไปยัง wallet.tempo.xyz ของคุณโดยอัตโนมัติ</a:t>
            </a:r>
            <a:endParaRPr lang="en-US" sz="980" noProof="1"/>
          </a:p>
        </p:txBody>
      </p:sp>
      <p:sp>
        <p:nvSpPr>
          <p:cNvPr id="32" name="st5-circle"/>
          <p:cNvSpPr/>
          <p:nvPr/>
        </p:nvSpPr>
        <p:spPr>
          <a:xfrm>
            <a:off x="685800" y="4724400"/>
            <a:ext cx="342900" cy="3429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t5-num"/>
          <p:cNvSpPr txBox="1"/>
          <p:nvPr/>
        </p:nvSpPr>
        <p:spPr>
          <a:xfrm>
            <a:off x="685800" y="47244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F172A"/>
                </a:solidFill>
                <a:latin typeface="JetBrains Mono"/>
                <a:ea typeface="JetBrains Mono"/>
              </a:rPr>
              <a:t>5</a:t>
            </a:r>
            <a:endParaRPr lang="en-US" sz="1050" noProof="1"/>
          </a:p>
        </p:txBody>
      </p:sp>
      <p:sp>
        <p:nvSpPr>
          <p:cNvPr id="34" name="st5-chip"/>
          <p:cNvSpPr/>
          <p:nvPr/>
        </p:nvSpPr>
        <p:spPr>
          <a:xfrm>
            <a:off x="1155700" y="4749800"/>
            <a:ext cx="762000" cy="215900"/>
          </a:xfrm>
          <a:prstGeom prst="roundRect">
            <a:avLst>
              <a:gd name="adj" fmla="val 24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35" name="st5-chip-text"/>
          <p:cNvSpPr txBox="1"/>
          <p:nvPr/>
        </p:nvSpPr>
        <p:spPr>
          <a:xfrm>
            <a:off x="1155700" y="4749800"/>
            <a:ext cx="76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10B981"/>
                </a:solidFill>
                <a:latin typeface="JetBrains Mono"/>
                <a:ea typeface="JetBrains Mono"/>
              </a:rPr>
              <a:t>CONFIRM</a:t>
            </a:r>
            <a:endParaRPr lang="en-US" sz="820" noProof="1"/>
          </a:p>
        </p:txBody>
      </p:sp>
      <p:sp>
        <p:nvSpPr>
          <p:cNvPr id="36" name="st5-title"/>
          <p:cNvSpPr txBox="1"/>
          <p:nvPr/>
        </p:nvSpPr>
        <p:spPr>
          <a:xfrm>
            <a:off x="2019300" y="47498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Loma"/>
                <a:ea typeface="Loma"/>
              </a:rPr>
              <a:t>ใส่จำนวน ยืนยันด้วย Passkey</a:t>
            </a:r>
            <a:endParaRPr lang="en-US" sz="1050" noProof="1"/>
          </a:p>
        </p:txBody>
      </p:sp>
      <p:sp>
        <p:nvSpPr>
          <p:cNvPr id="37" name="st5-desc"/>
          <p:cNvSpPr txBox="1"/>
          <p:nvPr/>
        </p:nvSpPr>
        <p:spPr>
          <a:xfrm>
            <a:off x="1143000" y="4978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CBD5E1"/>
                </a:solidFill>
                <a:latin typeface="Loma"/>
                <a:ea typeface="Loma"/>
              </a:rPr>
              <a:t>ยอด Balance บน TryPoncho อัปเดตทันที พร้อมให้ Agent ใช้จ่าย</a:t>
            </a:r>
            <a:endParaRPr lang="en-US" sz="980" noProof="1"/>
          </a:p>
        </p:txBody>
      </p:sp>
      <p:sp>
        <p:nvSpPr>
          <p:cNvPr id="38" name="tip-bar"/>
          <p:cNvSpPr/>
          <p:nvPr/>
        </p:nvSpPr>
        <p:spPr>
          <a:xfrm>
            <a:off x="685800" y="5435600"/>
            <a:ext cx="38100" cy="355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tip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850900" y="5524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0" name="tip-text"/>
          <p:cNvSpPr txBox="1"/>
          <p:nvPr/>
        </p:nvSpPr>
        <p:spPr>
          <a:xfrm>
            <a:off x="1092200" y="54737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CBD5E1"/>
                </a:solidFill>
                <a:latin typeface="Loma"/>
                <a:ea typeface="Loma"/>
              </a:rPr>
              <a:t>เติมเฉพาะจำนวนที่วางแผนจะใช้ในเวิร์กช็อปพอ — ถอนกลับเข้า wallet ได้ทุกเมื่อ</a:t>
            </a:r>
            <a:endParaRPr lang="en-US" sz="1010" noProof="1"/>
          </a:p>
        </p:txBody>
      </p:sp>
      <p:sp>
        <p:nvSpPr>
          <p:cNvPr id="41" name="rc-bg"/>
          <p:cNvSpPr/>
          <p:nvPr/>
        </p:nvSpPr>
        <p:spPr>
          <a:xfrm>
            <a:off x="6781800" y="1879600"/>
            <a:ext cx="4724400" cy="3403600"/>
          </a:xfrm>
          <a:prstGeom prst="roundRect">
            <a:avLst>
              <a:gd name="adj" fmla="val 5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42" name="rc-top"/>
          <p:cNvSpPr/>
          <p:nvPr/>
        </p:nvSpPr>
        <p:spPr>
          <a:xfrm>
            <a:off x="6858000" y="1879600"/>
            <a:ext cx="4572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3" name="rc-head"/>
          <p:cNvSpPr txBox="1"/>
          <p:nvPr/>
        </p:nvSpPr>
        <p:spPr>
          <a:xfrm>
            <a:off x="7035800" y="2108200"/>
            <a:ext cx="38100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Loma"/>
                <a:ea typeface="Loma"/>
              </a:rPr>
              <a:t>เส้นทางของเงิน</a:t>
            </a:r>
            <a:endParaRPr lang="en-US" sz="1200" noProof="1"/>
          </a:p>
        </p:txBody>
      </p:sp>
      <p:sp>
        <p:nvSpPr>
          <p:cNvPr id="44" name="fl1-bg"/>
          <p:cNvSpPr/>
          <p:nvPr/>
        </p:nvSpPr>
        <p:spPr>
          <a:xfrm>
            <a:off x="7035800" y="2489200"/>
            <a:ext cx="4216400" cy="558800"/>
          </a:xfrm>
          <a:prstGeom prst="roundRect">
            <a:avLst>
              <a:gd name="adj" fmla="val 12000"/>
            </a:avLst>
          </a:prstGeom>
          <a:solidFill>
            <a:srgbClr val="0E1729"/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45" name="fl1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7213600" y="2679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46" name="fl1"/>
          <p:cNvSpPr txBox="1"/>
          <p:nvPr/>
        </p:nvSpPr>
        <p:spPr>
          <a:xfrm>
            <a:off x="7493000" y="2489200"/>
            <a:ext cx="368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FFFFFF"/>
                </a:solidFill>
                <a:latin typeface="Loma"/>
                <a:ea typeface="Loma"/>
              </a:rPr>
              <a:t>Tempo Wallet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850" noProof="1">
                <a:solidFill>
                  <a:srgbClr val="94A3B8"/>
                </a:solidFill>
                <a:latin typeface="JetBrains Mono"/>
                <a:ea typeface="JetBrains Mono"/>
              </a:rPr>
              <a:t>wallet.tempo.xyz · USDC ของคุณ</a:t>
            </a:r>
            <a:endParaRPr lang="en-US" sz="1600" noProof="1"/>
          </a:p>
        </p:txBody>
      </p:sp>
      <p:sp>
        <p:nvSpPr>
          <p:cNvPr id="47" name="fl-arrow1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9017000" y="3098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48" name="fl2-bg"/>
          <p:cNvSpPr/>
          <p:nvPr/>
        </p:nvSpPr>
        <p:spPr>
          <a:xfrm>
            <a:off x="7035800" y="3302000"/>
            <a:ext cx="4216400" cy="558800"/>
          </a:xfrm>
          <a:prstGeom prst="roundRect">
            <a:avLst>
              <a:gd name="adj" fmla="val 12000"/>
            </a:avLst>
          </a:prstGeom>
          <a:solidFill>
            <a:srgbClr val="0E1729"/>
          </a:solidFill>
          <a:ln w="12700">
            <a:solidFill>
              <a:srgbClr val="10B981">
                <a:alpha val="37647"/>
              </a:srgbClr>
            </a:solidFill>
          </a:ln>
        </p:spPr>
      </p:sp>
      <p:sp>
        <p:nvSpPr>
          <p:cNvPr id="49" name="fl2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7213600" y="3492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0" name="fl2"/>
          <p:cNvSpPr txBox="1"/>
          <p:nvPr/>
        </p:nvSpPr>
        <p:spPr>
          <a:xfrm>
            <a:off x="7493000" y="3302000"/>
            <a:ext cx="368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FFFFFF"/>
                </a:solidFill>
                <a:latin typeface="Loma"/>
                <a:ea typeface="Loma"/>
              </a:rPr>
              <a:t>TryPoncho Balance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850" noProof="1">
                <a:solidFill>
                  <a:srgbClr val="94A3B8"/>
                </a:solidFill>
                <a:latin typeface="JetBrains Mono"/>
                <a:ea typeface="JetBrains Mono"/>
              </a:rPr>
              <a:t>tryponcho.com · ยอดให้ Agent ใช้จ่าย</a:t>
            </a:r>
            <a:endParaRPr lang="en-US" sz="1600" noProof="1"/>
          </a:p>
        </p:txBody>
      </p:sp>
      <p:sp>
        <p:nvSpPr>
          <p:cNvPr id="51" name="fl-arrow2"/>
          <p:cNvSpPr/>
          <p:nvPr>
            <p:extLst>
              <p:ext uri="{F5677B7D-0D2A-4D9B-9A5C-6D8D7D0E5A5D}">
                <pptd:icon encoding="base64url">eyJpY29uTmFtZSI6ImZhczphcnJvdy1kb3duIn0</pptd:icon>
              </p:ext>
            </p:extLst>
          </p:nvPr>
        </p:nvSpPr>
        <p:spPr>
          <a:xfrm>
            <a:off x="9017000" y="391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169" y="503"/>
                </a:moveTo>
                <a:cubicBezTo>
                  <a:pt x="182" y="515"/>
                  <a:pt x="202" y="515"/>
                  <a:pt x="215" y="503"/>
                </a:cubicBezTo>
                <a:lnTo>
                  <a:pt x="375" y="343"/>
                </a:lnTo>
                <a:cubicBezTo>
                  <a:pt x="387" y="330"/>
                  <a:pt x="387" y="310"/>
                  <a:pt x="375" y="297"/>
                </a:cubicBezTo>
                <a:cubicBezTo>
                  <a:pt x="362" y="285"/>
                  <a:pt x="342" y="285"/>
                  <a:pt x="329" y="297"/>
                </a:cubicBezTo>
                <a:lnTo>
                  <a:pt x="224" y="403"/>
                </a:lnTo>
                <a:lnTo>
                  <a:pt x="224" y="32"/>
                </a:lnTo>
                <a:cubicBezTo>
                  <a:pt x="224" y="14"/>
                  <a:pt x="210" y="0"/>
                  <a:pt x="192" y="0"/>
                </a:cubicBezTo>
                <a:cubicBezTo>
                  <a:pt x="174" y="0"/>
                  <a:pt x="160" y="14"/>
                  <a:pt x="160" y="32"/>
                </a:cubicBezTo>
                <a:lnTo>
                  <a:pt x="160" y="403"/>
                </a:lnTo>
                <a:lnTo>
                  <a:pt x="55" y="297"/>
                </a:lnTo>
                <a:cubicBezTo>
                  <a:pt x="42" y="285"/>
                  <a:pt x="22" y="285"/>
                  <a:pt x="9" y="297"/>
                </a:cubicBezTo>
                <a:cubicBezTo>
                  <a:pt x="-3" y="310"/>
                  <a:pt x="-3" y="330"/>
                  <a:pt x="9" y="343"/>
                </a:cubicBezTo>
                <a:lnTo>
                  <a:pt x="169" y="503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52" name="fl3-bg"/>
          <p:cNvSpPr/>
          <p:nvPr/>
        </p:nvSpPr>
        <p:spPr>
          <a:xfrm>
            <a:off x="7035800" y="4114800"/>
            <a:ext cx="4216400" cy="558800"/>
          </a:xfrm>
          <a:prstGeom prst="roundRect">
            <a:avLst>
              <a:gd name="adj" fmla="val 12000"/>
            </a:avLst>
          </a:prstGeom>
          <a:solidFill>
            <a:srgbClr val="0E1729"/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53" name="fl3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7213600" y="4305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54" name="fl3"/>
          <p:cNvSpPr txBox="1"/>
          <p:nvPr/>
        </p:nvSpPr>
        <p:spPr>
          <a:xfrm>
            <a:off x="7493000" y="4114800"/>
            <a:ext cx="3683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FFFFFF"/>
                </a:solidFill>
                <a:latin typeface="Loma"/>
                <a:ea typeface="Loma"/>
              </a:rPr>
              <a:t>Agent สั่งซื้อและจ่ายเอง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850" noProof="1">
                <a:solidFill>
                  <a:srgbClr val="94A3B8"/>
                </a:solidFill>
                <a:latin typeface="JetBrains Mono"/>
                <a:ea typeface="JetBrains Mono"/>
              </a:rPr>
              <a:t>x402 / MPP · pay-per-use</a:t>
            </a:r>
            <a:endParaRPr lang="en-US" sz="1600" noProof="1"/>
          </a:p>
        </p:txBody>
      </p:sp>
      <p:sp>
        <p:nvSpPr>
          <p:cNvPr id="55" name="rc-note"/>
          <p:cNvSpPr txBox="1"/>
          <p:nvPr/>
        </p:nvSpPr>
        <p:spPr>
          <a:xfrm>
            <a:off x="7035800" y="4826000"/>
            <a:ext cx="4216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940" noProof="1">
                <a:solidFill>
                  <a:srgbClr val="94A3B8"/>
                </a:solidFill>
                <a:latin typeface="Loma"/>
                <a:ea typeface="Loma"/>
              </a:rPr>
              <a:t>ทุกการจ่ายมีใบเสร็จบน chain ตรวจย้อนหลังได้ที่ mppscan.com / x402scan.com</a:t>
            </a:r>
            <a:endParaRPr lang="en-US" sz="940" noProof="1"/>
          </a:p>
        </p:txBody>
      </p:sp>
      <p:sp>
        <p:nvSpPr>
          <p:cNvPr id="56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20 / 24</a:t>
            </a:r>
            <a:endParaRPr lang="en-US" sz="800" noProof="1"/>
          </a:p>
        </p:txBody>
      </p:sp>
      <p:sp>
        <p:nvSpPr>
          <p:cNvPr id="57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LEARNER'S GUIDE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5715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57300" y="482600"/>
            <a:ext cx="228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TOOLCHAIN</a:t>
            </a:r>
            <a:endParaRPr lang="en-US" sz="85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366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Space Grotesk"/>
                <a:ea typeface="Space Grotesk"/>
              </a:rPr>
              <a:t>Reference Links</a:t>
            </a:r>
            <a:endParaRPr lang="en-US" sz="30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24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20" noProof="1">
                <a:solidFill>
                  <a:srgbClr val="94A3B8"/>
                </a:solidFill>
                <a:latin typeface="Loma"/>
                <a:ea typeface="Loma"/>
              </a:rPr>
              <a:t>ลิงก์และเครื่องมือทั้งหมดที่ใช้ใน workshop รวบรวมไว้ที่เดียว</a:t>
            </a:r>
            <a:endParaRPr lang="en-US" sz="1120" noProof="1"/>
          </a:p>
        </p:txBody>
      </p:sp>
      <p:sp>
        <p:nvSpPr>
          <p:cNvPr id="6" name="tools-pill"/>
          <p:cNvSpPr/>
          <p:nvPr/>
        </p:nvSpPr>
        <p:spPr>
          <a:xfrm>
            <a:off x="10718800" y="685800"/>
            <a:ext cx="863600" cy="254000"/>
          </a:xfrm>
          <a:prstGeom prst="roundRect">
            <a:avLst>
              <a:gd name="adj" fmla="val 50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1373"/>
              </a:srgbClr>
            </a:solidFill>
          </a:ln>
        </p:spPr>
      </p:sp>
      <p:sp>
        <p:nvSpPr>
          <p:cNvPr id="7" name="tools-pill-text"/>
          <p:cNvSpPr txBox="1"/>
          <p:nvPr/>
        </p:nvSpPr>
        <p:spPr>
          <a:xfrm>
            <a:off x="10718800" y="685800"/>
            <a:ext cx="863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 spc="100" kern="0">
                <a:solidFill>
                  <a:srgbClr val="06B6D4"/>
                </a:solidFill>
                <a:latin typeface="JetBrains Mono"/>
                <a:ea typeface="JetBrains Mono"/>
              </a:rPr>
              <a:t>6 TOOLS</a:t>
            </a:r>
            <a:endParaRPr lang="en-US" sz="820" noProof="1"/>
          </a:p>
        </p:txBody>
      </p:sp>
      <p:sp>
        <p:nvSpPr>
          <p:cNvPr id="8" name="tools-sub"/>
          <p:cNvSpPr txBox="1"/>
          <p:nvPr/>
        </p:nvSpPr>
        <p:spPr>
          <a:xfrm>
            <a:off x="9271000" y="1041400"/>
            <a:ext cx="2311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750" noProof="1" spc="120" kern="0">
                <a:solidFill>
                  <a:srgbClr val="64748B"/>
                </a:solidFill>
                <a:latin typeface="JetBrains Mono"/>
                <a:ea typeface="JetBrains Mono"/>
              </a:rPr>
              <a:t>SPECS · EXPLORERS · RUNTIME</a:t>
            </a:r>
            <a:endParaRPr lang="en-US" sz="750" noProof="1"/>
          </a:p>
        </p:txBody>
      </p:sp>
      <p:sp>
        <p:nvSpPr>
          <p:cNvPr id="9" name="k1-bg"/>
          <p:cNvSpPr/>
          <p:nvPr/>
        </p:nvSpPr>
        <p:spPr>
          <a:xfrm>
            <a:off x="609600" y="16510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0" name="k1-left"/>
          <p:cNvSpPr/>
          <p:nvPr/>
        </p:nvSpPr>
        <p:spPr>
          <a:xfrm>
            <a:off x="609600" y="1727200"/>
            <a:ext cx="3810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1" name="k1-tile"/>
          <p:cNvSpPr/>
          <p:nvPr/>
        </p:nvSpPr>
        <p:spPr>
          <a:xfrm>
            <a:off x="800100" y="18415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12" name="k1-icon"/>
          <p:cNvSpPr/>
          <p:nvPr>
            <p:extLst>
              <p:ext uri="{F5677B7D-0D2A-4D9B-9A5C-6D8D7D0E5A5D}">
                <pptd:icon encoding="base64url">eyJpY29uTmFtZSI6ImZhczpnbG9iZSJ9</pptd:icon>
              </p:ext>
            </p:extLst>
          </p:nvPr>
        </p:nvSpPr>
        <p:spPr>
          <a:xfrm>
            <a:off x="901700" y="1943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3" name="k1-name"/>
          <p:cNvSpPr txBox="1"/>
          <p:nvPr/>
        </p:nvSpPr>
        <p:spPr>
          <a:xfrm>
            <a:off x="1346200" y="18161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MPP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SPEC</a:t>
            </a:r>
            <a:endParaRPr lang="en-US" sz="1600" noProof="1"/>
          </a:p>
        </p:txBody>
      </p:sp>
      <p:sp>
        <p:nvSpPr>
          <p:cNvPr id="14" name="k1-url-bg"/>
          <p:cNvSpPr/>
          <p:nvPr/>
        </p:nvSpPr>
        <p:spPr>
          <a:xfrm>
            <a:off x="1270000" y="2184400"/>
            <a:ext cx="9652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15" name="k1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1371600" y="2247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16" name="k1-url"/>
          <p:cNvSpPr txBox="1"/>
          <p:nvPr/>
        </p:nvSpPr>
        <p:spPr>
          <a:xfrm>
            <a:off x="1536700" y="2184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mpp.dev</a:t>
            </a:r>
            <a:endParaRPr lang="en-US" sz="980" noProof="1"/>
          </a:p>
        </p:txBody>
      </p:sp>
      <p:sp>
        <p:nvSpPr>
          <p:cNvPr id="17" name="k1-desc"/>
          <p:cNvSpPr txBox="1"/>
          <p:nvPr/>
        </p:nvSpPr>
        <p:spPr>
          <a:xfrm>
            <a:off x="812800" y="25400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Machine Payments Protocol — open IETF standard โดย Tempo × Stripe</a:t>
            </a:r>
            <a:endParaRPr lang="en-US" sz="980" noProof="1"/>
          </a:p>
        </p:txBody>
      </p:sp>
      <p:sp>
        <p:nvSpPr>
          <p:cNvPr id="18" name="k2-bg"/>
          <p:cNvSpPr/>
          <p:nvPr/>
        </p:nvSpPr>
        <p:spPr>
          <a:xfrm>
            <a:off x="4318000" y="16510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9" name="k2-left"/>
          <p:cNvSpPr/>
          <p:nvPr/>
        </p:nvSpPr>
        <p:spPr>
          <a:xfrm>
            <a:off x="4318000" y="1727200"/>
            <a:ext cx="3810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k2-tile"/>
          <p:cNvSpPr/>
          <p:nvPr/>
        </p:nvSpPr>
        <p:spPr>
          <a:xfrm>
            <a:off x="4508500" y="18415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25098"/>
              </a:srgbClr>
            </a:solidFill>
          </a:ln>
        </p:spPr>
      </p:sp>
      <p:sp>
        <p:nvSpPr>
          <p:cNvPr id="21" name="k2-icon"/>
          <p:cNvSpPr/>
          <p:nvPr>
            <p:extLst>
              <p:ext uri="{F5677B7D-0D2A-4D9B-9A5C-6D8D7D0E5A5D}">
                <pptd:icon encoding="base64url">eyJpY29uTmFtZSI6ImZhczpnbG9iZSJ9</pptd:icon>
              </p:ext>
            </p:extLst>
          </p:nvPr>
        </p:nvSpPr>
        <p:spPr>
          <a:xfrm>
            <a:off x="4610100" y="1943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52" y="280"/>
                </a:moveTo>
                <a:lnTo>
                  <a:pt x="161" y="280"/>
                </a:lnTo>
                <a:cubicBezTo>
                  <a:pt x="164" y="345"/>
                  <a:pt x="178" y="404"/>
                  <a:pt x="198" y="447"/>
                </a:cubicBezTo>
                <a:cubicBezTo>
                  <a:pt x="210" y="472"/>
                  <a:pt x="222" y="489"/>
                  <a:pt x="234" y="500"/>
                </a:cubicBezTo>
                <a:cubicBezTo>
                  <a:pt x="245" y="510"/>
                  <a:pt x="252" y="512"/>
                  <a:pt x="256" y="512"/>
                </a:cubicBezTo>
                <a:cubicBezTo>
                  <a:pt x="260" y="512"/>
                  <a:pt x="268" y="510"/>
                  <a:pt x="279" y="500"/>
                </a:cubicBezTo>
                <a:cubicBezTo>
                  <a:pt x="291" y="489"/>
                  <a:pt x="303" y="472"/>
                  <a:pt x="314" y="447"/>
                </a:cubicBezTo>
                <a:cubicBezTo>
                  <a:pt x="335" y="404"/>
                  <a:pt x="349" y="345"/>
                  <a:pt x="352" y="280"/>
                </a:cubicBezTo>
                <a:close/>
              </a:path>
              <a:path w="512" h="512">
                <a:moveTo>
                  <a:pt x="161" y="232"/>
                </a:moveTo>
                <a:lnTo>
                  <a:pt x="352" y="232"/>
                </a:lnTo>
                <a:cubicBezTo>
                  <a:pt x="349" y="168"/>
                  <a:pt x="335" y="108"/>
                  <a:pt x="314" y="65"/>
                </a:cubicBezTo>
                <a:cubicBezTo>
                  <a:pt x="303" y="40"/>
                  <a:pt x="291" y="23"/>
                  <a:pt x="279" y="12"/>
                </a:cubicBezTo>
                <a:cubicBezTo>
                  <a:pt x="268" y="2"/>
                  <a:pt x="260" y="0"/>
                  <a:pt x="256" y="0"/>
                </a:cubicBezTo>
                <a:cubicBezTo>
                  <a:pt x="252" y="0"/>
                  <a:pt x="245" y="2"/>
                  <a:pt x="233" y="12"/>
                </a:cubicBezTo>
                <a:cubicBezTo>
                  <a:pt x="222" y="23"/>
                  <a:pt x="210" y="40"/>
                  <a:pt x="198" y="65"/>
                </a:cubicBezTo>
                <a:cubicBezTo>
                  <a:pt x="178" y="108"/>
                  <a:pt x="164" y="168"/>
                  <a:pt x="161" y="232"/>
                </a:cubicBezTo>
                <a:close/>
              </a:path>
              <a:path w="512" h="512">
                <a:moveTo>
                  <a:pt x="113" y="232"/>
                </a:moveTo>
                <a:cubicBezTo>
                  <a:pt x="116" y="146"/>
                  <a:pt x="139" y="67"/>
                  <a:pt x="171" y="15"/>
                </a:cubicBezTo>
                <a:cubicBezTo>
                  <a:pt x="79" y="47"/>
                  <a:pt x="11" y="131"/>
                  <a:pt x="2" y="232"/>
                </a:cubicBezTo>
                <a:lnTo>
                  <a:pt x="113" y="232"/>
                </a:lnTo>
                <a:close/>
              </a:path>
              <a:path w="512" h="512">
                <a:moveTo>
                  <a:pt x="2" y="280"/>
                </a:moveTo>
                <a:cubicBezTo>
                  <a:pt x="11" y="381"/>
                  <a:pt x="79" y="465"/>
                  <a:pt x="171" y="497"/>
                </a:cubicBezTo>
                <a:cubicBezTo>
                  <a:pt x="139" y="445"/>
                  <a:pt x="116" y="366"/>
                  <a:pt x="113" y="280"/>
                </a:cubicBezTo>
                <a:lnTo>
                  <a:pt x="2" y="280"/>
                </a:lnTo>
                <a:close/>
              </a:path>
              <a:path w="512" h="512">
                <a:moveTo>
                  <a:pt x="400" y="280"/>
                </a:moveTo>
                <a:cubicBezTo>
                  <a:pt x="396" y="366"/>
                  <a:pt x="374" y="445"/>
                  <a:pt x="342" y="497"/>
                </a:cubicBezTo>
                <a:cubicBezTo>
                  <a:pt x="434" y="465"/>
                  <a:pt x="502" y="381"/>
                  <a:pt x="511" y="280"/>
                </a:cubicBezTo>
                <a:lnTo>
                  <a:pt x="400" y="280"/>
                </a:lnTo>
                <a:close/>
              </a:path>
              <a:path w="512" h="512">
                <a:moveTo>
                  <a:pt x="511" y="232"/>
                </a:moveTo>
                <a:cubicBezTo>
                  <a:pt x="502" y="131"/>
                  <a:pt x="434" y="47"/>
                  <a:pt x="342" y="15"/>
                </a:cubicBezTo>
                <a:cubicBezTo>
                  <a:pt x="374" y="67"/>
                  <a:pt x="396" y="146"/>
                  <a:pt x="400" y="232"/>
                </a:cubicBezTo>
                <a:lnTo>
                  <a:pt x="511" y="232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22" name="k2-name"/>
          <p:cNvSpPr txBox="1"/>
          <p:nvPr/>
        </p:nvSpPr>
        <p:spPr>
          <a:xfrm>
            <a:off x="5054600" y="18161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x402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SPEC</a:t>
            </a:r>
            <a:endParaRPr lang="en-US" sz="1600" noProof="1"/>
          </a:p>
        </p:txBody>
      </p:sp>
      <p:sp>
        <p:nvSpPr>
          <p:cNvPr id="23" name="k2-url-bg"/>
          <p:cNvSpPr/>
          <p:nvPr/>
        </p:nvSpPr>
        <p:spPr>
          <a:xfrm>
            <a:off x="4978400" y="2184400"/>
            <a:ext cx="9906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24" name="k2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5080000" y="2247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25" name="k2-url"/>
          <p:cNvSpPr txBox="1"/>
          <p:nvPr/>
        </p:nvSpPr>
        <p:spPr>
          <a:xfrm>
            <a:off x="5245100" y="218440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x402.org</a:t>
            </a:r>
            <a:endParaRPr lang="en-US" sz="980" noProof="1"/>
          </a:p>
        </p:txBody>
      </p:sp>
      <p:sp>
        <p:nvSpPr>
          <p:cNvPr id="26" name="k2-desc"/>
          <p:cNvSpPr txBox="1"/>
          <p:nvPr/>
        </p:nvSpPr>
        <p:spPr>
          <a:xfrm>
            <a:off x="4521200" y="25146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HTTP 402 turnkey payment protocol สำหรับ AI agents โดย Coinbase</a:t>
            </a:r>
            <a:endParaRPr lang="en-US" sz="980" noProof="1"/>
          </a:p>
        </p:txBody>
      </p:sp>
      <p:sp>
        <p:nvSpPr>
          <p:cNvPr id="27" name="k3-bg"/>
          <p:cNvSpPr/>
          <p:nvPr/>
        </p:nvSpPr>
        <p:spPr>
          <a:xfrm>
            <a:off x="8026400" y="16510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8" name="k3-left"/>
          <p:cNvSpPr/>
          <p:nvPr/>
        </p:nvSpPr>
        <p:spPr>
          <a:xfrm>
            <a:off x="8026400" y="1727200"/>
            <a:ext cx="3810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9" name="k3-tile"/>
          <p:cNvSpPr/>
          <p:nvPr/>
        </p:nvSpPr>
        <p:spPr>
          <a:xfrm>
            <a:off x="8216900" y="18415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06B6D4">
              <a:alpha val="12157"/>
            </a:srgbClr>
          </a:solidFill>
          <a:ln w="12700">
            <a:solidFill>
              <a:srgbClr val="06B6D4">
                <a:alpha val="25098"/>
              </a:srgbClr>
            </a:solidFill>
          </a:ln>
        </p:spPr>
      </p:sp>
      <p:sp>
        <p:nvSpPr>
          <p:cNvPr id="30" name="k3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8318500" y="1943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31" name="k3-name"/>
          <p:cNvSpPr txBox="1"/>
          <p:nvPr/>
        </p:nvSpPr>
        <p:spPr>
          <a:xfrm>
            <a:off x="8763000" y="18161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x402scan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EXPLORER</a:t>
            </a:r>
            <a:endParaRPr lang="en-US" sz="1600" noProof="1"/>
          </a:p>
        </p:txBody>
      </p:sp>
      <p:sp>
        <p:nvSpPr>
          <p:cNvPr id="32" name="k3-url-bg"/>
          <p:cNvSpPr/>
          <p:nvPr/>
        </p:nvSpPr>
        <p:spPr>
          <a:xfrm>
            <a:off x="8686800" y="2184400"/>
            <a:ext cx="13462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33" name="k3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8788400" y="2247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34" name="k3-url"/>
          <p:cNvSpPr txBox="1"/>
          <p:nvPr/>
        </p:nvSpPr>
        <p:spPr>
          <a:xfrm>
            <a:off x="8953500" y="2184400"/>
            <a:ext cx="1041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x402scan.com</a:t>
            </a:r>
            <a:endParaRPr lang="en-US" sz="980" noProof="1"/>
          </a:p>
        </p:txBody>
      </p:sp>
      <p:sp>
        <p:nvSpPr>
          <p:cNvPr id="35" name="k3-desc"/>
          <p:cNvSpPr txBox="1"/>
          <p:nvPr/>
        </p:nvSpPr>
        <p:spPr>
          <a:xfrm>
            <a:off x="8229600" y="25400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ตรวจสอบธุรกรรม x402 บน Base/Ethereum</a:t>
            </a:r>
            <a:endParaRPr lang="en-US" sz="980" noProof="1"/>
          </a:p>
        </p:txBody>
      </p:sp>
      <p:sp>
        <p:nvSpPr>
          <p:cNvPr id="36" name="k4-bg"/>
          <p:cNvSpPr/>
          <p:nvPr/>
        </p:nvSpPr>
        <p:spPr>
          <a:xfrm>
            <a:off x="609600" y="35306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37" name="k4-left"/>
          <p:cNvSpPr/>
          <p:nvPr/>
        </p:nvSpPr>
        <p:spPr>
          <a:xfrm>
            <a:off x="609600" y="3606800"/>
            <a:ext cx="3810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8" name="k4-tile"/>
          <p:cNvSpPr/>
          <p:nvPr/>
        </p:nvSpPr>
        <p:spPr>
          <a:xfrm>
            <a:off x="800100" y="37211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25098"/>
              </a:srgbClr>
            </a:solidFill>
          </a:ln>
        </p:spPr>
      </p:sp>
      <p:sp>
        <p:nvSpPr>
          <p:cNvPr id="39" name="k4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901700" y="38227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40" name="k4-name"/>
          <p:cNvSpPr txBox="1"/>
          <p:nvPr/>
        </p:nvSpPr>
        <p:spPr>
          <a:xfrm>
            <a:off x="1346200" y="36957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mppscan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EXPLORER</a:t>
            </a:r>
            <a:endParaRPr lang="en-US" sz="1600" noProof="1"/>
          </a:p>
        </p:txBody>
      </p:sp>
      <p:sp>
        <p:nvSpPr>
          <p:cNvPr id="41" name="k4-url-bg"/>
          <p:cNvSpPr/>
          <p:nvPr/>
        </p:nvSpPr>
        <p:spPr>
          <a:xfrm>
            <a:off x="1270000" y="4064000"/>
            <a:ext cx="13208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42" name="k4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1371600" y="4127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43" name="k4-url"/>
          <p:cNvSpPr txBox="1"/>
          <p:nvPr/>
        </p:nvSpPr>
        <p:spPr>
          <a:xfrm>
            <a:off x="1536700" y="40640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mppscan.com</a:t>
            </a:r>
            <a:endParaRPr lang="en-US" sz="980" noProof="1"/>
          </a:p>
        </p:txBody>
      </p:sp>
      <p:sp>
        <p:nvSpPr>
          <p:cNvPr id="44" name="k4-desc"/>
          <p:cNvSpPr txBox="1"/>
          <p:nvPr/>
        </p:nvSpPr>
        <p:spPr>
          <a:xfrm>
            <a:off x="812800" y="44196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ตรวจสอบธุรกรรม MPP บน Tempo chain</a:t>
            </a:r>
            <a:endParaRPr lang="en-US" sz="980" noProof="1"/>
          </a:p>
        </p:txBody>
      </p:sp>
      <p:sp>
        <p:nvSpPr>
          <p:cNvPr id="45" name="k5-bg"/>
          <p:cNvSpPr/>
          <p:nvPr/>
        </p:nvSpPr>
        <p:spPr>
          <a:xfrm>
            <a:off x="4318000" y="35306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46" name="k5-left"/>
          <p:cNvSpPr/>
          <p:nvPr/>
        </p:nvSpPr>
        <p:spPr>
          <a:xfrm>
            <a:off x="4318000" y="3606800"/>
            <a:ext cx="38100" cy="1600200"/>
          </a:xfrm>
          <a:prstGeom prst="rect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47" name="k5-tile"/>
          <p:cNvSpPr/>
          <p:nvPr/>
        </p:nvSpPr>
        <p:spPr>
          <a:xfrm>
            <a:off x="4508500" y="37211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FBBF24">
              <a:alpha val="12157"/>
            </a:srgbClr>
          </a:solidFill>
          <a:ln w="12700">
            <a:solidFill>
              <a:srgbClr val="FBBF24">
                <a:alpha val="25098"/>
              </a:srgbClr>
            </a:solidFill>
          </a:ln>
        </p:spPr>
      </p:sp>
      <p:sp>
        <p:nvSpPr>
          <p:cNvPr id="48" name="k5-icon"/>
          <p:cNvSpPr/>
          <p:nvPr>
            <p:extLst>
              <p:ext uri="{F5677B7D-0D2A-4D9B-9A5C-6D8D7D0E5A5D}">
                <pptd:icon encoding="base64url">eyJpY29uTmFtZSI6ImZhczp3YWxsZXQifQ</pptd:icon>
              </p:ext>
            </p:extLst>
          </p:nvPr>
        </p:nvSpPr>
        <p:spPr>
          <a:xfrm>
            <a:off x="4610100" y="38227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FBBF24"/>
          </a:solidFill>
          <a:ln>
            <a:noFill/>
          </a:ln>
        </p:spPr>
      </p:sp>
      <p:sp>
        <p:nvSpPr>
          <p:cNvPr id="49" name="k5-name"/>
          <p:cNvSpPr txBox="1"/>
          <p:nvPr/>
        </p:nvSpPr>
        <p:spPr>
          <a:xfrm>
            <a:off x="5054600" y="36957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Tempo Wallet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RUNTIME</a:t>
            </a:r>
            <a:endParaRPr lang="en-US" sz="1600" noProof="1"/>
          </a:p>
        </p:txBody>
      </p:sp>
      <p:sp>
        <p:nvSpPr>
          <p:cNvPr id="50" name="k5-url-bg"/>
          <p:cNvSpPr/>
          <p:nvPr/>
        </p:nvSpPr>
        <p:spPr>
          <a:xfrm>
            <a:off x="4978400" y="4064000"/>
            <a:ext cx="15494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51" name="k5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5080000" y="4127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52" name="k5-url"/>
          <p:cNvSpPr txBox="1"/>
          <p:nvPr/>
        </p:nvSpPr>
        <p:spPr>
          <a:xfrm>
            <a:off x="5245100" y="40640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wallet.tempo.xyz</a:t>
            </a:r>
            <a:endParaRPr lang="en-US" sz="980" noProof="1"/>
          </a:p>
        </p:txBody>
      </p:sp>
      <p:sp>
        <p:nvSpPr>
          <p:cNvPr id="53" name="k5-desc"/>
          <p:cNvSpPr txBox="1"/>
          <p:nvPr/>
        </p:nvSpPr>
        <p:spPr>
          <a:xfrm>
            <a:off x="4521200" y="4394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Web-based passkey wallet สำหรับสร้างและจัดการ USDC wallet</a:t>
            </a:r>
            <a:endParaRPr lang="en-US" sz="980" noProof="1"/>
          </a:p>
        </p:txBody>
      </p:sp>
      <p:sp>
        <p:nvSpPr>
          <p:cNvPr id="54" name="k6-bg"/>
          <p:cNvSpPr/>
          <p:nvPr/>
        </p:nvSpPr>
        <p:spPr>
          <a:xfrm>
            <a:off x="8026400" y="3530600"/>
            <a:ext cx="3556000" cy="1752600"/>
          </a:xfrm>
          <a:prstGeom prst="roundRect">
            <a:avLst>
              <a:gd name="adj" fmla="val 7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55" name="k6-left"/>
          <p:cNvSpPr/>
          <p:nvPr/>
        </p:nvSpPr>
        <p:spPr>
          <a:xfrm>
            <a:off x="8026400" y="3606800"/>
            <a:ext cx="3810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56" name="k6-tile"/>
          <p:cNvSpPr/>
          <p:nvPr/>
        </p:nvSpPr>
        <p:spPr>
          <a:xfrm>
            <a:off x="8216900" y="3721100"/>
            <a:ext cx="431800" cy="431800"/>
          </a:xfrm>
          <a:prstGeom prst="roundRect">
            <a:avLst>
              <a:gd name="adj" fmla="val 18000"/>
            </a:avLst>
          </a:prstGeom>
          <a:solidFill>
            <a:srgbClr val="10B981">
              <a:alpha val="12157"/>
            </a:srgbClr>
          </a:solidFill>
          <a:ln w="12700">
            <a:solidFill>
              <a:srgbClr val="10B981">
                <a:alpha val="25098"/>
              </a:srgbClr>
            </a:solidFill>
          </a:ln>
        </p:spPr>
      </p:sp>
      <p:sp>
        <p:nvSpPr>
          <p:cNvPr id="57" name="k6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8318500" y="38227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58" name="k6-name"/>
          <p:cNvSpPr txBox="1"/>
          <p:nvPr/>
        </p:nvSpPr>
        <p:spPr>
          <a:xfrm>
            <a:off x="8763000" y="36957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Poncho </a:t>
            </a:r>
            <a:r>
              <a:rPr lang="en-US" sz="750" noProof="1">
                <a:solidFill>
                  <a:srgbClr val="64748B"/>
                </a:solidFill>
                <a:latin typeface="JetBrains Mono"/>
                <a:ea typeface="JetBrains Mono"/>
              </a:rPr>
              <a:t>RUNTIME</a:t>
            </a:r>
            <a:endParaRPr lang="en-US" sz="1600" noProof="1"/>
          </a:p>
        </p:txBody>
      </p:sp>
      <p:sp>
        <p:nvSpPr>
          <p:cNvPr id="59" name="k6-url-bg"/>
          <p:cNvSpPr/>
          <p:nvPr/>
        </p:nvSpPr>
        <p:spPr>
          <a:xfrm>
            <a:off x="8686800" y="4064000"/>
            <a:ext cx="1371600" cy="228600"/>
          </a:xfrm>
          <a:prstGeom prst="roundRect">
            <a:avLst>
              <a:gd name="adj" fmla="val 50000"/>
            </a:avLst>
          </a:prstGeom>
          <a:solidFill>
            <a:srgbClr val="0E1729"/>
          </a:solidFill>
          <a:ln w="12700">
            <a:solidFill>
              <a:srgbClr val="263453"/>
            </a:solidFill>
          </a:ln>
        </p:spPr>
      </p:sp>
      <p:sp>
        <p:nvSpPr>
          <p:cNvPr id="60" name="k6-url-icon"/>
          <p:cNvSpPr/>
          <p:nvPr>
            <p:extLst>
              <p:ext uri="{F5677B7D-0D2A-4D9B-9A5C-6D8D7D0E5A5D}">
                <pptd:icon encoding="base64url">eyJpY29uTmFtZSI6ImZhczpsaW5rIn0</pptd:icon>
              </p:ext>
            </p:extLst>
          </p:nvPr>
        </p:nvSpPr>
        <p:spPr>
          <a:xfrm>
            <a:off x="8788400" y="4127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20" y="96"/>
                </a:moveTo>
                <a:cubicBezTo>
                  <a:pt x="403" y="96"/>
                  <a:pt x="387" y="101"/>
                  <a:pt x="373" y="109"/>
                </a:cubicBezTo>
                <a:cubicBezTo>
                  <a:pt x="357" y="93"/>
                  <a:pt x="339" y="79"/>
                  <a:pt x="318" y="69"/>
                </a:cubicBezTo>
                <a:cubicBezTo>
                  <a:pt x="346" y="45"/>
                  <a:pt x="382" y="32"/>
                  <a:pt x="420" y="32"/>
                </a:cubicBezTo>
                <a:cubicBezTo>
                  <a:pt x="506" y="32"/>
                  <a:pt x="576" y="102"/>
                  <a:pt x="576" y="189"/>
                </a:cubicBezTo>
                <a:cubicBezTo>
                  <a:pt x="576" y="230"/>
                  <a:pt x="560" y="270"/>
                  <a:pt x="530" y="299"/>
                </a:cubicBezTo>
                <a:lnTo>
                  <a:pt x="459" y="370"/>
                </a:lnTo>
                <a:cubicBezTo>
                  <a:pt x="430" y="400"/>
                  <a:pt x="390" y="416"/>
                  <a:pt x="349" y="416"/>
                </a:cubicBezTo>
                <a:cubicBezTo>
                  <a:pt x="262" y="416"/>
                  <a:pt x="192" y="346"/>
                  <a:pt x="192" y="260"/>
                </a:cubicBezTo>
                <a:cubicBezTo>
                  <a:pt x="192" y="258"/>
                  <a:pt x="192" y="257"/>
                  <a:pt x="192" y="255"/>
                </a:cubicBezTo>
                <a:cubicBezTo>
                  <a:pt x="193" y="237"/>
                  <a:pt x="207" y="223"/>
                  <a:pt x="225" y="224"/>
                </a:cubicBezTo>
                <a:cubicBezTo>
                  <a:pt x="243" y="224"/>
                  <a:pt x="257" y="239"/>
                  <a:pt x="256" y="257"/>
                </a:cubicBezTo>
                <a:cubicBezTo>
                  <a:pt x="256" y="258"/>
                  <a:pt x="256" y="259"/>
                  <a:pt x="256" y="259"/>
                </a:cubicBezTo>
                <a:cubicBezTo>
                  <a:pt x="256" y="311"/>
                  <a:pt x="298" y="352"/>
                  <a:pt x="349" y="352"/>
                </a:cubicBezTo>
                <a:cubicBezTo>
                  <a:pt x="373" y="352"/>
                  <a:pt x="397" y="342"/>
                  <a:pt x="414" y="325"/>
                </a:cubicBezTo>
                <a:lnTo>
                  <a:pt x="485" y="254"/>
                </a:lnTo>
                <a:cubicBezTo>
                  <a:pt x="502" y="236"/>
                  <a:pt x="512" y="213"/>
                  <a:pt x="512" y="188"/>
                </a:cubicBezTo>
                <a:cubicBezTo>
                  <a:pt x="512" y="137"/>
                  <a:pt x="471" y="96"/>
                  <a:pt x="420" y="96"/>
                </a:cubicBezTo>
                <a:close/>
                <a:moveTo>
                  <a:pt x="275" y="173"/>
                </a:moveTo>
                <a:cubicBezTo>
                  <a:pt x="273" y="173"/>
                  <a:pt x="271" y="171"/>
                  <a:pt x="270" y="170"/>
                </a:cubicBezTo>
                <a:cubicBezTo>
                  <a:pt x="257" y="164"/>
                  <a:pt x="243" y="160"/>
                  <a:pt x="228" y="160"/>
                </a:cubicBezTo>
                <a:cubicBezTo>
                  <a:pt x="203" y="160"/>
                  <a:pt x="180" y="170"/>
                  <a:pt x="162" y="187"/>
                </a:cubicBezTo>
                <a:lnTo>
                  <a:pt x="91" y="258"/>
                </a:lnTo>
                <a:cubicBezTo>
                  <a:pt x="74" y="276"/>
                  <a:pt x="64" y="299"/>
                  <a:pt x="64" y="324"/>
                </a:cubicBezTo>
                <a:cubicBezTo>
                  <a:pt x="64" y="375"/>
                  <a:pt x="105" y="416"/>
                  <a:pt x="157" y="416"/>
                </a:cubicBezTo>
                <a:cubicBezTo>
                  <a:pt x="173" y="416"/>
                  <a:pt x="189" y="412"/>
                  <a:pt x="203" y="404"/>
                </a:cubicBezTo>
                <a:cubicBezTo>
                  <a:pt x="219" y="420"/>
                  <a:pt x="237" y="433"/>
                  <a:pt x="258" y="443"/>
                </a:cubicBezTo>
                <a:cubicBezTo>
                  <a:pt x="230" y="467"/>
                  <a:pt x="194" y="480"/>
                  <a:pt x="157" y="480"/>
                </a:cubicBezTo>
                <a:cubicBezTo>
                  <a:pt x="70" y="480"/>
                  <a:pt x="0" y="410"/>
                  <a:pt x="0" y="324"/>
                </a:cubicBezTo>
                <a:cubicBezTo>
                  <a:pt x="0" y="282"/>
                  <a:pt x="17" y="242"/>
                  <a:pt x="46" y="213"/>
                </a:cubicBezTo>
                <a:lnTo>
                  <a:pt x="117" y="142"/>
                </a:lnTo>
                <a:cubicBezTo>
                  <a:pt x="146" y="113"/>
                  <a:pt x="186" y="96"/>
                  <a:pt x="228" y="96"/>
                </a:cubicBezTo>
                <a:cubicBezTo>
                  <a:pt x="314" y="96"/>
                  <a:pt x="384" y="167"/>
                  <a:pt x="384" y="253"/>
                </a:cubicBezTo>
                <a:cubicBezTo>
                  <a:pt x="384" y="254"/>
                  <a:pt x="384" y="256"/>
                  <a:pt x="384" y="257"/>
                </a:cubicBezTo>
                <a:cubicBezTo>
                  <a:pt x="384" y="275"/>
                  <a:pt x="369" y="289"/>
                  <a:pt x="351" y="288"/>
                </a:cubicBezTo>
                <a:cubicBezTo>
                  <a:pt x="334" y="288"/>
                  <a:pt x="320" y="273"/>
                  <a:pt x="320" y="255"/>
                </a:cubicBezTo>
                <a:cubicBezTo>
                  <a:pt x="320" y="255"/>
                  <a:pt x="320" y="254"/>
                  <a:pt x="320" y="253"/>
                </a:cubicBezTo>
                <a:cubicBezTo>
                  <a:pt x="320" y="219"/>
                  <a:pt x="302" y="190"/>
                  <a:pt x="275" y="173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</p:sp>
      <p:sp>
        <p:nvSpPr>
          <p:cNvPr id="61" name="k6-url"/>
          <p:cNvSpPr txBox="1"/>
          <p:nvPr/>
        </p:nvSpPr>
        <p:spPr>
          <a:xfrm>
            <a:off x="8953500" y="40640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E2E8F0"/>
                </a:solidFill>
                <a:latin typeface="JetBrains Mono"/>
                <a:ea typeface="JetBrains Mono"/>
              </a:rPr>
              <a:t>tryponcho.com</a:t>
            </a:r>
            <a:endParaRPr lang="en-US" sz="980" noProof="1"/>
          </a:p>
        </p:txBody>
      </p:sp>
      <p:sp>
        <p:nvSpPr>
          <p:cNvPr id="62" name="k6-desc"/>
          <p:cNvSpPr txBox="1"/>
          <p:nvPr/>
        </p:nvSpPr>
        <p:spPr>
          <a:xfrm>
            <a:off x="8229600" y="4394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80" noProof="1">
                <a:solidFill>
                  <a:srgbClr val="E2E8F0"/>
                </a:solidFill>
                <a:latin typeface="Loma"/>
                <a:ea typeface="Loma"/>
              </a:rPr>
              <a:t>Open agentic commerce platform ที่ Agent สั่งซื้อสินค้าจริง</a:t>
            </a:r>
            <a:endParaRPr lang="en-US" sz="980" noProof="1"/>
          </a:p>
        </p:txBody>
      </p:sp>
      <p:sp>
        <p:nvSpPr>
          <p:cNvPr id="63" name="banner"/>
          <p:cNvSpPr/>
          <p:nvPr/>
        </p:nvSpPr>
        <p:spPr>
          <a:xfrm>
            <a:off x="609600" y="5816600"/>
            <a:ext cx="10972800" cy="406400"/>
          </a:xfrm>
          <a:prstGeom prst="roundRect">
            <a:avLst>
              <a:gd name="adj" fmla="val 30000"/>
            </a:avLst>
          </a:prstGeom>
          <a:solidFill>
            <a:srgbClr val="131B2E">
              <a:alpha val="50196"/>
            </a:srgbClr>
          </a:solidFill>
          <a:ln w="12700">
            <a:solidFill>
              <a:srgbClr val="263453"/>
            </a:solidFill>
            <a:prstDash val="dash"/>
          </a:ln>
        </p:spPr>
      </p:sp>
      <p:sp>
        <p:nvSpPr>
          <p:cNvPr id="64" name="banner-icon"/>
          <p:cNvSpPr/>
          <p:nvPr>
            <p:extLst>
              <p:ext uri="{F5677B7D-0D2A-4D9B-9A5C-6D8D7D0E5A5D}">
                <pptd:icon encoding="base64url">eyJpY29uTmFtZSI6ImZhczpib29rbWFyayJ9</pptd:icon>
              </p:ext>
            </p:extLst>
          </p:nvPr>
        </p:nvSpPr>
        <p:spPr>
          <a:xfrm>
            <a:off x="812800" y="5943600"/>
            <a:ext cx="165100" cy="1651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80"/>
                </a:lnTo>
                <a:cubicBezTo>
                  <a:pt x="0" y="492"/>
                  <a:pt x="6" y="502"/>
                  <a:pt x="16" y="508"/>
                </a:cubicBezTo>
                <a:cubicBezTo>
                  <a:pt x="26" y="513"/>
                  <a:pt x="39" y="513"/>
                  <a:pt x="48" y="507"/>
                </a:cubicBezTo>
                <a:lnTo>
                  <a:pt x="192" y="421"/>
                </a:lnTo>
                <a:lnTo>
                  <a:pt x="336" y="507"/>
                </a:lnTo>
                <a:cubicBezTo>
                  <a:pt x="345" y="513"/>
                  <a:pt x="358" y="514"/>
                  <a:pt x="368" y="508"/>
                </a:cubicBezTo>
                <a:cubicBezTo>
                  <a:pt x="378" y="502"/>
                  <a:pt x="384" y="492"/>
                  <a:pt x="384" y="480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65" name="banner-text"/>
          <p:cNvSpPr txBox="1"/>
          <p:nvPr/>
        </p:nvSpPr>
        <p:spPr>
          <a:xfrm>
            <a:off x="1079500" y="59055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80" noProof="1">
                <a:solidFill>
                  <a:srgbClr val="94A3B8"/>
                </a:solidFill>
                <a:latin typeface="Loma"/>
                <a:ea typeface="Loma"/>
              </a:rPr>
              <a:t>บันทึกลิงก์เหล่านี้ไว้ — ใช้ต่อหลัง workshop ได้</a:t>
            </a:r>
            <a:endParaRPr lang="en-US" sz="980" noProof="1"/>
          </a:p>
        </p:txBody>
      </p:sp>
      <p:sp>
        <p:nvSpPr>
          <p:cNvPr id="66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21 / 24</a:t>
            </a:r>
            <a:endParaRPr lang="en-US" sz="800" noProof="1"/>
          </a:p>
        </p:txBody>
      </p:sp>
      <p:sp>
        <p:nvSpPr>
          <p:cNvPr id="67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WORKFLOW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5715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57300" y="482600"/>
            <a:ext cx="203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CLOSING</a:t>
            </a:r>
            <a:endParaRPr lang="en-US" sz="85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7239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 b="1">
                <a:solidFill>
                  <a:srgbClr val="FFFFFF"/>
                </a:solidFill>
                <a:latin typeface="Space Grotesk"/>
                <a:ea typeface="Space Grotesk"/>
              </a:rPr>
              <a:t>The Future is Autonomous</a:t>
            </a:r>
            <a:endParaRPr lang="en-US" sz="2700" noProof="1"/>
          </a:p>
        </p:txBody>
      </p:sp>
      <p:sp>
        <p:nvSpPr>
          <p:cNvPr id="5" name="quote-mark"/>
          <p:cNvSpPr txBox="1"/>
          <p:nvPr/>
        </p:nvSpPr>
        <p:spPr>
          <a:xfrm>
            <a:off x="660400" y="889000"/>
            <a:ext cx="63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000" noProof="1">
                <a:solidFill>
                  <a:srgbClr val="06B6D4"/>
                </a:solidFill>
                <a:latin typeface="Archivo Black"/>
                <a:ea typeface="Archivo Black"/>
              </a:rPr>
              <a:t>“</a:t>
            </a:r>
            <a:endParaRPr lang="en-US" sz="6000" noProof="1"/>
          </a:p>
        </p:txBody>
      </p:sp>
      <p:sp>
        <p:nvSpPr>
          <p:cNvPr id="6" name="quote-l1"/>
          <p:cNvSpPr txBox="1"/>
          <p:nvPr/>
        </p:nvSpPr>
        <p:spPr>
          <a:xfrm>
            <a:off x="1651000" y="11557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50" noProof="1" b="1">
                <a:solidFill>
                  <a:srgbClr val="FFFFFF"/>
                </a:solidFill>
                <a:latin typeface="Space Grotesk"/>
                <a:ea typeface="Space Grotesk"/>
              </a:rPr>
              <a:t>When agents can read data, act on systems, hold money, and</a:t>
            </a:r>
            <a:endParaRPr lang="en-US" sz="2250" noProof="1"/>
          </a:p>
        </p:txBody>
      </p:sp>
      <p:sp>
        <p:nvSpPr>
          <p:cNvPr id="7" name="quote-l2"/>
          <p:cNvSpPr txBox="1"/>
          <p:nvPr/>
        </p:nvSpPr>
        <p:spPr>
          <a:xfrm>
            <a:off x="1651000" y="1549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50" noProof="1" b="1">
                <a:solidFill>
                  <a:srgbClr val="FFFFFF"/>
                </a:solidFill>
                <a:latin typeface="Space Grotesk"/>
                <a:ea typeface="Space Grotesk"/>
              </a:rPr>
              <a:t>buy things on their own — the role of human shifts from </a:t>
            </a:r>
            <a:r>
              <a:rPr lang="en-US" sz="2250" noProof="1" b="1">
                <a:solidFill>
                  <a:srgbClr val="06B6D4"/>
                </a:solidFill>
                <a:latin typeface="Space Grotesk"/>
                <a:ea typeface="Space Grotesk"/>
              </a:rPr>
              <a:t>operator</a:t>
            </a:r>
            <a:endParaRPr lang="en-US" sz="2250" noProof="1"/>
          </a:p>
        </p:txBody>
      </p:sp>
      <p:sp>
        <p:nvSpPr>
          <p:cNvPr id="8" name="quote-l3"/>
          <p:cNvSpPr txBox="1"/>
          <p:nvPr/>
        </p:nvSpPr>
        <p:spPr>
          <a:xfrm>
            <a:off x="1651000" y="1930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50" noProof="1" b="1">
                <a:solidFill>
                  <a:srgbClr val="FFFFFF"/>
                </a:solidFill>
                <a:latin typeface="Space Grotesk"/>
                <a:ea typeface="Space Grotesk"/>
              </a:rPr>
              <a:t>to </a:t>
            </a:r>
            <a:r>
              <a:rPr lang="en-US" sz="2250" noProof="1" b="1">
                <a:solidFill>
                  <a:srgbClr val="7C3AED"/>
                </a:solidFill>
                <a:latin typeface="Space Grotesk"/>
                <a:ea typeface="Space Grotesk"/>
              </a:rPr>
              <a:t>orchestrator</a:t>
            </a:r>
            <a:r>
              <a:rPr lang="en-US" sz="2250" noProof="1" b="1">
                <a:solidFill>
                  <a:srgbClr val="FFFFFF"/>
                </a:solidFill>
                <a:latin typeface="Space Grotesk"/>
                <a:ea typeface="Space Grotesk"/>
              </a:rPr>
              <a:t>.</a:t>
            </a:r>
            <a:endParaRPr lang="en-US" sz="2250" noProof="1"/>
          </a:p>
        </p:txBody>
      </p:sp>
      <p:sp>
        <p:nvSpPr>
          <p:cNvPr id="9" name="quote-attr"/>
          <p:cNvSpPr txBox="1"/>
          <p:nvPr/>
        </p:nvSpPr>
        <p:spPr>
          <a:xfrm>
            <a:off x="4191000" y="2489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94A3B8"/>
                </a:solidFill>
                <a:latin typeface="Loma"/>
                <a:ea typeface="Loma"/>
              </a:rPr>
              <a:t>— Workshop closing thought</a:t>
            </a:r>
            <a:endParaRPr lang="en-US" sz="1050" noProof="1"/>
          </a:p>
        </p:txBody>
      </p:sp>
      <p:sp>
        <p:nvSpPr>
          <p:cNvPr id="10" name="t1-bg"/>
          <p:cNvSpPr/>
          <p:nvPr/>
        </p:nvSpPr>
        <p:spPr>
          <a:xfrm>
            <a:off x="609600" y="2946400"/>
            <a:ext cx="3492500" cy="1333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1" name="t1-label"/>
          <p:cNvSpPr txBox="1"/>
          <p:nvPr/>
        </p:nvSpPr>
        <p:spPr>
          <a:xfrm>
            <a:off x="825500" y="31750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00" kern="0">
                <a:solidFill>
                  <a:srgbClr val="94A3B8"/>
                </a:solidFill>
                <a:latin typeface="JetBrains Mono"/>
                <a:ea typeface="JetBrains Mono"/>
              </a:rPr>
              <a:t>YESTERDAY</a:t>
            </a:r>
            <a:endParaRPr lang="en-US" sz="820" noProof="1"/>
          </a:p>
        </p:txBody>
      </p:sp>
      <p:sp>
        <p:nvSpPr>
          <p:cNvPr id="12" name="t1-icon"/>
          <p:cNvSpPr/>
          <p:nvPr>
            <p:extLst>
              <p:ext uri="{F5677B7D-0D2A-4D9B-9A5C-6D8D7D0E5A5D}">
                <pptd:icon encoding="base64url">eyJpY29uTmFtZSI6ImZhczpjbG9jay1yb3RhdGUtbGVmdCJ9</pptd:icon>
              </p:ext>
            </p:extLst>
          </p:nvPr>
        </p:nvSpPr>
        <p:spPr>
          <a:xfrm>
            <a:off x="3695700" y="3162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64"/>
                </a:moveTo>
                <a:cubicBezTo>
                  <a:pt x="394" y="64"/>
                  <a:pt x="480" y="150"/>
                  <a:pt x="480" y="256"/>
                </a:cubicBezTo>
                <a:cubicBezTo>
                  <a:pt x="480" y="362"/>
                  <a:pt x="394" y="448"/>
                  <a:pt x="288" y="448"/>
                </a:cubicBezTo>
                <a:cubicBezTo>
                  <a:pt x="223" y="448"/>
                  <a:pt x="165" y="416"/>
                  <a:pt x="130" y="366"/>
                </a:cubicBezTo>
                <a:cubicBezTo>
                  <a:pt x="120" y="351"/>
                  <a:pt x="100" y="348"/>
                  <a:pt x="86" y="358"/>
                </a:cubicBezTo>
                <a:cubicBezTo>
                  <a:pt x="71" y="368"/>
                  <a:pt x="68" y="388"/>
                  <a:pt x="78" y="402"/>
                </a:cubicBezTo>
                <a:cubicBezTo>
                  <a:pt x="124" y="469"/>
                  <a:pt x="201" y="512"/>
                  <a:pt x="288" y="512"/>
                </a:cubicBezTo>
                <a:cubicBezTo>
                  <a:pt x="429" y="512"/>
                  <a:pt x="544" y="397"/>
                  <a:pt x="544" y="256"/>
                </a:cubicBezTo>
                <a:cubicBezTo>
                  <a:pt x="544" y="115"/>
                  <a:pt x="429" y="0"/>
                  <a:pt x="288" y="0"/>
                </a:cubicBezTo>
                <a:cubicBezTo>
                  <a:pt x="202" y="0"/>
                  <a:pt x="127" y="42"/>
                  <a:pt x="80" y="107"/>
                </a:cubicBezTo>
                <a:lnTo>
                  <a:pt x="80" y="80"/>
                </a:lnTo>
                <a:cubicBezTo>
                  <a:pt x="80" y="62"/>
                  <a:pt x="66" y="48"/>
                  <a:pt x="48" y="48"/>
                </a:cubicBezTo>
                <a:cubicBezTo>
                  <a:pt x="30" y="48"/>
                  <a:pt x="16" y="62"/>
                  <a:pt x="16" y="80"/>
                </a:cubicBezTo>
                <a:lnTo>
                  <a:pt x="16" y="192"/>
                </a:lnTo>
                <a:cubicBezTo>
                  <a:pt x="16" y="210"/>
                  <a:pt x="30" y="224"/>
                  <a:pt x="48" y="224"/>
                </a:cubicBezTo>
                <a:lnTo>
                  <a:pt x="73" y="224"/>
                </a:lnTo>
                <a:cubicBezTo>
                  <a:pt x="73" y="224"/>
                  <a:pt x="74" y="224"/>
                  <a:pt x="74" y="224"/>
                </a:cubicBezTo>
                <a:lnTo>
                  <a:pt x="160" y="224"/>
                </a:lnTo>
                <a:cubicBezTo>
                  <a:pt x="178" y="224"/>
                  <a:pt x="192" y="210"/>
                  <a:pt x="192" y="192"/>
                </a:cubicBezTo>
                <a:cubicBezTo>
                  <a:pt x="192" y="174"/>
                  <a:pt x="178" y="160"/>
                  <a:pt x="160" y="160"/>
                </a:cubicBezTo>
                <a:lnTo>
                  <a:pt x="122" y="160"/>
                </a:lnTo>
                <a:cubicBezTo>
                  <a:pt x="155" y="103"/>
                  <a:pt x="217" y="64"/>
                  <a:pt x="288" y="64"/>
                </a:cubicBezTo>
                <a:close/>
                <a:moveTo>
                  <a:pt x="312" y="152"/>
                </a:moveTo>
                <a:cubicBezTo>
                  <a:pt x="312" y="139"/>
                  <a:pt x="301" y="128"/>
                  <a:pt x="288" y="128"/>
                </a:cubicBezTo>
                <a:cubicBezTo>
                  <a:pt x="275" y="128"/>
                  <a:pt x="264" y="139"/>
                  <a:pt x="264" y="152"/>
                </a:cubicBezTo>
                <a:lnTo>
                  <a:pt x="264" y="256"/>
                </a:lnTo>
                <a:cubicBezTo>
                  <a:pt x="264" y="262"/>
                  <a:pt x="267" y="269"/>
                  <a:pt x="271" y="273"/>
                </a:cubicBezTo>
                <a:lnTo>
                  <a:pt x="343" y="345"/>
                </a:lnTo>
                <a:cubicBezTo>
                  <a:pt x="352" y="354"/>
                  <a:pt x="368" y="354"/>
                  <a:pt x="377" y="345"/>
                </a:cubicBezTo>
                <a:cubicBezTo>
                  <a:pt x="386" y="336"/>
                  <a:pt x="386" y="320"/>
                  <a:pt x="377" y="311"/>
                </a:cubicBezTo>
                <a:lnTo>
                  <a:pt x="312" y="246"/>
                </a:lnTo>
                <a:lnTo>
                  <a:pt x="312" y="152"/>
                </a:lnTo>
                <a:close/>
              </a:path>
            </a:pathLst>
          </a:custGeom>
          <a:solidFill>
            <a:srgbClr val="64748B"/>
          </a:solidFill>
          <a:ln>
            <a:noFill/>
          </a:ln>
        </p:spPr>
      </p:sp>
      <p:sp>
        <p:nvSpPr>
          <p:cNvPr id="13" name="t1-body"/>
          <p:cNvSpPr txBox="1"/>
          <p:nvPr/>
        </p:nvSpPr>
        <p:spPr>
          <a:xfrm>
            <a:off x="825500" y="3581400"/>
            <a:ext cx="31115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90" noProof="1">
                <a:solidFill>
                  <a:srgbClr val="94A3B8"/>
                </a:solidFill>
                <a:latin typeface="Loma"/>
                <a:ea typeface="Loma"/>
              </a:rPr>
              <a:t>มนุษย์คลิก checkout, agents รอ credential</a:t>
            </a:r>
            <a:endParaRPr lang="en-US" sz="1090" noProof="1"/>
          </a:p>
        </p:txBody>
      </p:sp>
      <p:sp>
        <p:nvSpPr>
          <p:cNvPr id="14" name="chev1"/>
          <p:cNvSpPr/>
          <p:nvPr>
            <p:extLst>
              <p:ext uri="{F5677B7D-0D2A-4D9B-9A5C-6D8D7D0E5A5D}">
                <pptd:icon encoding="base64url">eyJpY29uTmFtZSI6ImZhczpjaGV2cm9uLXJpZ2h0In0</pptd:icon>
              </p:ext>
            </p:extLst>
          </p:nvPr>
        </p:nvSpPr>
        <p:spPr>
          <a:xfrm>
            <a:off x="4127500" y="3505200"/>
            <a:ext cx="165100" cy="2286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311" y="233"/>
                </a:moveTo>
                <a:cubicBezTo>
                  <a:pt x="324" y="246"/>
                  <a:pt x="324" y="266"/>
                  <a:pt x="311" y="279"/>
                </a:cubicBezTo>
                <a:lnTo>
                  <a:pt x="119" y="471"/>
                </a:lnTo>
                <a:cubicBezTo>
                  <a:pt x="107" y="483"/>
                  <a:pt x="86" y="483"/>
                  <a:pt x="74" y="471"/>
                </a:cubicBezTo>
                <a:cubicBezTo>
                  <a:pt x="61" y="458"/>
                  <a:pt x="61" y="438"/>
                  <a:pt x="74" y="425"/>
                </a:cubicBezTo>
                <a:lnTo>
                  <a:pt x="243" y="256"/>
                </a:lnTo>
                <a:lnTo>
                  <a:pt x="74" y="87"/>
                </a:lnTo>
                <a:cubicBezTo>
                  <a:pt x="61" y="74"/>
                  <a:pt x="61" y="54"/>
                  <a:pt x="74" y="41"/>
                </a:cubicBezTo>
                <a:cubicBezTo>
                  <a:pt x="86" y="29"/>
                  <a:pt x="107" y="29"/>
                  <a:pt x="119" y="41"/>
                </a:cubicBezTo>
                <a:lnTo>
                  <a:pt x="311" y="233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</p:sp>
      <p:sp>
        <p:nvSpPr>
          <p:cNvPr id="15" name="t2-bg"/>
          <p:cNvSpPr/>
          <p:nvPr/>
        </p:nvSpPr>
        <p:spPr>
          <a:xfrm>
            <a:off x="4343400" y="2946400"/>
            <a:ext cx="3492500" cy="1333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06B6D4">
                <a:alpha val="50196"/>
              </a:srgbClr>
            </a:solidFill>
          </a:ln>
        </p:spPr>
      </p:sp>
      <p:sp>
        <p:nvSpPr>
          <p:cNvPr id="16" name="t2-label"/>
          <p:cNvSpPr txBox="1"/>
          <p:nvPr/>
        </p:nvSpPr>
        <p:spPr>
          <a:xfrm>
            <a:off x="4559300" y="31750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00" kern="0">
                <a:solidFill>
                  <a:srgbClr val="06B6D4"/>
                </a:solidFill>
                <a:latin typeface="JetBrains Mono"/>
                <a:ea typeface="JetBrains Mono"/>
              </a:rPr>
              <a:t>TODAY</a:t>
            </a:r>
            <a:endParaRPr lang="en-US" sz="820" noProof="1"/>
          </a:p>
        </p:txBody>
      </p:sp>
      <p:sp>
        <p:nvSpPr>
          <p:cNvPr id="17" name="t2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7429500" y="3162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8" name="t2-body"/>
          <p:cNvSpPr txBox="1"/>
          <p:nvPr/>
        </p:nvSpPr>
        <p:spPr>
          <a:xfrm>
            <a:off x="4559300" y="3556000"/>
            <a:ext cx="3111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90" noProof="1">
                <a:solidFill>
                  <a:srgbClr val="FFFFFF"/>
                </a:solidFill>
                <a:latin typeface="Loma"/>
                <a:ea typeface="Loma"/>
              </a:rPr>
              <a:t>Agents จ่าย per-call ผ่าน </a:t>
            </a:r>
            <a:r>
              <a:rPr lang="en-US" sz="1090" noProof="1">
                <a:solidFill>
                  <a:srgbClr val="06B6D4"/>
                </a:solidFill>
                <a:latin typeface="Loma"/>
                <a:ea typeface="Loma"/>
              </a:rPr>
              <a:t>x402/MPP</a:t>
            </a:r>
            <a:r>
              <a:rPr lang="en-US" sz="1090" noProof="1">
                <a:solidFill>
                  <a:srgbClr val="FFFFFF"/>
                </a:solidFill>
                <a:latin typeface="Loma"/>
                <a:ea typeface="Loma"/>
              </a:rPr>
              <a:t> บน ThaiChain</a:t>
            </a:r>
            <a:endParaRPr lang="en-US" sz="1090" noProof="1"/>
          </a:p>
        </p:txBody>
      </p:sp>
      <p:sp>
        <p:nvSpPr>
          <p:cNvPr id="19" name="chev2"/>
          <p:cNvSpPr/>
          <p:nvPr>
            <p:extLst>
              <p:ext uri="{F5677B7D-0D2A-4D9B-9A5C-6D8D7D0E5A5D}">
                <pptd:icon encoding="base64url">eyJpY29uTmFtZSI6ImZhczpjaGV2cm9uLXJpZ2h0In0</pptd:icon>
              </p:ext>
            </p:extLst>
          </p:nvPr>
        </p:nvSpPr>
        <p:spPr>
          <a:xfrm>
            <a:off x="7861300" y="3505200"/>
            <a:ext cx="165100" cy="2286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311" y="233"/>
                </a:moveTo>
                <a:cubicBezTo>
                  <a:pt x="324" y="246"/>
                  <a:pt x="324" y="266"/>
                  <a:pt x="311" y="279"/>
                </a:cubicBezTo>
                <a:lnTo>
                  <a:pt x="119" y="471"/>
                </a:lnTo>
                <a:cubicBezTo>
                  <a:pt x="107" y="483"/>
                  <a:pt x="86" y="483"/>
                  <a:pt x="74" y="471"/>
                </a:cubicBezTo>
                <a:cubicBezTo>
                  <a:pt x="61" y="458"/>
                  <a:pt x="61" y="438"/>
                  <a:pt x="74" y="425"/>
                </a:cubicBezTo>
                <a:lnTo>
                  <a:pt x="243" y="256"/>
                </a:lnTo>
                <a:lnTo>
                  <a:pt x="74" y="87"/>
                </a:lnTo>
                <a:cubicBezTo>
                  <a:pt x="61" y="74"/>
                  <a:pt x="61" y="54"/>
                  <a:pt x="74" y="41"/>
                </a:cubicBezTo>
                <a:cubicBezTo>
                  <a:pt x="86" y="29"/>
                  <a:pt x="107" y="29"/>
                  <a:pt x="119" y="41"/>
                </a:cubicBezTo>
                <a:lnTo>
                  <a:pt x="311" y="233"/>
                </a:lnTo>
                <a:close/>
              </a:path>
            </a:pathLst>
          </a:custGeom>
          <a:solidFill>
            <a:srgbClr val="475569"/>
          </a:solidFill>
          <a:ln>
            <a:noFill/>
          </a:ln>
        </p:spPr>
      </p:sp>
      <p:sp>
        <p:nvSpPr>
          <p:cNvPr id="20" name="t3-bg"/>
          <p:cNvSpPr/>
          <p:nvPr/>
        </p:nvSpPr>
        <p:spPr>
          <a:xfrm>
            <a:off x="8077200" y="2946400"/>
            <a:ext cx="3492500" cy="13335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7C3AED">
                <a:alpha val="50196"/>
              </a:srgbClr>
            </a:solidFill>
          </a:ln>
        </p:spPr>
      </p:sp>
      <p:sp>
        <p:nvSpPr>
          <p:cNvPr id="21" name="t3-label"/>
          <p:cNvSpPr txBox="1"/>
          <p:nvPr/>
        </p:nvSpPr>
        <p:spPr>
          <a:xfrm>
            <a:off x="8293100" y="31750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20" noProof="1" spc="200" kern="0">
                <a:solidFill>
                  <a:srgbClr val="7C3AED"/>
                </a:solidFill>
                <a:latin typeface="JetBrains Mono"/>
                <a:ea typeface="JetBrains Mono"/>
              </a:rPr>
              <a:t>TOMORROW</a:t>
            </a:r>
            <a:endParaRPr lang="en-US" sz="820" noProof="1"/>
          </a:p>
        </p:txBody>
      </p:sp>
      <p:sp>
        <p:nvSpPr>
          <p:cNvPr id="22" name="t3-icon"/>
          <p:cNvSpPr/>
          <p:nvPr>
            <p:extLst>
              <p:ext uri="{F5677B7D-0D2A-4D9B-9A5C-6D8D7D0E5A5D}">
                <pptd:icon encoding="base64url">eyJpY29uTmFtZSI6ImZhczp3YW5kLW1hZ2ljLXNwYXJrbGVzIn0</pptd:icon>
              </p:ext>
            </p:extLst>
          </p:nvPr>
        </p:nvSpPr>
        <p:spPr>
          <a:xfrm>
            <a:off x="11163300" y="3162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23" name="t3-body"/>
          <p:cNvSpPr txBox="1"/>
          <p:nvPr/>
        </p:nvSpPr>
        <p:spPr>
          <a:xfrm>
            <a:off x="8293100" y="3556000"/>
            <a:ext cx="31115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90" noProof="1">
                <a:solidFill>
                  <a:srgbClr val="FFFFFF"/>
                </a:solidFill>
                <a:latin typeface="Loma"/>
                <a:ea typeface="Loma"/>
              </a:rPr>
              <a:t>Multi-agent economy · agents จ้าง agents · autonomous supply chains</a:t>
            </a:r>
            <a:endParaRPr lang="en-US" sz="1090" noProof="1"/>
          </a:p>
        </p:txBody>
      </p:sp>
      <p:sp>
        <p:nvSpPr>
          <p:cNvPr id="24" name="done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609600" y="6083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25" name="done-text"/>
          <p:cNvSpPr txBox="1"/>
          <p:nvPr/>
        </p:nvSpPr>
        <p:spPr>
          <a:xfrm>
            <a:off x="876300" y="60579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10" noProof="1">
                <a:solidFill>
                  <a:srgbClr val="94A3B8"/>
                </a:solidFill>
                <a:latin typeface="Loma"/>
                <a:ea typeface="Loma"/>
              </a:rPr>
              <a:t>คุณเพิ่งสร้าง future นั้นขึ้นมาในมือถือของคุณเอง — 2 ชั่วโมงที่ผ่านมา</a:t>
            </a:r>
            <a:endParaRPr lang="en-US" sz="1010" noProof="1"/>
          </a:p>
        </p:txBody>
      </p:sp>
      <p:sp>
        <p:nvSpPr>
          <p:cNvPr id="26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22 / 24</a:t>
            </a:r>
            <a:endParaRPr lang="en-US" sz="800" noProof="1"/>
          </a:p>
        </p:txBody>
      </p:sp>
      <p:sp>
        <p:nvSpPr>
          <p:cNvPr id="27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WORKFLOW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6350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57300" y="5461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01:55 - 02:00 · 5 MIN</a:t>
            </a:r>
            <a:endParaRPr lang="en-US" sz="850" noProof="1"/>
          </a:p>
        </p:txBody>
      </p:sp>
      <p:sp>
        <p:nvSpPr>
          <p:cNvPr id="4" name="open-pill"/>
          <p:cNvSpPr/>
          <p:nvPr/>
        </p:nvSpPr>
        <p:spPr>
          <a:xfrm>
            <a:off x="10236200" y="457200"/>
            <a:ext cx="1346200" cy="279400"/>
          </a:xfrm>
          <a:prstGeom prst="roundRect">
            <a:avLst>
              <a:gd name="adj" fmla="val 50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1373"/>
              </a:srgbClr>
            </a:solidFill>
          </a:ln>
        </p:spPr>
      </p:sp>
      <p:sp>
        <p:nvSpPr>
          <p:cNvPr id="5" name="open-icon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10388600" y="533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6" name="open-text"/>
          <p:cNvSpPr txBox="1"/>
          <p:nvPr/>
        </p:nvSpPr>
        <p:spPr>
          <a:xfrm>
            <a:off x="10579100" y="4572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120" kern="0">
                <a:solidFill>
                  <a:srgbClr val="06B6D4"/>
                </a:solidFill>
                <a:latin typeface="JetBrains Mono"/>
                <a:ea typeface="JetBrains Mono"/>
              </a:rPr>
              <a:t>OPEN FLOOR</a:t>
            </a:r>
            <a:endParaRPr lang="en-US" sz="900" noProof="1"/>
          </a:p>
        </p:txBody>
      </p:sp>
      <p:sp>
        <p:nvSpPr>
          <p:cNvPr id="7" name="qa-q"/>
          <p:cNvSpPr txBox="1"/>
          <p:nvPr/>
        </p:nvSpPr>
        <p:spPr>
          <a:xfrm>
            <a:off x="4876800" y="762000"/>
            <a:ext cx="101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0" noProof="1">
                <a:solidFill>
                  <a:srgbClr val="FFFFFF"/>
                </a:solidFill>
                <a:latin typeface="Archivo Black"/>
                <a:ea typeface="Archivo Black"/>
              </a:rPr>
              <a:t>Q</a:t>
            </a:r>
            <a:endParaRPr lang="en-US" sz="9000" noProof="1"/>
          </a:p>
        </p:txBody>
      </p:sp>
      <p:sp>
        <p:nvSpPr>
          <p:cNvPr id="8" name="qa-amp"/>
          <p:cNvSpPr txBox="1"/>
          <p:nvPr/>
        </p:nvSpPr>
        <p:spPr>
          <a:xfrm>
            <a:off x="5842000" y="1041400"/>
            <a:ext cx="584200" cy="952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6750" noProof="1">
                <a:solidFill>
                  <a:srgbClr val="4E8CE0"/>
                </a:solidFill>
                <a:latin typeface="Archivo Black"/>
                <a:ea typeface="Archivo Black"/>
              </a:rPr>
              <a:t>&amp;</a:t>
            </a:r>
            <a:endParaRPr lang="en-US" sz="6750" noProof="1"/>
          </a:p>
        </p:txBody>
      </p:sp>
      <p:sp>
        <p:nvSpPr>
          <p:cNvPr id="9" name="qa-a"/>
          <p:cNvSpPr txBox="1"/>
          <p:nvPr/>
        </p:nvSpPr>
        <p:spPr>
          <a:xfrm>
            <a:off x="6451600" y="762000"/>
            <a:ext cx="101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0" noProof="1">
                <a:solidFill>
                  <a:srgbClr val="CBD5E1"/>
                </a:solidFill>
                <a:latin typeface="Archivo Black"/>
                <a:ea typeface="Archivo Black"/>
              </a:rPr>
              <a:t>A</a:t>
            </a:r>
            <a:endParaRPr lang="en-US" sz="9000" noProof="1"/>
          </a:p>
        </p:txBody>
      </p:sp>
      <p:sp>
        <p:nvSpPr>
          <p:cNvPr id="10" name="qa-underline"/>
          <p:cNvSpPr/>
          <p:nvPr/>
        </p:nvSpPr>
        <p:spPr>
          <a:xfrm>
            <a:off x="4953000" y="2184400"/>
            <a:ext cx="2286000" cy="12700"/>
          </a:xfrm>
          <a:prstGeom prst="rect">
            <a:avLst/>
          </a:prstGeom>
          <a:solidFill>
            <a:srgbClr val="263453"/>
          </a:solidFill>
          <a:ln>
            <a:noFill/>
          </a:ln>
        </p:spPr>
      </p:sp>
      <p:sp>
        <p:nvSpPr>
          <p:cNvPr id="11" name="qa-sub"/>
          <p:cNvSpPr txBox="1"/>
          <p:nvPr/>
        </p:nvSpPr>
        <p:spPr>
          <a:xfrm>
            <a:off x="3048000" y="2260600"/>
            <a:ext cx="609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50" noProof="1">
                <a:solidFill>
                  <a:srgbClr val="E2E8F0"/>
                </a:solidFill>
                <a:latin typeface="Loma"/>
                <a:ea typeface="Loma"/>
              </a:rPr>
              <a:t>เปิดเวทีถาม-ตอบ · สรุปอนาคต AI Autonomous Economy</a:t>
            </a:r>
            <a:endParaRPr lang="en-US" sz="1650" noProof="1"/>
          </a:p>
        </p:txBody>
      </p:sp>
      <p:sp>
        <p:nvSpPr>
          <p:cNvPr id="12" name="seed-bg"/>
          <p:cNvSpPr/>
          <p:nvPr/>
        </p:nvSpPr>
        <p:spPr>
          <a:xfrm>
            <a:off x="1905000" y="4572000"/>
            <a:ext cx="8382000" cy="14224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3" name="seed-icon"/>
          <p:cNvSpPr/>
          <p:nvPr>
            <p:extLst>
              <p:ext uri="{F5677B7D-0D2A-4D9B-9A5C-6D8D7D0E5A5D}">
                <pptd:icon encoding="base64url">eyJpY29uTmFtZSI6ImZhczpsaWdodGJ1bGIifQ</pptd:icon>
              </p:ext>
            </p:extLst>
          </p:nvPr>
        </p:nvSpPr>
        <p:spPr>
          <a:xfrm>
            <a:off x="2146300" y="4737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93" y="384"/>
                </a:moveTo>
                <a:cubicBezTo>
                  <a:pt x="300" y="362"/>
                  <a:pt x="315" y="342"/>
                  <a:pt x="331" y="324"/>
                </a:cubicBezTo>
                <a:cubicBezTo>
                  <a:pt x="364" y="290"/>
                  <a:pt x="384" y="243"/>
                  <a:pt x="384" y="192"/>
                </a:cubicBezTo>
                <a:cubicBezTo>
                  <a:pt x="384" y="86"/>
                  <a:pt x="298" y="0"/>
                  <a:pt x="192" y="0"/>
                </a:cubicBezTo>
                <a:cubicBezTo>
                  <a:pt x="86" y="0"/>
                  <a:pt x="0" y="86"/>
                  <a:pt x="0" y="192"/>
                </a:cubicBezTo>
                <a:cubicBezTo>
                  <a:pt x="0" y="243"/>
                  <a:pt x="20" y="290"/>
                  <a:pt x="53" y="324"/>
                </a:cubicBezTo>
                <a:cubicBezTo>
                  <a:pt x="69" y="342"/>
                  <a:pt x="84" y="362"/>
                  <a:pt x="91" y="384"/>
                </a:cubicBezTo>
                <a:lnTo>
                  <a:pt x="293" y="384"/>
                </a:lnTo>
                <a:close/>
                <a:moveTo>
                  <a:pt x="184" y="112"/>
                </a:moveTo>
                <a:cubicBezTo>
                  <a:pt x="144" y="112"/>
                  <a:pt x="112" y="144"/>
                  <a:pt x="112" y="184"/>
                </a:cubicBezTo>
                <a:cubicBezTo>
                  <a:pt x="112" y="197"/>
                  <a:pt x="101" y="208"/>
                  <a:pt x="88" y="208"/>
                </a:cubicBezTo>
                <a:cubicBezTo>
                  <a:pt x="75" y="208"/>
                  <a:pt x="64" y="197"/>
                  <a:pt x="64" y="184"/>
                </a:cubicBezTo>
                <a:cubicBezTo>
                  <a:pt x="64" y="118"/>
                  <a:pt x="118" y="64"/>
                  <a:pt x="184" y="64"/>
                </a:cubicBezTo>
                <a:cubicBezTo>
                  <a:pt x="197" y="64"/>
                  <a:pt x="208" y="75"/>
                  <a:pt x="208" y="88"/>
                </a:cubicBezTo>
                <a:cubicBezTo>
                  <a:pt x="208" y="101"/>
                  <a:pt x="197" y="112"/>
                  <a:pt x="184" y="112"/>
                </a:cubicBezTo>
                <a:close/>
              </a:path>
              <a:path w="384" h="512">
                <a:moveTo>
                  <a:pt x="288" y="432"/>
                </a:moveTo>
                <a:lnTo>
                  <a:pt x="96" y="432"/>
                </a:lnTo>
                <a:lnTo>
                  <a:pt x="96" y="448"/>
                </a:lnTo>
                <a:cubicBezTo>
                  <a:pt x="96" y="492"/>
                  <a:pt x="132" y="528"/>
                  <a:pt x="176" y="528"/>
                </a:cubicBezTo>
                <a:lnTo>
                  <a:pt x="208" y="528"/>
                </a:lnTo>
                <a:cubicBezTo>
                  <a:pt x="252" y="528"/>
                  <a:pt x="288" y="492"/>
                  <a:pt x="288" y="448"/>
                </a:cubicBezTo>
                <a:lnTo>
                  <a:pt x="288" y="432"/>
                </a:ln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4" name="seed-head"/>
          <p:cNvSpPr txBox="1"/>
          <p:nvPr/>
        </p:nvSpPr>
        <p:spPr>
          <a:xfrm>
            <a:off x="2400300" y="4724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Space Grotesk"/>
                <a:ea typeface="Space Grotesk"/>
              </a:rPr>
              <a:t>Seed Questions</a:t>
            </a:r>
            <a:r>
              <a:rPr lang="en-US" sz="940" noProof="1">
                <a:solidFill>
                  <a:srgbClr val="64748B"/>
                </a:solidFill>
                <a:latin typeface="Loma"/>
                <a:ea typeface="Loma"/>
              </a:rPr>
              <a:t>  · ใช้กระตุ้นการสนทนา</a:t>
            </a:r>
            <a:endParaRPr lang="en-US" sz="1600" noProof="1"/>
          </a:p>
        </p:txBody>
      </p:sp>
      <p:sp>
        <p:nvSpPr>
          <p:cNvPr id="15" name="q1-chip"/>
          <p:cNvSpPr/>
          <p:nvPr/>
        </p:nvSpPr>
        <p:spPr>
          <a:xfrm>
            <a:off x="2108200" y="5067300"/>
            <a:ext cx="304800" cy="254000"/>
          </a:xfrm>
          <a:prstGeom prst="roundRect">
            <a:avLst>
              <a:gd name="adj" fmla="val 24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6" name="q1-num"/>
          <p:cNvSpPr txBox="1"/>
          <p:nvPr/>
        </p:nvSpPr>
        <p:spPr>
          <a:xfrm>
            <a:off x="2108200" y="50673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01</a:t>
            </a:r>
            <a:endParaRPr lang="en-US" sz="820" noProof="1"/>
          </a:p>
        </p:txBody>
      </p:sp>
      <p:sp>
        <p:nvSpPr>
          <p:cNvPr id="17" name="q1-text"/>
          <p:cNvSpPr txBox="1"/>
          <p:nvPr/>
        </p:nvSpPr>
        <p:spPr>
          <a:xfrm>
            <a:off x="2489200" y="50419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จะเอา pattern ที่ได้วันนี้ไป apply กับ use case ของธุรกิจเราอย่างไร?</a:t>
            </a:r>
            <a:endParaRPr lang="en-US" sz="1010" noProof="1"/>
          </a:p>
        </p:txBody>
      </p:sp>
      <p:sp>
        <p:nvSpPr>
          <p:cNvPr id="18" name="q2-chip"/>
          <p:cNvSpPr/>
          <p:nvPr/>
        </p:nvSpPr>
        <p:spPr>
          <a:xfrm>
            <a:off x="6197600" y="5067300"/>
            <a:ext cx="304800" cy="254000"/>
          </a:xfrm>
          <a:prstGeom prst="roundRect">
            <a:avLst>
              <a:gd name="adj" fmla="val 24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19" name="q2-num"/>
          <p:cNvSpPr txBox="1"/>
          <p:nvPr/>
        </p:nvSpPr>
        <p:spPr>
          <a:xfrm>
            <a:off x="6197600" y="50673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 lang="en-US" sz="820" noProof="1"/>
          </a:p>
        </p:txBody>
      </p:sp>
      <p:sp>
        <p:nvSpPr>
          <p:cNvPr id="20" name="q2-text"/>
          <p:cNvSpPr txBox="1"/>
          <p:nvPr/>
        </p:nvSpPr>
        <p:spPr>
          <a:xfrm>
            <a:off x="6578600" y="50419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ข้อจำกัดด้าน security/compliance ที่ต้องระวังเมื่อให้ Agent ถือเงินจริง?</a:t>
            </a:r>
            <a:endParaRPr lang="en-US" sz="1010" noProof="1"/>
          </a:p>
        </p:txBody>
      </p:sp>
      <p:sp>
        <p:nvSpPr>
          <p:cNvPr id="21" name="q3-chip"/>
          <p:cNvSpPr/>
          <p:nvPr/>
        </p:nvSpPr>
        <p:spPr>
          <a:xfrm>
            <a:off x="2108200" y="5549900"/>
            <a:ext cx="304800" cy="254000"/>
          </a:xfrm>
          <a:prstGeom prst="roundRect">
            <a:avLst>
              <a:gd name="adj" fmla="val 24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2" name="q3-num"/>
          <p:cNvSpPr txBox="1"/>
          <p:nvPr/>
        </p:nvSpPr>
        <p:spPr>
          <a:xfrm>
            <a:off x="2108200" y="55499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03</a:t>
            </a:r>
            <a:endParaRPr lang="en-US" sz="820" noProof="1"/>
          </a:p>
        </p:txBody>
      </p:sp>
      <p:sp>
        <p:nvSpPr>
          <p:cNvPr id="23" name="q3-text"/>
          <p:cNvSpPr txBox="1"/>
          <p:nvPr/>
        </p:nvSpPr>
        <p:spPr>
          <a:xfrm>
            <a:off x="2489200" y="55245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x402 vs MPP — เลือกอันไหนดีสำหรับ product ของเรา?</a:t>
            </a:r>
            <a:endParaRPr lang="en-US" sz="1010" noProof="1"/>
          </a:p>
        </p:txBody>
      </p:sp>
      <p:sp>
        <p:nvSpPr>
          <p:cNvPr id="24" name="q4-chip"/>
          <p:cNvSpPr/>
          <p:nvPr/>
        </p:nvSpPr>
        <p:spPr>
          <a:xfrm>
            <a:off x="6197600" y="5549900"/>
            <a:ext cx="304800" cy="254000"/>
          </a:xfrm>
          <a:prstGeom prst="roundRect">
            <a:avLst>
              <a:gd name="adj" fmla="val 24000"/>
            </a:avLst>
          </a:prstGeom>
          <a:solidFill>
            <a:srgbClr val="06B6D4">
              <a:alpha val="7843"/>
            </a:srgbClr>
          </a:solidFill>
          <a:ln w="12700">
            <a:solidFill>
              <a:srgbClr val="06B6D4">
                <a:alpha val="37647"/>
              </a:srgbClr>
            </a:solidFill>
          </a:ln>
        </p:spPr>
      </p:sp>
      <p:sp>
        <p:nvSpPr>
          <p:cNvPr id="25" name="q4-num"/>
          <p:cNvSpPr txBox="1"/>
          <p:nvPr/>
        </p:nvSpPr>
        <p:spPr>
          <a:xfrm>
            <a:off x="6197600" y="55499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20" noProof="1">
                <a:solidFill>
                  <a:srgbClr val="06B6D4"/>
                </a:solidFill>
                <a:latin typeface="JetBrains Mono"/>
                <a:ea typeface="JetBrains Mono"/>
              </a:rPr>
              <a:t>04</a:t>
            </a:r>
            <a:endParaRPr lang="en-US" sz="820" noProof="1"/>
          </a:p>
        </p:txBody>
      </p:sp>
      <p:sp>
        <p:nvSpPr>
          <p:cNvPr id="26" name="q4-text"/>
          <p:cNvSpPr txBox="1"/>
          <p:nvPr/>
        </p:nvSpPr>
        <p:spPr>
          <a:xfrm>
            <a:off x="6578600" y="55245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10" noProof="1">
                <a:solidFill>
                  <a:srgbClr val="E2E8F0"/>
                </a:solidFill>
                <a:latin typeface="Loma"/>
                <a:ea typeface="Loma"/>
              </a:rPr>
              <a:t>จะ scale จาก 1 agent เป็น multi-agent economy ได้อย่างไร?</a:t>
            </a:r>
            <a:endParaRPr lang="en-US" sz="1010" noProof="1"/>
          </a:p>
        </p:txBody>
      </p:sp>
      <p:sp>
        <p:nvSpPr>
          <p:cNvPr id="27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23 / 24</a:t>
            </a:r>
            <a:endParaRPr lang="en-US" sz="8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WORKFLOW · WORKSHOP</a:t>
            </a:r>
            <a:endParaRPr lang="en-US" sz="8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-line"/>
          <p:cNvSpPr/>
          <p:nvPr/>
        </p:nvSpPr>
        <p:spPr>
          <a:xfrm>
            <a:off x="609600" y="635000"/>
            <a:ext cx="457200" cy="254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3" name="eyebrow"/>
          <p:cNvSpPr txBox="1"/>
          <p:nvPr/>
        </p:nvSpPr>
        <p:spPr>
          <a:xfrm>
            <a:off x="1257300" y="5461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spc="250" kern="0">
                <a:solidFill>
                  <a:srgbClr val="06B6D4"/>
                </a:solidFill>
                <a:latin typeface="JetBrains Mono"/>
                <a:ea typeface="JetBrains Mono"/>
              </a:rPr>
              <a:t>WORKSHOP COMPLETE</a:t>
            </a:r>
            <a:endParaRPr lang="en-US" sz="850" noProof="1"/>
          </a:p>
        </p:txBody>
      </p:sp>
      <p:sp>
        <p:nvSpPr>
          <p:cNvPr id="4" name="end-pill"/>
          <p:cNvSpPr/>
          <p:nvPr/>
        </p:nvSpPr>
        <p:spPr>
          <a:xfrm>
            <a:off x="10033000" y="457200"/>
            <a:ext cx="1549400" cy="279400"/>
          </a:xfrm>
          <a:prstGeom prst="roundRect">
            <a:avLst>
              <a:gd name="adj" fmla="val 50000"/>
            </a:avLst>
          </a:prstGeom>
          <a:solidFill>
            <a:srgbClr val="7C3AED">
              <a:alpha val="12157"/>
            </a:srgbClr>
          </a:solidFill>
          <a:ln w="12700">
            <a:solidFill>
              <a:srgbClr val="7C3AED">
                <a:alpha val="37647"/>
              </a:srgbClr>
            </a:solidFill>
          </a:ln>
        </p:spPr>
      </p:sp>
      <p:sp>
        <p:nvSpPr>
          <p:cNvPr id="5" name="end-icon"/>
          <p:cNvSpPr/>
          <p:nvPr>
            <p:extLst>
              <p:ext uri="{F5677B7D-0D2A-4D9B-9A5C-6D8D7D0E5A5D}">
                <pptd:icon encoding="base64url">eyJpY29uTmFtZSI6ImZhczpjaXJjbGUtY2hlY2sifQ</pptd:icon>
              </p:ext>
            </p:extLst>
          </p:nvPr>
        </p:nvSpPr>
        <p:spPr>
          <a:xfrm>
            <a:off x="10185400" y="533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6" name="end-text"/>
          <p:cNvSpPr txBox="1"/>
          <p:nvPr/>
        </p:nvSpPr>
        <p:spPr>
          <a:xfrm>
            <a:off x="10375900" y="457200"/>
            <a:ext cx="1168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120" kern="0">
                <a:solidFill>
                  <a:srgbClr val="A78BFA"/>
                </a:solidFill>
                <a:latin typeface="JetBrains Mono"/>
                <a:ea typeface="JetBrains Mono"/>
              </a:rPr>
              <a:t>END OF SESSION</a:t>
            </a:r>
            <a:endParaRPr lang="en-US" sz="900" noProof="1"/>
          </a:p>
        </p:txBody>
      </p:sp>
      <p:sp>
        <p:nvSpPr>
          <p:cNvPr id="7" name="thanks"/>
          <p:cNvSpPr txBox="1"/>
          <p:nvPr/>
        </p:nvSpPr>
        <p:spPr>
          <a:xfrm>
            <a:off x="3302000" y="838200"/>
            <a:ext cx="558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300" noProof="1">
                <a:solidFill>
                  <a:srgbClr val="FFFFFF"/>
                </a:solidFill>
                <a:latin typeface="Archivo Black"/>
                <a:ea typeface="Archivo Black"/>
              </a:rPr>
              <a:t>Thank You</a:t>
            </a:r>
            <a:endParaRPr lang="en-US" sz="6300" noProof="1"/>
          </a:p>
        </p:txBody>
      </p:sp>
      <p:sp>
        <p:nvSpPr>
          <p:cNvPr id="8" name="thanks-sub"/>
          <p:cNvSpPr txBox="1"/>
          <p:nvPr/>
        </p:nvSpPr>
        <p:spPr>
          <a:xfrm>
            <a:off x="2286000" y="18796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50" noProof="1">
                <a:solidFill>
                  <a:srgbClr val="E2E8F0"/>
                </a:solidFill>
                <a:latin typeface="Loma"/>
                <a:ea typeface="Loma"/>
              </a:rPr>
              <a:t>ขอบคุณที่ร่วมสร้างอนาคตของ </a:t>
            </a:r>
            <a:r>
              <a:rPr lang="en-US" sz="1650" noProof="1">
                <a:solidFill>
                  <a:srgbClr val="06B6D4"/>
                </a:solidFill>
                <a:latin typeface="Loma"/>
                <a:ea typeface="Loma"/>
              </a:rPr>
              <a:t>Autonomous Commerce</a:t>
            </a:r>
            <a:r>
              <a:rPr lang="en-US" sz="1650" noProof="1">
                <a:solidFill>
                  <a:srgbClr val="E2E8F0"/>
                </a:solidFill>
                <a:latin typeface="Loma"/>
                <a:ea typeface="Loma"/>
              </a:rPr>
              <a:t> ด้วยกัน</a:t>
            </a:r>
            <a:endParaRPr lang="en-US" sz="1650" noProof="1"/>
          </a:p>
        </p:txBody>
      </p:sp>
      <p:sp>
        <p:nvSpPr>
          <p:cNvPr id="9" name="s1-bg"/>
          <p:cNvSpPr/>
          <p:nvPr/>
        </p:nvSpPr>
        <p:spPr>
          <a:xfrm>
            <a:off x="609600" y="2540000"/>
            <a:ext cx="3517900" cy="12446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0" name="s1-left"/>
          <p:cNvSpPr/>
          <p:nvPr/>
        </p:nvSpPr>
        <p:spPr>
          <a:xfrm>
            <a:off x="609600" y="2616200"/>
            <a:ext cx="38100" cy="109220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11" name="s1-label"/>
          <p:cNvSpPr txBox="1"/>
          <p:nvPr/>
        </p:nvSpPr>
        <p:spPr>
          <a:xfrm>
            <a:off x="825500" y="27178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DURATION</a:t>
            </a:r>
            <a:endParaRPr lang="en-US" sz="750" noProof="1"/>
          </a:p>
        </p:txBody>
      </p:sp>
      <p:sp>
        <p:nvSpPr>
          <p:cNvPr id="12" name="s1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3746500" y="2705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13" name="s1-value"/>
          <p:cNvSpPr txBox="1"/>
          <p:nvPr/>
        </p:nvSpPr>
        <p:spPr>
          <a:xfrm>
            <a:off x="825500" y="29464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 b="1">
                <a:solidFill>
                  <a:srgbClr val="06B6D4"/>
                </a:solidFill>
                <a:latin typeface="Space Grotesk"/>
                <a:ea typeface="Space Grotesk"/>
              </a:rPr>
              <a:t>2 HOURS</a:t>
            </a:r>
            <a:endParaRPr lang="en-US" sz="2700" noProof="1"/>
          </a:p>
        </p:txBody>
      </p:sp>
      <p:sp>
        <p:nvSpPr>
          <p:cNvPr id="14" name="s1-sub"/>
          <p:cNvSpPr txBox="1"/>
          <p:nvPr/>
        </p:nvSpPr>
        <p:spPr>
          <a:xfrm>
            <a:off x="825500" y="34544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94A3B8"/>
                </a:solidFill>
                <a:latin typeface="JetBrains Mono"/>
                <a:ea typeface="JetBrains Mono"/>
              </a:rPr>
              <a:t>workshop time</a:t>
            </a:r>
            <a:endParaRPr lang="en-US" sz="900" noProof="1"/>
          </a:p>
        </p:txBody>
      </p:sp>
      <p:sp>
        <p:nvSpPr>
          <p:cNvPr id="15" name="s2-bg"/>
          <p:cNvSpPr/>
          <p:nvPr/>
        </p:nvSpPr>
        <p:spPr>
          <a:xfrm>
            <a:off x="4330700" y="2540000"/>
            <a:ext cx="3517900" cy="12446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16" name="s2-left"/>
          <p:cNvSpPr/>
          <p:nvPr/>
        </p:nvSpPr>
        <p:spPr>
          <a:xfrm>
            <a:off x="4330700" y="2616200"/>
            <a:ext cx="38100" cy="1092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s2-label"/>
          <p:cNvSpPr txBox="1"/>
          <p:nvPr/>
        </p:nvSpPr>
        <p:spPr>
          <a:xfrm>
            <a:off x="4546600" y="27178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CURRICULUM</a:t>
            </a:r>
            <a:endParaRPr lang="en-US" sz="750" noProof="1"/>
          </a:p>
        </p:txBody>
      </p:sp>
      <p:sp>
        <p:nvSpPr>
          <p:cNvPr id="18" name="s2-icon"/>
          <p:cNvSpPr/>
          <p:nvPr>
            <p:extLst>
              <p:ext uri="{F5677B7D-0D2A-4D9B-9A5C-6D8D7D0E5A5D}">
                <pptd:icon encoding="base64url">eyJpY29uTmFtZSI6ImZhczpsYXllci1ncm91cCJ9</pptd:icon>
              </p:ext>
            </p:extLst>
          </p:nvPr>
        </p:nvSpPr>
        <p:spPr>
          <a:xfrm>
            <a:off x="7467600" y="2705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7C3AED"/>
          </a:solidFill>
          <a:ln>
            <a:noFill/>
          </a:ln>
        </p:spPr>
      </p:sp>
      <p:sp>
        <p:nvSpPr>
          <p:cNvPr id="19" name="s2-value"/>
          <p:cNvSpPr txBox="1"/>
          <p:nvPr/>
        </p:nvSpPr>
        <p:spPr>
          <a:xfrm>
            <a:off x="4546600" y="29464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 b="1">
                <a:solidFill>
                  <a:srgbClr val="7C3AED"/>
                </a:solidFill>
                <a:latin typeface="Space Grotesk"/>
                <a:ea typeface="Space Grotesk"/>
              </a:rPr>
              <a:t>5 MODULES</a:t>
            </a:r>
            <a:endParaRPr lang="en-US" sz="2700" noProof="1"/>
          </a:p>
        </p:txBody>
      </p:sp>
      <p:sp>
        <p:nvSpPr>
          <p:cNvPr id="20" name="s2-sub"/>
          <p:cNvSpPr txBox="1"/>
          <p:nvPr/>
        </p:nvSpPr>
        <p:spPr>
          <a:xfrm>
            <a:off x="4546600" y="34544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94A3B8"/>
                </a:solidFill>
                <a:latin typeface="JetBrains Mono"/>
                <a:ea typeface="JetBrains Mono"/>
              </a:rPr>
              <a:t>live hands-on</a:t>
            </a:r>
            <a:endParaRPr lang="en-US" sz="900" noProof="1"/>
          </a:p>
        </p:txBody>
      </p:sp>
      <p:sp>
        <p:nvSpPr>
          <p:cNvPr id="21" name="s3-bg"/>
          <p:cNvSpPr/>
          <p:nvPr/>
        </p:nvSpPr>
        <p:spPr>
          <a:xfrm>
            <a:off x="8064500" y="2540000"/>
            <a:ext cx="3517900" cy="1244600"/>
          </a:xfrm>
          <a:prstGeom prst="roundRect">
            <a:avLst>
              <a:gd name="adj" fmla="val 8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2" name="s3-left"/>
          <p:cNvSpPr/>
          <p:nvPr/>
        </p:nvSpPr>
        <p:spPr>
          <a:xfrm>
            <a:off x="8064500" y="2616200"/>
            <a:ext cx="38100" cy="10922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3" name="s3-label"/>
          <p:cNvSpPr txBox="1"/>
          <p:nvPr/>
        </p:nvSpPr>
        <p:spPr>
          <a:xfrm>
            <a:off x="8267700" y="2717800"/>
            <a:ext cx="1524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spc="150" kern="0">
                <a:solidFill>
                  <a:srgbClr val="94A3B8"/>
                </a:solidFill>
                <a:latin typeface="JetBrains Mono"/>
                <a:ea typeface="JetBrains Mono"/>
              </a:rPr>
              <a:t>DELIVERABLE</a:t>
            </a:r>
            <a:endParaRPr lang="en-US" sz="750" noProof="1"/>
          </a:p>
        </p:txBody>
      </p:sp>
      <p:sp>
        <p:nvSpPr>
          <p:cNvPr id="24" name="s3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11188700" y="2705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</p:sp>
      <p:sp>
        <p:nvSpPr>
          <p:cNvPr id="25" name="s3-value"/>
          <p:cNvSpPr txBox="1"/>
          <p:nvPr/>
        </p:nvSpPr>
        <p:spPr>
          <a:xfrm>
            <a:off x="8267700" y="2946400"/>
            <a:ext cx="3200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700" noProof="1" b="1">
                <a:solidFill>
                  <a:srgbClr val="10B981"/>
                </a:solidFill>
                <a:latin typeface="Space Grotesk"/>
                <a:ea typeface="Space Grotesk"/>
              </a:rPr>
              <a:t>1 WORKING AGENT</a:t>
            </a:r>
            <a:endParaRPr lang="en-US" sz="2700" noProof="1"/>
          </a:p>
        </p:txBody>
      </p:sp>
      <p:sp>
        <p:nvSpPr>
          <p:cNvPr id="26" name="s3-sub"/>
          <p:cNvSpPr txBox="1"/>
          <p:nvPr/>
        </p:nvSpPr>
        <p:spPr>
          <a:xfrm>
            <a:off x="8267700" y="34544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94A3B8"/>
                </a:solidFill>
                <a:latin typeface="JetBrains Mono"/>
                <a:ea typeface="JetBrains Mono"/>
              </a:rPr>
              <a:t>in your Telegram</a:t>
            </a:r>
            <a:endParaRPr lang="en-US" sz="900" noProof="1"/>
          </a:p>
        </p:txBody>
      </p:sp>
      <p:sp>
        <p:nvSpPr>
          <p:cNvPr id="27" name="ns-bg"/>
          <p:cNvSpPr/>
          <p:nvPr/>
        </p:nvSpPr>
        <p:spPr>
          <a:xfrm>
            <a:off x="609600" y="4953000"/>
            <a:ext cx="10972800" cy="1079500"/>
          </a:xfrm>
          <a:prstGeom prst="roundRect">
            <a:avLst>
              <a:gd name="adj" fmla="val 9000"/>
            </a:avLst>
          </a:prstGeom>
          <a:solidFill>
            <a:srgbClr val="131B2E">
              <a:alpha val="80000"/>
            </a:srgbClr>
          </a:solidFill>
          <a:ln w="12700">
            <a:solidFill>
              <a:srgbClr val="263453"/>
            </a:solidFill>
          </a:ln>
        </p:spPr>
      </p:sp>
      <p:sp>
        <p:nvSpPr>
          <p:cNvPr id="28" name="ns-icon"/>
          <p:cNvSpPr/>
          <p:nvPr>
            <p:extLst>
              <p:ext uri="{F5677B7D-0D2A-4D9B-9A5C-6D8D7D0E5A5D}">
                <pptd:icon encoding="base64url">eyJpY29uTmFtZSI6ImZhczpyb2NrZXQifQ</pptd:icon>
              </p:ext>
            </p:extLst>
          </p:nvPr>
        </p:nvSpPr>
        <p:spPr>
          <a:xfrm>
            <a:off x="825500" y="5105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8" y="320"/>
                </a:moveTo>
                <a:lnTo>
                  <a:pt x="25" y="320"/>
                </a:lnTo>
                <a:cubicBezTo>
                  <a:pt x="0" y="320"/>
                  <a:pt x="-16" y="293"/>
                  <a:pt x="-3" y="272"/>
                </a:cubicBezTo>
                <a:lnTo>
                  <a:pt x="50" y="183"/>
                </a:lnTo>
                <a:cubicBezTo>
                  <a:pt x="59" y="169"/>
                  <a:pt x="74" y="160"/>
                  <a:pt x="91" y="160"/>
                </a:cubicBezTo>
                <a:lnTo>
                  <a:pt x="186" y="160"/>
                </a:lnTo>
                <a:cubicBezTo>
                  <a:pt x="262" y="31"/>
                  <a:pt x="376" y="25"/>
                  <a:pt x="452" y="36"/>
                </a:cubicBezTo>
                <a:cubicBezTo>
                  <a:pt x="465" y="38"/>
                  <a:pt x="475" y="48"/>
                  <a:pt x="476" y="60"/>
                </a:cubicBezTo>
                <a:cubicBezTo>
                  <a:pt x="487" y="136"/>
                  <a:pt x="481" y="250"/>
                  <a:pt x="352" y="326"/>
                </a:cubicBezTo>
                <a:lnTo>
                  <a:pt x="352" y="421"/>
                </a:lnTo>
                <a:cubicBezTo>
                  <a:pt x="352" y="438"/>
                  <a:pt x="343" y="453"/>
                  <a:pt x="329" y="462"/>
                </a:cubicBezTo>
                <a:lnTo>
                  <a:pt x="241" y="515"/>
                </a:lnTo>
                <a:cubicBezTo>
                  <a:pt x="219" y="528"/>
                  <a:pt x="192" y="512"/>
                  <a:pt x="192" y="488"/>
                </a:cubicBezTo>
                <a:lnTo>
                  <a:pt x="192" y="384"/>
                </a:lnTo>
                <a:cubicBezTo>
                  <a:pt x="192" y="349"/>
                  <a:pt x="163" y="320"/>
                  <a:pt x="128" y="320"/>
                </a:cubicBezTo>
                <a:lnTo>
                  <a:pt x="128" y="320"/>
                </a:lnTo>
                <a:close/>
                <a:moveTo>
                  <a:pt x="400" y="160"/>
                </a:moveTo>
                <a:cubicBezTo>
                  <a:pt x="400" y="133"/>
                  <a:pt x="379" y="112"/>
                  <a:pt x="352" y="112"/>
                </a:cubicBezTo>
                <a:cubicBezTo>
                  <a:pt x="325" y="112"/>
                  <a:pt x="304" y="133"/>
                  <a:pt x="304" y="160"/>
                </a:cubicBezTo>
                <a:cubicBezTo>
                  <a:pt x="304" y="187"/>
                  <a:pt x="325" y="208"/>
                  <a:pt x="352" y="208"/>
                </a:cubicBezTo>
                <a:cubicBezTo>
                  <a:pt x="379" y="208"/>
                  <a:pt x="400" y="187"/>
                  <a:pt x="400" y="16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</p:sp>
      <p:sp>
        <p:nvSpPr>
          <p:cNvPr id="29" name="ns-head"/>
          <p:cNvSpPr txBox="1"/>
          <p:nvPr/>
        </p:nvSpPr>
        <p:spPr>
          <a:xfrm>
            <a:off x="1104900" y="5080000"/>
            <a:ext cx="177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 spc="100" kern="0">
                <a:solidFill>
                  <a:srgbClr val="FFFFFF"/>
                </a:solidFill>
                <a:latin typeface="Space Grotesk"/>
                <a:ea typeface="Space Grotesk"/>
              </a:rPr>
              <a:t>NEXT STEPS</a:t>
            </a:r>
            <a:endParaRPr lang="en-US" sz="1350" noProof="1"/>
          </a:p>
        </p:txBody>
      </p:sp>
      <p:sp>
        <p:nvSpPr>
          <p:cNvPr id="30" name="ns1-num"/>
          <p:cNvSpPr txBox="1"/>
          <p:nvPr/>
        </p:nvSpPr>
        <p:spPr>
          <a:xfrm>
            <a:off x="876300" y="5524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06B6D4"/>
                </a:solidFill>
                <a:latin typeface="JetBrains Mono"/>
                <a:ea typeface="JetBrains Mono"/>
              </a:rPr>
              <a:t>01</a:t>
            </a:r>
            <a:endParaRPr lang="en-US" sz="750" noProof="1"/>
          </a:p>
        </p:txBody>
      </p:sp>
      <p:sp>
        <p:nvSpPr>
          <p:cNvPr id="31" name="ns1-text"/>
          <p:cNvSpPr txBox="1"/>
          <p:nvPr/>
        </p:nvSpPr>
        <p:spPr>
          <a:xfrm>
            <a:off x="1130300" y="5499100"/>
            <a:ext cx="327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E2E8F0"/>
                </a:solidFill>
                <a:latin typeface="Space Grotesk"/>
                <a:ea typeface="Space Grotesk"/>
              </a:rPr>
              <a:t>Clone starter repo and customize for your use case</a:t>
            </a:r>
            <a:endParaRPr lang="en-US" sz="940" noProof="1"/>
          </a:p>
        </p:txBody>
      </p:sp>
      <p:sp>
        <p:nvSpPr>
          <p:cNvPr id="32" name="ns2-num"/>
          <p:cNvSpPr txBox="1"/>
          <p:nvPr/>
        </p:nvSpPr>
        <p:spPr>
          <a:xfrm>
            <a:off x="4470400" y="5524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06B6D4"/>
                </a:solidFill>
                <a:latin typeface="JetBrains Mono"/>
                <a:ea typeface="JetBrains Mono"/>
              </a:rPr>
              <a:t>02</a:t>
            </a:r>
            <a:endParaRPr lang="en-US" sz="750" noProof="1"/>
          </a:p>
        </p:txBody>
      </p:sp>
      <p:sp>
        <p:nvSpPr>
          <p:cNvPr id="33" name="ns2-text"/>
          <p:cNvSpPr txBox="1"/>
          <p:nvPr/>
        </p:nvSpPr>
        <p:spPr>
          <a:xfrm>
            <a:off x="4724400" y="5499100"/>
            <a:ext cx="3276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40" noProof="1">
                <a:solidFill>
                  <a:srgbClr val="E2E8F0"/>
                </a:solidFill>
                <a:latin typeface="Space Grotesk"/>
                <a:ea typeface="Space Grotesk"/>
              </a:rPr>
              <a:t>Join the ThaiChain dev community for follow-up Q&amp;A</a:t>
            </a:r>
            <a:endParaRPr lang="en-US" sz="940" noProof="1"/>
          </a:p>
        </p:txBody>
      </p:sp>
      <p:sp>
        <p:nvSpPr>
          <p:cNvPr id="34" name="ns3-num"/>
          <p:cNvSpPr txBox="1"/>
          <p:nvPr/>
        </p:nvSpPr>
        <p:spPr>
          <a:xfrm>
            <a:off x="8051800" y="5524500"/>
            <a:ext cx="2032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 b="1">
                <a:solidFill>
                  <a:srgbClr val="06B6D4"/>
                </a:solidFill>
                <a:latin typeface="JetBrains Mono"/>
                <a:ea typeface="JetBrains Mono"/>
              </a:rPr>
              <a:t>03</a:t>
            </a:r>
            <a:endParaRPr lang="en-US" sz="750" noProof="1"/>
          </a:p>
        </p:txBody>
      </p:sp>
      <p:sp>
        <p:nvSpPr>
          <p:cNvPr id="35" name="ns3-text"/>
          <p:cNvSpPr txBox="1"/>
          <p:nvPr/>
        </p:nvSpPr>
        <p:spPr>
          <a:xfrm>
            <a:off x="8305800" y="54102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40" noProof="1">
                <a:solidFill>
                  <a:srgbClr val="E2E8F0"/>
                </a:solidFill>
                <a:latin typeface="Space Grotesk"/>
                <a:ea typeface="Space Grotesk"/>
              </a:rPr>
              <a:t>Try x402 / MPP on production use cases — start with low-value micropayments</a:t>
            </a:r>
            <a:endParaRPr lang="en-US" sz="940" noProof="1"/>
          </a:p>
        </p:txBody>
      </p:sp>
      <p:sp>
        <p:nvSpPr>
          <p:cNvPr id="36" name="brand"/>
          <p:cNvSpPr txBox="1"/>
          <p:nvPr/>
        </p:nvSpPr>
        <p:spPr>
          <a:xfrm>
            <a:off x="2032000" y="6134100"/>
            <a:ext cx="812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 spc="100" kern="0">
                <a:solidFill>
                  <a:srgbClr val="475569"/>
                </a:solidFill>
                <a:latin typeface="JetBrains Mono"/>
                <a:ea typeface="JetBrains Mono"/>
              </a:rPr>
              <a:t>●  </a:t>
            </a:r>
            <a:r>
              <a:rPr lang="en-US" sz="750" noProof="1" spc="100" kern="0">
                <a:solidFill>
                  <a:srgbClr val="64748B"/>
                </a:solidFill>
                <a:latin typeface="JetBrains Mono"/>
                <a:ea typeface="JetBrains Mono"/>
              </a:rPr>
              <a:t>WORKSHOP · AGENTIC WORKFLOW &amp; AUTONOMOUS COMMERCE · BY THAICHAIN × MACHINE PAYMENTS PROTOCOL</a:t>
            </a:r>
            <a:r>
              <a:rPr lang="en-US" sz="750" noProof="1" spc="100" kern="0">
                <a:solidFill>
                  <a:srgbClr val="475569"/>
                </a:solidFill>
                <a:latin typeface="JetBrains Mono"/>
                <a:ea typeface="JetBrains Mono"/>
              </a:rPr>
              <a:t>  ●</a:t>
            </a:r>
            <a:endParaRPr lang="en-US" sz="750" noProof="1"/>
          </a:p>
        </p:txBody>
      </p:sp>
      <p:sp>
        <p:nvSpPr>
          <p:cNvPr id="37" name="page-num"/>
          <p:cNvSpPr txBox="1"/>
          <p:nvPr/>
        </p:nvSpPr>
        <p:spPr>
          <a:xfrm>
            <a:off x="342900" y="6438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24 / 24</a:t>
            </a:r>
            <a:endParaRPr lang="en-US" sz="800" noProof="1"/>
          </a:p>
        </p:txBody>
      </p:sp>
      <p:sp>
        <p:nvSpPr>
          <p:cNvPr id="38" name="footer-right"/>
          <p:cNvSpPr txBox="1"/>
          <p:nvPr/>
        </p:nvSpPr>
        <p:spPr>
          <a:xfrm>
            <a:off x="8763000" y="6438900"/>
            <a:ext cx="3098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 spc="150" kern="0">
                <a:solidFill>
                  <a:srgbClr val="64748B"/>
                </a:solidFill>
                <a:latin typeface="JetBrains Mono"/>
                <a:ea typeface="JetBrains Mono"/>
              </a:rPr>
              <a:t>AGENTIC WORKFLOW · WORKSHOP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24</Slides>
</Properties>
</file>

<file path=docProps/core.xml><?xml version="1.0" encoding="utf-8"?>
<cp:coreProperties xmlns:dc="http://purl.org/dc/elements/1.1/" xmlns:cp="http://schemas.openxmlformats.org/package/2006/metadata/core-properties">
  <dc:title>Workshop - Agentic Workflow &amp; Autonomous Commerce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